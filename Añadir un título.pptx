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Open Sans Bold" charset="1" panose="020B0806030504020204"/>
      <p:regular r:id="rId26"/>
    </p:embeddedFont>
    <p:embeddedFont>
      <p:font typeface="Open Sans" charset="1" panose="020B0606030504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75778" y="1012213"/>
            <a:ext cx="5198075" cy="2391115"/>
          </a:xfrm>
          <a:custGeom>
            <a:avLst/>
            <a:gdLst/>
            <a:ahLst/>
            <a:cxnLst/>
            <a:rect r="r" b="b" t="t" l="l"/>
            <a:pathLst>
              <a:path h="2391115" w="5198075">
                <a:moveTo>
                  <a:pt x="0" y="0"/>
                </a:moveTo>
                <a:lnTo>
                  <a:pt x="5198075" y="0"/>
                </a:lnTo>
                <a:lnTo>
                  <a:pt x="5198075" y="2391115"/>
                </a:lnTo>
                <a:lnTo>
                  <a:pt x="0" y="2391115"/>
                </a:lnTo>
                <a:lnTo>
                  <a:pt x="0" y="0"/>
                </a:lnTo>
                <a:close/>
              </a:path>
            </a:pathLst>
          </a:custGeom>
          <a:blipFill>
            <a:blip r:embed="rId2"/>
            <a:stretch>
              <a:fillRect l="0" t="0" r="0" b="0"/>
            </a:stretch>
          </a:blipFill>
        </p:spPr>
      </p:sp>
      <p:sp>
        <p:nvSpPr>
          <p:cNvPr name="TextBox 3" id="3"/>
          <p:cNvSpPr txBox="true"/>
          <p:nvPr/>
        </p:nvSpPr>
        <p:spPr>
          <a:xfrm rot="0">
            <a:off x="2307857" y="4127228"/>
            <a:ext cx="13679129" cy="138430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“Pronóstico Jerárquico de Dem</a:t>
            </a:r>
            <a:r>
              <a:rPr lang="en-US" b="true" sz="3999">
                <a:solidFill>
                  <a:srgbClr val="000000"/>
                </a:solidFill>
                <a:latin typeface="Open Sans Bold"/>
                <a:ea typeface="Open Sans Bold"/>
                <a:cs typeface="Open Sans Bold"/>
                <a:sym typeface="Open Sans Bold"/>
              </a:rPr>
              <a:t>anda Intermitente en el Retail de Moda Femenina”</a:t>
            </a:r>
          </a:p>
        </p:txBody>
      </p:sp>
      <p:sp>
        <p:nvSpPr>
          <p:cNvPr name="TextBox 4" id="4"/>
          <p:cNvSpPr txBox="true"/>
          <p:nvPr/>
        </p:nvSpPr>
        <p:spPr>
          <a:xfrm rot="0">
            <a:off x="2307857" y="5586818"/>
            <a:ext cx="13679129" cy="422275"/>
          </a:xfrm>
          <a:prstGeom prst="rect">
            <a:avLst/>
          </a:prstGeom>
        </p:spPr>
        <p:txBody>
          <a:bodyPr anchor="t" rtlCol="false" tIns="0" lIns="0" bIns="0" rIns="0">
            <a:spAutoFit/>
          </a:bodyPr>
          <a:lstStyle/>
          <a:p>
            <a:pPr algn="ctr">
              <a:lnSpc>
                <a:spcPts val="3499"/>
              </a:lnSpc>
            </a:pPr>
            <a:r>
              <a:rPr lang="en-US" b="true" sz="2499">
                <a:solidFill>
                  <a:srgbClr val="6E6E6E"/>
                </a:solidFill>
                <a:latin typeface="Open Sans Bold"/>
                <a:ea typeface="Open Sans Bold"/>
                <a:cs typeface="Open Sans Bold"/>
                <a:sym typeface="Open Sans Bold"/>
              </a:rPr>
              <a:t>Un Ens</a:t>
            </a:r>
            <a:r>
              <a:rPr lang="en-US" b="true" sz="2499">
                <a:solidFill>
                  <a:srgbClr val="6E6E6E"/>
                </a:solidFill>
                <a:latin typeface="Open Sans Bold"/>
                <a:ea typeface="Open Sans Bold"/>
                <a:cs typeface="Open Sans Bold"/>
                <a:sym typeface="Open Sans Bold"/>
              </a:rPr>
              <a:t>amble Híbrido de Machine Learning con Desacoplamiento Jerárquico </a:t>
            </a:r>
          </a:p>
        </p:txBody>
      </p:sp>
      <p:sp>
        <p:nvSpPr>
          <p:cNvPr name="TextBox 5" id="5"/>
          <p:cNvSpPr txBox="true"/>
          <p:nvPr/>
        </p:nvSpPr>
        <p:spPr>
          <a:xfrm rot="0">
            <a:off x="2304435" y="3565253"/>
            <a:ext cx="13679129" cy="514350"/>
          </a:xfrm>
          <a:prstGeom prst="rect">
            <a:avLst/>
          </a:prstGeom>
        </p:spPr>
        <p:txBody>
          <a:bodyPr anchor="t" rtlCol="false" tIns="0" lIns="0" bIns="0" rIns="0">
            <a:spAutoFit/>
          </a:bodyPr>
          <a:lstStyle/>
          <a:p>
            <a:pPr algn="ctr">
              <a:lnSpc>
                <a:spcPts val="4200"/>
              </a:lnSpc>
            </a:pPr>
            <a:r>
              <a:rPr lang="en-US" sz="3000" b="true">
                <a:solidFill>
                  <a:srgbClr val="000000"/>
                </a:solidFill>
                <a:latin typeface="Open Sans Bold"/>
                <a:ea typeface="Open Sans Bold"/>
                <a:cs typeface="Open Sans Bold"/>
                <a:sym typeface="Open Sans Bold"/>
              </a:rPr>
              <a:t>Memoria p</a:t>
            </a:r>
            <a:r>
              <a:rPr lang="en-US" b="true" sz="3000">
                <a:solidFill>
                  <a:srgbClr val="000000"/>
                </a:solidFill>
                <a:latin typeface="Open Sans Bold"/>
                <a:ea typeface="Open Sans Bold"/>
                <a:cs typeface="Open Sans Bold"/>
                <a:sym typeface="Open Sans Bold"/>
              </a:rPr>
              <a:t>ara optar al título de Ingeniero Comercial</a:t>
            </a:r>
          </a:p>
        </p:txBody>
      </p:sp>
      <p:grpSp>
        <p:nvGrpSpPr>
          <p:cNvPr name="Group 6" id="6"/>
          <p:cNvGrpSpPr/>
          <p:nvPr/>
        </p:nvGrpSpPr>
        <p:grpSpPr>
          <a:xfrm rot="0">
            <a:off x="1963767" y="6463245"/>
            <a:ext cx="14131119" cy="92342"/>
            <a:chOff x="0" y="0"/>
            <a:chExt cx="18841492" cy="123123"/>
          </a:xfrm>
        </p:grpSpPr>
        <p:grpSp>
          <p:nvGrpSpPr>
            <p:cNvPr name="Group 7" id="7"/>
            <p:cNvGrpSpPr/>
            <p:nvPr/>
          </p:nvGrpSpPr>
          <p:grpSpPr>
            <a:xfrm rot="0">
              <a:off x="0" y="0"/>
              <a:ext cx="6280497" cy="123123"/>
              <a:chOff x="0" y="0"/>
              <a:chExt cx="1240592" cy="24321"/>
            </a:xfrm>
          </p:grpSpPr>
          <p:sp>
            <p:nvSpPr>
              <p:cNvPr name="Freeform 8" id="8"/>
              <p:cNvSpPr/>
              <p:nvPr/>
            </p:nvSpPr>
            <p:spPr>
              <a:xfrm flipH="false" flipV="false" rot="0">
                <a:off x="0" y="0"/>
                <a:ext cx="1240592" cy="24321"/>
              </a:xfrm>
              <a:custGeom>
                <a:avLst/>
                <a:gdLst/>
                <a:ahLst/>
                <a:cxnLst/>
                <a:rect r="r" b="b" t="t" l="l"/>
                <a:pathLst>
                  <a:path h="24321" w="1240592">
                    <a:moveTo>
                      <a:pt x="0" y="0"/>
                    </a:moveTo>
                    <a:lnTo>
                      <a:pt x="1240592" y="0"/>
                    </a:lnTo>
                    <a:lnTo>
                      <a:pt x="1240592" y="24321"/>
                    </a:lnTo>
                    <a:lnTo>
                      <a:pt x="0" y="24321"/>
                    </a:lnTo>
                    <a:close/>
                  </a:path>
                </a:pathLst>
              </a:custGeom>
              <a:solidFill>
                <a:srgbClr val="D10120"/>
              </a:solidFill>
            </p:spPr>
          </p:sp>
          <p:sp>
            <p:nvSpPr>
              <p:cNvPr name="TextBox 9" id="9"/>
              <p:cNvSpPr txBox="true"/>
              <p:nvPr/>
            </p:nvSpPr>
            <p:spPr>
              <a:xfrm>
                <a:off x="0" y="-47625"/>
                <a:ext cx="1240592" cy="71946"/>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12560995" y="0"/>
              <a:ext cx="6280497" cy="123123"/>
              <a:chOff x="0" y="0"/>
              <a:chExt cx="1240592" cy="24321"/>
            </a:xfrm>
          </p:grpSpPr>
          <p:sp>
            <p:nvSpPr>
              <p:cNvPr name="Freeform 11" id="11"/>
              <p:cNvSpPr/>
              <p:nvPr/>
            </p:nvSpPr>
            <p:spPr>
              <a:xfrm flipH="false" flipV="false" rot="0">
                <a:off x="0" y="0"/>
                <a:ext cx="1240592" cy="24321"/>
              </a:xfrm>
              <a:custGeom>
                <a:avLst/>
                <a:gdLst/>
                <a:ahLst/>
                <a:cxnLst/>
                <a:rect r="r" b="b" t="t" l="l"/>
                <a:pathLst>
                  <a:path h="24321" w="1240592">
                    <a:moveTo>
                      <a:pt x="0" y="0"/>
                    </a:moveTo>
                    <a:lnTo>
                      <a:pt x="1240592" y="0"/>
                    </a:lnTo>
                    <a:lnTo>
                      <a:pt x="1240592" y="24321"/>
                    </a:lnTo>
                    <a:lnTo>
                      <a:pt x="0" y="24321"/>
                    </a:lnTo>
                    <a:close/>
                  </a:path>
                </a:pathLst>
              </a:custGeom>
              <a:solidFill>
                <a:srgbClr val="005F91"/>
              </a:solidFill>
            </p:spPr>
          </p:sp>
          <p:sp>
            <p:nvSpPr>
              <p:cNvPr name="TextBox 12" id="12"/>
              <p:cNvSpPr txBox="true"/>
              <p:nvPr/>
            </p:nvSpPr>
            <p:spPr>
              <a:xfrm>
                <a:off x="0" y="-47625"/>
                <a:ext cx="1240592" cy="71946"/>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6280497" y="0"/>
              <a:ext cx="6280497" cy="123123"/>
              <a:chOff x="0" y="0"/>
              <a:chExt cx="1240592" cy="24321"/>
            </a:xfrm>
          </p:grpSpPr>
          <p:sp>
            <p:nvSpPr>
              <p:cNvPr name="Freeform 14" id="14"/>
              <p:cNvSpPr/>
              <p:nvPr/>
            </p:nvSpPr>
            <p:spPr>
              <a:xfrm flipH="false" flipV="false" rot="0">
                <a:off x="0" y="0"/>
                <a:ext cx="1240592" cy="24321"/>
              </a:xfrm>
              <a:custGeom>
                <a:avLst/>
                <a:gdLst/>
                <a:ahLst/>
                <a:cxnLst/>
                <a:rect r="r" b="b" t="t" l="l"/>
                <a:pathLst>
                  <a:path h="24321" w="1240592">
                    <a:moveTo>
                      <a:pt x="0" y="0"/>
                    </a:moveTo>
                    <a:lnTo>
                      <a:pt x="1240592" y="0"/>
                    </a:lnTo>
                    <a:lnTo>
                      <a:pt x="1240592" y="24321"/>
                    </a:lnTo>
                    <a:lnTo>
                      <a:pt x="0" y="24321"/>
                    </a:lnTo>
                    <a:close/>
                  </a:path>
                </a:pathLst>
              </a:custGeom>
              <a:solidFill>
                <a:srgbClr val="F7B006"/>
              </a:solidFill>
            </p:spPr>
          </p:sp>
          <p:sp>
            <p:nvSpPr>
              <p:cNvPr name="TextBox 15" id="15"/>
              <p:cNvSpPr txBox="true"/>
              <p:nvPr/>
            </p:nvSpPr>
            <p:spPr>
              <a:xfrm>
                <a:off x="0" y="-47625"/>
                <a:ext cx="1240592" cy="71946"/>
              </a:xfrm>
              <a:prstGeom prst="rect">
                <a:avLst/>
              </a:prstGeom>
            </p:spPr>
            <p:txBody>
              <a:bodyPr anchor="ctr" rtlCol="false" tIns="50800" lIns="50800" bIns="50800" rIns="50800"/>
              <a:lstStyle/>
              <a:p>
                <a:pPr algn="ctr">
                  <a:lnSpc>
                    <a:spcPts val="3499"/>
                  </a:lnSpc>
                </a:pPr>
              </a:p>
            </p:txBody>
          </p:sp>
        </p:grpSp>
      </p:grpSp>
      <p:sp>
        <p:nvSpPr>
          <p:cNvPr name="TextBox 16" id="16"/>
          <p:cNvSpPr txBox="true"/>
          <p:nvPr/>
        </p:nvSpPr>
        <p:spPr>
          <a:xfrm rot="0">
            <a:off x="2209256" y="7072767"/>
            <a:ext cx="3894053" cy="701675"/>
          </a:xfrm>
          <a:prstGeom prst="rect">
            <a:avLst/>
          </a:prstGeom>
        </p:spPr>
        <p:txBody>
          <a:bodyPr anchor="t" rtlCol="false" tIns="0" lIns="0" bIns="0" rIns="0">
            <a:spAutoFit/>
          </a:bodyPr>
          <a:lstStyle/>
          <a:p>
            <a:pPr algn="just">
              <a:lnSpc>
                <a:spcPts val="2800"/>
              </a:lnSpc>
            </a:pPr>
            <a:r>
              <a:rPr lang="en-US" sz="2000" b="true">
                <a:solidFill>
                  <a:srgbClr val="000000"/>
                </a:solidFill>
                <a:latin typeface="Open Sans Bold"/>
                <a:ea typeface="Open Sans Bold"/>
                <a:cs typeface="Open Sans Bold"/>
                <a:sym typeface="Open Sans Bold"/>
              </a:rPr>
              <a:t>Profesor Guia</a:t>
            </a:r>
          </a:p>
          <a:p>
            <a:pPr algn="just">
              <a:lnSpc>
                <a:spcPts val="2800"/>
              </a:lnSpc>
            </a:pPr>
            <a:r>
              <a:rPr lang="en-US" sz="2000">
                <a:solidFill>
                  <a:srgbClr val="000000"/>
                </a:solidFill>
                <a:latin typeface="Open Sans"/>
                <a:ea typeface="Open Sans"/>
                <a:cs typeface="Open Sans"/>
                <a:sym typeface="Open Sans"/>
              </a:rPr>
              <a:t>Marcelo Julián Villena Chamorro</a:t>
            </a:r>
          </a:p>
        </p:txBody>
      </p:sp>
      <p:sp>
        <p:nvSpPr>
          <p:cNvPr name="TextBox 17" id="17"/>
          <p:cNvSpPr txBox="true"/>
          <p:nvPr/>
        </p:nvSpPr>
        <p:spPr>
          <a:xfrm rot="0">
            <a:off x="7351084" y="7072767"/>
            <a:ext cx="4076809" cy="701675"/>
          </a:xfrm>
          <a:prstGeom prst="rect">
            <a:avLst/>
          </a:prstGeom>
        </p:spPr>
        <p:txBody>
          <a:bodyPr anchor="t" rtlCol="false" tIns="0" lIns="0" bIns="0" rIns="0">
            <a:spAutoFit/>
          </a:bodyPr>
          <a:lstStyle/>
          <a:p>
            <a:pPr algn="ctr">
              <a:lnSpc>
                <a:spcPts val="2800"/>
              </a:lnSpc>
            </a:pPr>
            <a:r>
              <a:rPr lang="en-US" sz="2000" b="true">
                <a:solidFill>
                  <a:srgbClr val="000000"/>
                </a:solidFill>
                <a:latin typeface="Open Sans Bold"/>
                <a:ea typeface="Open Sans Bold"/>
                <a:cs typeface="Open Sans Bold"/>
                <a:sym typeface="Open Sans Bold"/>
              </a:rPr>
              <a:t>Autor</a:t>
            </a:r>
          </a:p>
          <a:p>
            <a:pPr algn="ctr">
              <a:lnSpc>
                <a:spcPts val="2800"/>
              </a:lnSpc>
            </a:pPr>
            <a:r>
              <a:rPr lang="en-US" sz="2000">
                <a:solidFill>
                  <a:srgbClr val="000000"/>
                </a:solidFill>
                <a:latin typeface="Open Sans"/>
                <a:ea typeface="Open Sans"/>
                <a:cs typeface="Open Sans"/>
                <a:sym typeface="Open Sans"/>
              </a:rPr>
              <a:t>Joaquín Ignacio Mondaca Parada</a:t>
            </a:r>
          </a:p>
        </p:txBody>
      </p:sp>
      <p:sp>
        <p:nvSpPr>
          <p:cNvPr name="TextBox 18" id="18"/>
          <p:cNvSpPr txBox="true"/>
          <p:nvPr/>
        </p:nvSpPr>
        <p:spPr>
          <a:xfrm rot="0">
            <a:off x="12679500" y="7072767"/>
            <a:ext cx="3660874" cy="701675"/>
          </a:xfrm>
          <a:prstGeom prst="rect">
            <a:avLst/>
          </a:prstGeom>
        </p:spPr>
        <p:txBody>
          <a:bodyPr anchor="t" rtlCol="false" tIns="0" lIns="0" bIns="0" rIns="0">
            <a:spAutoFit/>
          </a:bodyPr>
          <a:lstStyle/>
          <a:p>
            <a:pPr algn="r">
              <a:lnSpc>
                <a:spcPts val="2800"/>
              </a:lnSpc>
              <a:spcBef>
                <a:spcPct val="0"/>
              </a:spcBef>
            </a:pPr>
            <a:r>
              <a:rPr lang="en-US" b="true" sz="2000">
                <a:solidFill>
                  <a:srgbClr val="000000"/>
                </a:solidFill>
                <a:latin typeface="Open Sans Bold"/>
                <a:ea typeface="Open Sans Bold"/>
                <a:cs typeface="Open Sans Bold"/>
                <a:sym typeface="Open Sans Bold"/>
              </a:rPr>
              <a:t>Profesora Correferente</a:t>
            </a:r>
          </a:p>
          <a:p>
            <a:pPr algn="r">
              <a:lnSpc>
                <a:spcPts val="2800"/>
              </a:lnSpc>
              <a:spcBef>
                <a:spcPct val="0"/>
              </a:spcBef>
            </a:pPr>
            <a:r>
              <a:rPr lang="en-US" sz="2000">
                <a:solidFill>
                  <a:srgbClr val="000000"/>
                </a:solidFill>
                <a:latin typeface="Open Sans"/>
                <a:ea typeface="Open Sans"/>
                <a:cs typeface="Open Sans"/>
                <a:sym typeface="Open Sans"/>
              </a:rPr>
              <a:t>Jocelyn Andrea Tapia Stefanoni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493269" y="2051050"/>
            <a:ext cx="8429583" cy="3466666"/>
          </a:xfrm>
          <a:custGeom>
            <a:avLst/>
            <a:gdLst/>
            <a:ahLst/>
            <a:cxnLst/>
            <a:rect r="r" b="b" t="t" l="l"/>
            <a:pathLst>
              <a:path h="3466666" w="8429583">
                <a:moveTo>
                  <a:pt x="0" y="0"/>
                </a:moveTo>
                <a:lnTo>
                  <a:pt x="8429583" y="0"/>
                </a:lnTo>
                <a:lnTo>
                  <a:pt x="8429583" y="3466666"/>
                </a:lnTo>
                <a:lnTo>
                  <a:pt x="0" y="3466666"/>
                </a:lnTo>
                <a:lnTo>
                  <a:pt x="0" y="0"/>
                </a:lnTo>
                <a:close/>
              </a:path>
            </a:pathLst>
          </a:custGeom>
          <a:blipFill>
            <a:blip r:embed="rId2"/>
            <a:stretch>
              <a:fillRect l="0" t="0" r="0" b="0"/>
            </a:stretch>
          </a:blipFill>
        </p:spPr>
      </p:sp>
      <p:sp>
        <p:nvSpPr>
          <p:cNvPr name="Freeform 3" id="3"/>
          <p:cNvSpPr/>
          <p:nvPr/>
        </p:nvSpPr>
        <p:spPr>
          <a:xfrm flipH="false" flipV="false" rot="0">
            <a:off x="9493269" y="5823637"/>
            <a:ext cx="8429583" cy="2755420"/>
          </a:xfrm>
          <a:custGeom>
            <a:avLst/>
            <a:gdLst/>
            <a:ahLst/>
            <a:cxnLst/>
            <a:rect r="r" b="b" t="t" l="l"/>
            <a:pathLst>
              <a:path h="2755420" w="8429583">
                <a:moveTo>
                  <a:pt x="0" y="0"/>
                </a:moveTo>
                <a:lnTo>
                  <a:pt x="8429583" y="0"/>
                </a:lnTo>
                <a:lnTo>
                  <a:pt x="8429583" y="2755420"/>
                </a:lnTo>
                <a:lnTo>
                  <a:pt x="0" y="2755420"/>
                </a:lnTo>
                <a:lnTo>
                  <a:pt x="0" y="0"/>
                </a:lnTo>
                <a:close/>
              </a:path>
            </a:pathLst>
          </a:custGeom>
          <a:blipFill>
            <a:blip r:embed="rId3"/>
            <a:stretch>
              <a:fillRect l="0" t="0" r="0" b="0"/>
            </a:stretch>
          </a:blipFill>
        </p:spPr>
      </p:sp>
      <p:sp>
        <p:nvSpPr>
          <p:cNvPr name="TextBox 4" id="4"/>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Problematica</a:t>
            </a:r>
          </a:p>
        </p:txBody>
      </p:sp>
      <p:sp>
        <p:nvSpPr>
          <p:cNvPr name="TextBox 5" id="5"/>
          <p:cNvSpPr txBox="true"/>
          <p:nvPr/>
        </p:nvSpPr>
        <p:spPr>
          <a:xfrm rot="0">
            <a:off x="700690" y="1655328"/>
            <a:ext cx="8089719" cy="7686675"/>
          </a:xfrm>
          <a:prstGeom prst="rect">
            <a:avLst/>
          </a:prstGeom>
        </p:spPr>
        <p:txBody>
          <a:bodyPr anchor="t" rtlCol="false" tIns="0" lIns="0" bIns="0" rIns="0">
            <a:spAutoFit/>
          </a:bodyPr>
          <a:lstStyle/>
          <a:p>
            <a:pPr algn="just">
              <a:lnSpc>
                <a:spcPts val="2940"/>
              </a:lnSpc>
            </a:pPr>
            <a:r>
              <a:rPr lang="en-US" sz="2100">
                <a:solidFill>
                  <a:srgbClr val="000000"/>
                </a:solidFill>
                <a:latin typeface="Open Sans"/>
                <a:ea typeface="Open Sans"/>
                <a:cs typeface="Open Sans"/>
                <a:sym typeface="Open Sans"/>
              </a:rPr>
              <a:t>La Industria moda Retail es altamente dinamica, con intermitencia en la demanda de productos generado por cambios de temporada y efecto de fast fashion.</a:t>
            </a:r>
          </a:p>
          <a:p>
            <a:pPr algn="just">
              <a:lnSpc>
                <a:spcPts val="2940"/>
              </a:lnSpc>
            </a:pPr>
          </a:p>
          <a:p>
            <a:pPr algn="just">
              <a:lnSpc>
                <a:spcPts val="2940"/>
              </a:lnSpc>
            </a:pPr>
            <a:r>
              <a:rPr lang="en-US" sz="2100">
                <a:solidFill>
                  <a:srgbClr val="000000"/>
                </a:solidFill>
                <a:latin typeface="Open Sans"/>
                <a:ea typeface="Open Sans"/>
                <a:cs typeface="Open Sans"/>
                <a:sym typeface="Open Sans"/>
              </a:rPr>
              <a:t>Lo anterior genera dificultades en el manego de prediccion de demanda lo que lleva directamente a afrontar costos oportunidad asociados a inventario y/o falta de stock segun sea el caso de sku.</a:t>
            </a:r>
          </a:p>
          <a:p>
            <a:pPr algn="just">
              <a:lnSpc>
                <a:spcPts val="2940"/>
              </a:lnSpc>
            </a:pPr>
          </a:p>
          <a:p>
            <a:pPr algn="just">
              <a:lnSpc>
                <a:spcPts val="2940"/>
              </a:lnSpc>
            </a:pPr>
            <a:r>
              <a:rPr lang="en-US" sz="2100">
                <a:solidFill>
                  <a:srgbClr val="000000"/>
                </a:solidFill>
                <a:latin typeface="Open Sans"/>
                <a:ea typeface="Open Sans"/>
                <a:cs typeface="Open Sans"/>
                <a:sym typeface="Open Sans"/>
              </a:rPr>
              <a:t>Caracteristicas especificas:</a:t>
            </a:r>
          </a:p>
          <a:p>
            <a:pPr algn="just" marL="453390" indent="-226695" lvl="1">
              <a:lnSpc>
                <a:spcPts val="3150"/>
              </a:lnSpc>
              <a:buAutoNum type="arabicPeriod" startAt="1"/>
            </a:pPr>
            <a:r>
              <a:rPr lang="en-US" b="true" sz="2100" spc="35">
                <a:solidFill>
                  <a:srgbClr val="000000"/>
                </a:solidFill>
                <a:latin typeface="Open Sans Bold"/>
                <a:ea typeface="Open Sans Bold"/>
                <a:cs typeface="Open Sans Bold"/>
                <a:sym typeface="Open Sans Bold"/>
              </a:rPr>
              <a:t>Intermitencia</a:t>
            </a:r>
            <a:r>
              <a:rPr lang="en-US" sz="2100" spc="35">
                <a:solidFill>
                  <a:srgbClr val="000000"/>
                </a:solidFill>
                <a:latin typeface="Open Sans"/>
                <a:ea typeface="Open Sans"/>
                <a:cs typeface="Open Sans"/>
                <a:sym typeface="Open Sans"/>
              </a:rPr>
              <a:t>: 30,3% de los valores son ceros a nivel SKU — meses sin venta del mismo producto</a:t>
            </a:r>
          </a:p>
          <a:p>
            <a:pPr algn="just" marL="453390" indent="-226695" lvl="1">
              <a:lnSpc>
                <a:spcPts val="3150"/>
              </a:lnSpc>
              <a:buAutoNum type="arabicPeriod" startAt="1"/>
            </a:pPr>
            <a:r>
              <a:rPr lang="en-US" b="true" sz="2100" spc="35">
                <a:solidFill>
                  <a:srgbClr val="000000"/>
                </a:solidFill>
                <a:latin typeface="Open Sans Bold"/>
                <a:ea typeface="Open Sans Bold"/>
                <a:cs typeface="Open Sans Bold"/>
                <a:sym typeface="Open Sans Bold"/>
              </a:rPr>
              <a:t>Ciclos de vida cortos</a:t>
            </a:r>
            <a:r>
              <a:rPr lang="en-US" sz="2100" spc="35">
                <a:solidFill>
                  <a:srgbClr val="000000"/>
                </a:solidFill>
                <a:latin typeface="Open Sans"/>
                <a:ea typeface="Open Sans"/>
                <a:cs typeface="Open Sans"/>
                <a:sym typeface="Open Sans"/>
              </a:rPr>
              <a:t>: el interés por un modelo específico cae al finalizar la temporada (2-3 meses)</a:t>
            </a:r>
          </a:p>
          <a:p>
            <a:pPr algn="just" marL="453390" indent="-226695" lvl="1">
              <a:lnSpc>
                <a:spcPts val="3150"/>
              </a:lnSpc>
              <a:buAutoNum type="arabicPeriod" startAt="1"/>
            </a:pPr>
            <a:r>
              <a:rPr lang="en-US" b="true" sz="2100" spc="35">
                <a:solidFill>
                  <a:srgbClr val="000000"/>
                </a:solidFill>
                <a:latin typeface="Open Sans Bold"/>
                <a:ea typeface="Open Sans Bold"/>
                <a:cs typeface="Open Sans Bold"/>
                <a:sym typeface="Open Sans Bold"/>
              </a:rPr>
              <a:t>Sensibilidad al precio</a:t>
            </a:r>
            <a:r>
              <a:rPr lang="en-US" sz="2100" spc="35">
                <a:solidFill>
                  <a:srgbClr val="000000"/>
                </a:solidFill>
                <a:latin typeface="Open Sans"/>
                <a:ea typeface="Open Sans"/>
                <a:cs typeface="Open Sans"/>
                <a:sym typeface="Open Sans"/>
              </a:rPr>
              <a:t>: el IPC Vestuario Mujer fluctúa ±5% mensual → la demanda responde a descuentos y promociones</a:t>
            </a:r>
          </a:p>
          <a:p>
            <a:pPr algn="just" marL="453390" indent="-226695" lvl="1">
              <a:lnSpc>
                <a:spcPts val="3150"/>
              </a:lnSpc>
              <a:buAutoNum type="arabicPeriod" startAt="1"/>
            </a:pPr>
            <a:r>
              <a:rPr lang="en-US" b="true" sz="2100" spc="35">
                <a:solidFill>
                  <a:srgbClr val="000000"/>
                </a:solidFill>
                <a:latin typeface="Open Sans Bold"/>
                <a:ea typeface="Open Sans Bold"/>
                <a:cs typeface="Open Sans Bold"/>
                <a:sym typeface="Open Sans Bold"/>
              </a:rPr>
              <a:t>Desfase abastecimiento</a:t>
            </a:r>
            <a:r>
              <a:rPr lang="en-US" sz="2100" spc="35">
                <a:solidFill>
                  <a:srgbClr val="000000"/>
                </a:solidFill>
                <a:latin typeface="Open Sans"/>
                <a:ea typeface="Open Sans"/>
                <a:cs typeface="Open Sans"/>
                <a:sym typeface="Open Sans"/>
              </a:rPr>
              <a:t>: las órdenes se comprometen 3-6 meses antes → si la proyección falla, hay quiebre o sobrestock</a:t>
            </a:r>
          </a:p>
        </p:txBody>
      </p:sp>
      <p:sp>
        <p:nvSpPr>
          <p:cNvPr name="TextBox 6" id="6"/>
          <p:cNvSpPr txBox="true"/>
          <p:nvPr/>
        </p:nvSpPr>
        <p:spPr>
          <a:xfrm rot="0">
            <a:off x="9663201" y="8596520"/>
            <a:ext cx="8089719" cy="257175"/>
          </a:xfrm>
          <a:prstGeom prst="rect">
            <a:avLst/>
          </a:prstGeom>
        </p:spPr>
        <p:txBody>
          <a:bodyPr anchor="t" rtlCol="false" tIns="0" lIns="0" bIns="0" rIns="0">
            <a:spAutoFit/>
          </a:bodyPr>
          <a:lstStyle/>
          <a:p>
            <a:pPr algn="just">
              <a:lnSpc>
                <a:spcPts val="2100"/>
              </a:lnSpc>
            </a:pPr>
            <a:r>
              <a:rPr lang="en-US" sz="1500">
                <a:solidFill>
                  <a:srgbClr val="000000"/>
                </a:solidFill>
                <a:latin typeface="Open Sans"/>
                <a:ea typeface="Open Sans"/>
                <a:cs typeface="Open Sans"/>
                <a:sym typeface="Open Sans"/>
              </a:rPr>
              <a:t>Fuente: Elaboración propia con datos de la empresa.</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01578" y="4279309"/>
            <a:ext cx="15533106" cy="129857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Open Sans Bold"/>
                <a:ea typeface="Open Sans Bold"/>
                <a:cs typeface="Open Sans Bold"/>
                <a:sym typeface="Open Sans Bold"/>
              </a:rPr>
              <a:t>"La arquitectura jerárquica de ensamble híbrido ES-GBM, al integrar señales comerciales ex-ante, reduce significativamente el error de pronóstico (WAPE) frente a modelos clásicos univariados en series intermitentes”</a:t>
            </a:r>
          </a:p>
        </p:txBody>
      </p:sp>
      <p:sp>
        <p:nvSpPr>
          <p:cNvPr name="TextBox 3" id="3"/>
          <p:cNvSpPr txBox="true"/>
          <p:nvPr/>
        </p:nvSpPr>
        <p:spPr>
          <a:xfrm rot="0">
            <a:off x="2304435" y="778269"/>
            <a:ext cx="13679129" cy="679450"/>
          </a:xfrm>
          <a:prstGeom prst="rect">
            <a:avLst/>
          </a:prstGeom>
        </p:spPr>
        <p:txBody>
          <a:bodyPr anchor="t" rtlCol="false" tIns="0" lIns="0" bIns="0" rIns="0">
            <a:spAutoFit/>
          </a:bodyPr>
          <a:lstStyle/>
          <a:p>
            <a:pPr algn="ctr">
              <a:lnSpc>
                <a:spcPts val="5599"/>
              </a:lnSpc>
            </a:pPr>
            <a:r>
              <a:rPr lang="en-US" b="true" sz="3999">
                <a:solidFill>
                  <a:srgbClr val="000000"/>
                </a:solidFill>
                <a:latin typeface="Open Sans Bold"/>
                <a:ea typeface="Open Sans Bold"/>
                <a:cs typeface="Open Sans Bold"/>
                <a:sym typeface="Open Sans Bold"/>
              </a:rPr>
              <a:t>Hipótesis</a:t>
            </a:r>
          </a:p>
        </p:txBody>
      </p:sp>
      <p:grpSp>
        <p:nvGrpSpPr>
          <p:cNvPr name="Group 4" id="4"/>
          <p:cNvGrpSpPr/>
          <p:nvPr/>
        </p:nvGrpSpPr>
        <p:grpSpPr>
          <a:xfrm rot="0">
            <a:off x="1175000" y="4078302"/>
            <a:ext cx="855057" cy="874107"/>
            <a:chOff x="0" y="0"/>
            <a:chExt cx="1140076" cy="1165476"/>
          </a:xfrm>
        </p:grpSpPr>
        <p:sp>
          <p:nvSpPr>
            <p:cNvPr name="AutoShape 5" id="5"/>
            <p:cNvSpPr/>
            <p:nvPr/>
          </p:nvSpPr>
          <p:spPr>
            <a:xfrm>
              <a:off x="0" y="25400"/>
              <a:ext cx="1140076" cy="0"/>
            </a:xfrm>
            <a:prstGeom prst="line">
              <a:avLst/>
            </a:prstGeom>
            <a:ln cap="flat" w="50800">
              <a:solidFill>
                <a:srgbClr val="000000"/>
              </a:solidFill>
              <a:prstDash val="solid"/>
              <a:headEnd type="none" len="sm" w="sm"/>
              <a:tailEnd type="none" len="sm" w="sm"/>
            </a:ln>
          </p:spPr>
        </p:sp>
        <p:sp>
          <p:nvSpPr>
            <p:cNvPr name="AutoShape 6" id="6"/>
            <p:cNvSpPr/>
            <p:nvPr/>
          </p:nvSpPr>
          <p:spPr>
            <a:xfrm flipV="true">
              <a:off x="25400" y="25400"/>
              <a:ext cx="0" cy="1140076"/>
            </a:xfrm>
            <a:prstGeom prst="line">
              <a:avLst/>
            </a:prstGeom>
            <a:ln cap="flat" w="50800">
              <a:solidFill>
                <a:srgbClr val="000000"/>
              </a:solidFill>
              <a:prstDash val="solid"/>
              <a:headEnd type="none" len="sm" w="sm"/>
              <a:tailEnd type="none" len="sm" w="sm"/>
            </a:ln>
          </p:spPr>
        </p:sp>
      </p:grpSp>
      <p:grpSp>
        <p:nvGrpSpPr>
          <p:cNvPr name="Group 7" id="7"/>
          <p:cNvGrpSpPr/>
          <p:nvPr/>
        </p:nvGrpSpPr>
        <p:grpSpPr>
          <a:xfrm rot="-10800000">
            <a:off x="16257943" y="4856177"/>
            <a:ext cx="855057" cy="874107"/>
            <a:chOff x="0" y="0"/>
            <a:chExt cx="1140076" cy="1165476"/>
          </a:xfrm>
        </p:grpSpPr>
        <p:sp>
          <p:nvSpPr>
            <p:cNvPr name="AutoShape 8" id="8"/>
            <p:cNvSpPr/>
            <p:nvPr/>
          </p:nvSpPr>
          <p:spPr>
            <a:xfrm>
              <a:off x="0" y="25400"/>
              <a:ext cx="1140076" cy="0"/>
            </a:xfrm>
            <a:prstGeom prst="line">
              <a:avLst/>
            </a:prstGeom>
            <a:ln cap="flat" w="50800">
              <a:solidFill>
                <a:srgbClr val="000000"/>
              </a:solidFill>
              <a:prstDash val="solid"/>
              <a:headEnd type="none" len="sm" w="sm"/>
              <a:tailEnd type="none" len="sm" w="sm"/>
            </a:ln>
          </p:spPr>
        </p:sp>
        <p:sp>
          <p:nvSpPr>
            <p:cNvPr name="AutoShape 9" id="9"/>
            <p:cNvSpPr/>
            <p:nvPr/>
          </p:nvSpPr>
          <p:spPr>
            <a:xfrm flipV="true">
              <a:off x="25400" y="25400"/>
              <a:ext cx="0" cy="1140076"/>
            </a:xfrm>
            <a:prstGeom prst="line">
              <a:avLst/>
            </a:prstGeom>
            <a:ln cap="flat" w="50800">
              <a:solidFill>
                <a:srgbClr val="000000"/>
              </a:solidFill>
              <a:prstDash val="solid"/>
              <a:headEnd type="none" len="sm" w="sm"/>
              <a:tailEnd type="none" len="sm" w="sm"/>
            </a:ln>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Objetivo y Solución</a:t>
            </a:r>
          </a:p>
        </p:txBody>
      </p:sp>
      <p:sp>
        <p:nvSpPr>
          <p:cNvPr name="TextBox 3" id="3"/>
          <p:cNvSpPr txBox="true"/>
          <p:nvPr/>
        </p:nvSpPr>
        <p:spPr>
          <a:xfrm rot="0">
            <a:off x="1825113" y="1695853"/>
            <a:ext cx="13679129" cy="1047750"/>
          </a:xfrm>
          <a:prstGeom prst="rect">
            <a:avLst/>
          </a:prstGeom>
        </p:spPr>
        <p:txBody>
          <a:bodyPr anchor="t" rtlCol="false" tIns="0" lIns="0" bIns="0" rIns="0">
            <a:spAutoFit/>
          </a:bodyPr>
          <a:lstStyle/>
          <a:p>
            <a:pPr algn="just">
              <a:lnSpc>
                <a:spcPts val="4200"/>
              </a:lnSpc>
            </a:pPr>
            <a:r>
              <a:rPr lang="en-US" sz="3000">
                <a:solidFill>
                  <a:srgbClr val="000000"/>
                </a:solidFill>
                <a:latin typeface="Open Sans"/>
                <a:ea typeface="Open Sans"/>
                <a:cs typeface="Open Sans"/>
                <a:sym typeface="Open Sans"/>
              </a:rPr>
              <a:t>Lo siguiente lleva a la necesidad de generar modelos de prediccion con el objetivo de abordar la planificacion comercial de mejor forma.</a:t>
            </a:r>
          </a:p>
        </p:txBody>
      </p:sp>
      <p:grpSp>
        <p:nvGrpSpPr>
          <p:cNvPr name="Group 4" id="4"/>
          <p:cNvGrpSpPr/>
          <p:nvPr/>
        </p:nvGrpSpPr>
        <p:grpSpPr>
          <a:xfrm rot="0">
            <a:off x="1920658" y="3327891"/>
            <a:ext cx="13679129" cy="5580109"/>
            <a:chOff x="0" y="0"/>
            <a:chExt cx="18238839" cy="7440145"/>
          </a:xfrm>
        </p:grpSpPr>
        <p:sp>
          <p:nvSpPr>
            <p:cNvPr name="Freeform 5" id="5"/>
            <p:cNvSpPr/>
            <p:nvPr/>
          </p:nvSpPr>
          <p:spPr>
            <a:xfrm flipH="false" flipV="false" rot="0">
              <a:off x="1991137" y="0"/>
              <a:ext cx="14256565" cy="7440145"/>
            </a:xfrm>
            <a:custGeom>
              <a:avLst/>
              <a:gdLst/>
              <a:ahLst/>
              <a:cxnLst/>
              <a:rect r="r" b="b" t="t" l="l"/>
              <a:pathLst>
                <a:path h="7440145" w="14256565">
                  <a:moveTo>
                    <a:pt x="0" y="0"/>
                  </a:moveTo>
                  <a:lnTo>
                    <a:pt x="14256565" y="0"/>
                  </a:lnTo>
                  <a:lnTo>
                    <a:pt x="14256565" y="7440145"/>
                  </a:lnTo>
                  <a:lnTo>
                    <a:pt x="0" y="7440145"/>
                  </a:lnTo>
                  <a:lnTo>
                    <a:pt x="0" y="0"/>
                  </a:lnTo>
                  <a:close/>
                </a:path>
              </a:pathLst>
            </a:custGeom>
            <a:blipFill>
              <a:blip r:embed="rId2"/>
              <a:stretch>
                <a:fillRect l="0" t="0" r="0" b="0"/>
              </a:stretch>
            </a:blipFill>
          </p:spPr>
        </p:sp>
        <p:sp>
          <p:nvSpPr>
            <p:cNvPr name="TextBox 6" id="6"/>
            <p:cNvSpPr txBox="true"/>
            <p:nvPr/>
          </p:nvSpPr>
          <p:spPr>
            <a:xfrm rot="0">
              <a:off x="2196035" y="6872300"/>
              <a:ext cx="10786292" cy="333375"/>
            </a:xfrm>
            <a:prstGeom prst="rect">
              <a:avLst/>
            </a:prstGeom>
          </p:spPr>
          <p:txBody>
            <a:bodyPr anchor="t" rtlCol="false" tIns="0" lIns="0" bIns="0" rIns="0">
              <a:spAutoFit/>
            </a:bodyPr>
            <a:lstStyle/>
            <a:p>
              <a:pPr algn="just">
                <a:lnSpc>
                  <a:spcPts val="2100"/>
                </a:lnSpc>
              </a:pPr>
              <a:r>
                <a:rPr lang="en-US" sz="1500">
                  <a:solidFill>
                    <a:srgbClr val="000000"/>
                  </a:solidFill>
                  <a:latin typeface="Open Sans"/>
                  <a:ea typeface="Open Sans"/>
                  <a:cs typeface="Open Sans"/>
                  <a:sym typeface="Open Sans"/>
                </a:rPr>
                <a:t>Fuente: Elaboración propia con datos de la empresa.</a:t>
              </a:r>
            </a:p>
          </p:txBody>
        </p:sp>
        <p:sp>
          <p:nvSpPr>
            <p:cNvPr name="TextBox 7" id="7"/>
            <p:cNvSpPr txBox="true"/>
            <p:nvPr/>
          </p:nvSpPr>
          <p:spPr>
            <a:xfrm rot="0">
              <a:off x="0" y="113078"/>
              <a:ext cx="18238839" cy="386715"/>
            </a:xfrm>
            <a:prstGeom prst="rect">
              <a:avLst/>
            </a:prstGeom>
          </p:spPr>
          <p:txBody>
            <a:bodyPr anchor="t" rtlCol="false" tIns="0" lIns="0" bIns="0" rIns="0">
              <a:spAutoFit/>
            </a:bodyPr>
            <a:lstStyle/>
            <a:p>
              <a:pPr algn="ctr">
                <a:lnSpc>
                  <a:spcPts val="2520"/>
                </a:lnSpc>
              </a:pPr>
              <a:r>
                <a:rPr lang="en-US" sz="1800" b="true">
                  <a:solidFill>
                    <a:srgbClr val="000000"/>
                  </a:solidFill>
                  <a:latin typeface="Open Sans Bold"/>
                  <a:ea typeface="Open Sans Bold"/>
                  <a:cs typeface="Open Sans Bold"/>
                  <a:sym typeface="Open Sans Bold"/>
                </a:rPr>
                <a:t>Diagrama 1: Evolucion de los modelos usados.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99896" y="3868840"/>
            <a:ext cx="7234824" cy="3541456"/>
          </a:xfrm>
          <a:custGeom>
            <a:avLst/>
            <a:gdLst/>
            <a:ahLst/>
            <a:cxnLst/>
            <a:rect r="r" b="b" t="t" l="l"/>
            <a:pathLst>
              <a:path h="3541456" w="7234824">
                <a:moveTo>
                  <a:pt x="0" y="0"/>
                </a:moveTo>
                <a:lnTo>
                  <a:pt x="7234825" y="0"/>
                </a:lnTo>
                <a:lnTo>
                  <a:pt x="7234825" y="3541456"/>
                </a:lnTo>
                <a:lnTo>
                  <a:pt x="0" y="3541456"/>
                </a:lnTo>
                <a:lnTo>
                  <a:pt x="0" y="0"/>
                </a:lnTo>
                <a:close/>
              </a:path>
            </a:pathLst>
          </a:custGeom>
          <a:blipFill>
            <a:blip r:embed="rId2"/>
            <a:stretch>
              <a:fillRect l="0" t="0" r="0" b="0"/>
            </a:stretch>
          </a:blipFill>
        </p:spPr>
      </p:sp>
      <p:sp>
        <p:nvSpPr>
          <p:cNvPr name="AutoShape 3" id="3"/>
          <p:cNvSpPr/>
          <p:nvPr/>
        </p:nvSpPr>
        <p:spPr>
          <a:xfrm>
            <a:off x="1028700" y="9458970"/>
            <a:ext cx="9915965" cy="0"/>
          </a:xfrm>
          <a:prstGeom prst="line">
            <a:avLst/>
          </a:prstGeom>
          <a:ln cap="flat" w="38100">
            <a:solidFill>
              <a:srgbClr val="000000"/>
            </a:solidFill>
            <a:prstDash val="solid"/>
            <a:headEnd type="none" len="sm" w="sm"/>
            <a:tailEnd type="none" len="sm" w="sm"/>
          </a:ln>
        </p:spPr>
      </p:sp>
      <p:sp>
        <p:nvSpPr>
          <p:cNvPr name="Freeform 4" id="4"/>
          <p:cNvSpPr/>
          <p:nvPr/>
        </p:nvSpPr>
        <p:spPr>
          <a:xfrm flipH="false" flipV="false" rot="0">
            <a:off x="9628593" y="3376641"/>
            <a:ext cx="7519237" cy="4746518"/>
          </a:xfrm>
          <a:custGeom>
            <a:avLst/>
            <a:gdLst/>
            <a:ahLst/>
            <a:cxnLst/>
            <a:rect r="r" b="b" t="t" l="l"/>
            <a:pathLst>
              <a:path h="4746518" w="7519237">
                <a:moveTo>
                  <a:pt x="0" y="0"/>
                </a:moveTo>
                <a:lnTo>
                  <a:pt x="7519237" y="0"/>
                </a:lnTo>
                <a:lnTo>
                  <a:pt x="7519237" y="4746518"/>
                </a:lnTo>
                <a:lnTo>
                  <a:pt x="0" y="4746518"/>
                </a:lnTo>
                <a:lnTo>
                  <a:pt x="0" y="0"/>
                </a:lnTo>
                <a:close/>
              </a:path>
            </a:pathLst>
          </a:custGeom>
          <a:blipFill>
            <a:blip r:embed="rId3"/>
            <a:stretch>
              <a:fillRect l="0" t="0" r="0" b="0"/>
            </a:stretch>
          </a:blipFill>
        </p:spPr>
      </p:sp>
      <p:sp>
        <p:nvSpPr>
          <p:cNvPr name="TextBox 5" id="5"/>
          <p:cNvSpPr txBox="true"/>
          <p:nvPr/>
        </p:nvSpPr>
        <p:spPr>
          <a:xfrm rot="0">
            <a:off x="2048052" y="952500"/>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¿Como se definira el mejor modelo?</a:t>
            </a:r>
          </a:p>
        </p:txBody>
      </p:sp>
      <p:sp>
        <p:nvSpPr>
          <p:cNvPr name="TextBox 6" id="6"/>
          <p:cNvSpPr txBox="true"/>
          <p:nvPr/>
        </p:nvSpPr>
        <p:spPr>
          <a:xfrm rot="0">
            <a:off x="1269360" y="1733059"/>
            <a:ext cx="15749281" cy="1189355"/>
          </a:xfrm>
          <a:prstGeom prst="rect">
            <a:avLst/>
          </a:prstGeom>
        </p:spPr>
        <p:txBody>
          <a:bodyPr anchor="t" rtlCol="false" tIns="0" lIns="0" bIns="0" rIns="0">
            <a:spAutoFit/>
          </a:bodyPr>
          <a:lstStyle/>
          <a:p>
            <a:pPr algn="just">
              <a:lnSpc>
                <a:spcPts val="3220"/>
              </a:lnSpc>
            </a:pPr>
            <a:r>
              <a:rPr lang="en-US" sz="2300">
                <a:solidFill>
                  <a:srgbClr val="000000"/>
                </a:solidFill>
                <a:latin typeface="Open Sans"/>
                <a:ea typeface="Open Sans"/>
                <a:cs typeface="Open Sans"/>
                <a:sym typeface="Open Sans"/>
              </a:rPr>
              <a:t>Por el contexto comercial se decidio que el modelo que logre alcanzar un menor WAPE sera el mas optimo para utilizarse, la justificacion radica en que el esta metrica en este contexto busca tener presicion en la demanda general , es decir aquellos SKU con mayor demanda tendran mayor peso en el calculo de este.</a:t>
            </a:r>
          </a:p>
        </p:txBody>
      </p:sp>
      <p:sp>
        <p:nvSpPr>
          <p:cNvPr name="TextBox 7" id="7"/>
          <p:cNvSpPr txBox="true"/>
          <p:nvPr/>
        </p:nvSpPr>
        <p:spPr>
          <a:xfrm rot="0">
            <a:off x="860080" y="9506595"/>
            <a:ext cx="15749281" cy="297180"/>
          </a:xfrm>
          <a:prstGeom prst="rect">
            <a:avLst/>
          </a:prstGeom>
        </p:spPr>
        <p:txBody>
          <a:bodyPr anchor="t" rtlCol="false" tIns="0" lIns="0" bIns="0" rIns="0">
            <a:spAutoFit/>
          </a:bodyPr>
          <a:lstStyle/>
          <a:p>
            <a:pPr algn="just" marL="388622" indent="-194311" lvl="1">
              <a:lnSpc>
                <a:spcPts val="2520"/>
              </a:lnSpc>
              <a:buAutoNum type="arabicPeriod" startAt="1"/>
            </a:pPr>
            <a:r>
              <a:rPr lang="en-US" sz="1800">
                <a:solidFill>
                  <a:srgbClr val="000000"/>
                </a:solidFill>
                <a:latin typeface="Open Sans"/>
                <a:ea typeface="Open Sans"/>
                <a:cs typeface="Open Sans"/>
                <a:sym typeface="Open Sans"/>
              </a:rPr>
              <a:t>Durante el desarrollo si se calcularón otras metricas pero la que mide finalmente el modelo ganador es WAPE.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52503" y="1487258"/>
            <a:ext cx="13782993" cy="7312484"/>
          </a:xfrm>
          <a:custGeom>
            <a:avLst/>
            <a:gdLst/>
            <a:ahLst/>
            <a:cxnLst/>
            <a:rect r="r" b="b" t="t" l="l"/>
            <a:pathLst>
              <a:path h="7312484" w="13782993">
                <a:moveTo>
                  <a:pt x="0" y="0"/>
                </a:moveTo>
                <a:lnTo>
                  <a:pt x="13782994" y="0"/>
                </a:lnTo>
                <a:lnTo>
                  <a:pt x="13782994" y="7312484"/>
                </a:lnTo>
                <a:lnTo>
                  <a:pt x="0" y="7312484"/>
                </a:lnTo>
                <a:lnTo>
                  <a:pt x="0" y="0"/>
                </a:lnTo>
                <a:close/>
              </a:path>
            </a:pathLst>
          </a:custGeom>
          <a:blipFill>
            <a:blip r:embed="rId2"/>
            <a:stretch>
              <a:fillRect l="0" t="0" r="0" b="0"/>
            </a:stretch>
          </a:blipFill>
        </p:spPr>
      </p:sp>
      <p:sp>
        <p:nvSpPr>
          <p:cNvPr name="TextBox 3" id="3"/>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Presentacion de los resultados</a:t>
            </a:r>
          </a:p>
        </p:txBody>
      </p:sp>
      <p:sp>
        <p:nvSpPr>
          <p:cNvPr name="AutoShape 4" id="4"/>
          <p:cNvSpPr/>
          <p:nvPr/>
        </p:nvSpPr>
        <p:spPr>
          <a:xfrm>
            <a:off x="1028700" y="9458970"/>
            <a:ext cx="9915965"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860080" y="9506595"/>
            <a:ext cx="15749281" cy="297180"/>
          </a:xfrm>
          <a:prstGeom prst="rect">
            <a:avLst/>
          </a:prstGeom>
        </p:spPr>
        <p:txBody>
          <a:bodyPr anchor="t" rtlCol="false" tIns="0" lIns="0" bIns="0" rIns="0">
            <a:spAutoFit/>
          </a:bodyPr>
          <a:lstStyle/>
          <a:p>
            <a:pPr algn="just" marL="388622" indent="-194311" lvl="1">
              <a:lnSpc>
                <a:spcPts val="2520"/>
              </a:lnSpc>
              <a:buAutoNum type="arabicPeriod" startAt="1"/>
            </a:pPr>
            <a:r>
              <a:rPr lang="en-US" sz="1800">
                <a:solidFill>
                  <a:srgbClr val="000000"/>
                </a:solidFill>
                <a:latin typeface="Open Sans"/>
                <a:ea typeface="Open Sans"/>
                <a:cs typeface="Open Sans"/>
                <a:sym typeface="Open Sans"/>
              </a:rPr>
              <a:t>Todos los modelos con excepcion de ES-GBM usaron una separacion de la serie de tiempo 90% entrenamiento y 10% prueba.</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Supuestos y consideraciones relevantes</a:t>
            </a:r>
          </a:p>
        </p:txBody>
      </p:sp>
      <p:sp>
        <p:nvSpPr>
          <p:cNvPr name="TextBox 3" id="3"/>
          <p:cNvSpPr txBox="true"/>
          <p:nvPr/>
        </p:nvSpPr>
        <p:spPr>
          <a:xfrm rot="0">
            <a:off x="1388791" y="1752710"/>
            <a:ext cx="13281023" cy="2571623"/>
          </a:xfrm>
          <a:prstGeom prst="rect">
            <a:avLst/>
          </a:prstGeom>
        </p:spPr>
        <p:txBody>
          <a:bodyPr anchor="t" rtlCol="false" tIns="0" lIns="0" bIns="0" rIns="0">
            <a:spAutoFit/>
          </a:bodyPr>
          <a:lstStyle/>
          <a:p>
            <a:pPr algn="l" marL="496571" indent="-248285" lvl="1">
              <a:lnSpc>
                <a:spcPts val="4186"/>
              </a:lnSpc>
              <a:buAutoNum type="arabicPeriod" startAt="1"/>
            </a:pPr>
            <a:r>
              <a:rPr lang="en-US" sz="2300">
                <a:solidFill>
                  <a:srgbClr val="000000"/>
                </a:solidFill>
                <a:latin typeface="Open Sans"/>
                <a:ea typeface="Open Sans"/>
                <a:cs typeface="Open Sans"/>
                <a:sym typeface="Open Sans"/>
              </a:rPr>
              <a:t>Si la base de datos tenia un producto con cantidad y venta cero se asume que la empresa no comercializo el producto ese periodo. En consecuencia la demanda es 0.</a:t>
            </a:r>
          </a:p>
          <a:p>
            <a:pPr algn="l" marL="496571" indent="-248285" lvl="1">
              <a:lnSpc>
                <a:spcPts val="4186"/>
              </a:lnSpc>
              <a:buAutoNum type="arabicPeriod" startAt="1"/>
            </a:pPr>
            <a:r>
              <a:rPr lang="en-US" sz="2300">
                <a:solidFill>
                  <a:srgbClr val="000000"/>
                </a:solidFill>
                <a:latin typeface="Open Sans"/>
                <a:ea typeface="Open Sans"/>
                <a:cs typeface="Open Sans"/>
                <a:sym typeface="Open Sans"/>
              </a:rPr>
              <a:t>El precio se conoce ex-ante, esto producto a planificacion comercial.</a:t>
            </a:r>
          </a:p>
          <a:p>
            <a:pPr algn="l" marL="496571" indent="-248285" lvl="1">
              <a:lnSpc>
                <a:spcPts val="4186"/>
              </a:lnSpc>
              <a:buAutoNum type="arabicPeriod" startAt="1"/>
            </a:pPr>
            <a:r>
              <a:rPr lang="en-US" sz="2300">
                <a:solidFill>
                  <a:srgbClr val="000000"/>
                </a:solidFill>
                <a:latin typeface="Open Sans"/>
                <a:ea typeface="Open Sans"/>
                <a:cs typeface="Open Sans"/>
                <a:sym typeface="Open Sans"/>
              </a:rPr>
              <a:t>Solo se hizo uso de 100 sku de la muestra total con mayor venta.</a:t>
            </a:r>
          </a:p>
          <a:p>
            <a:pPr algn="l" marL="496571" indent="-248285" lvl="1">
              <a:lnSpc>
                <a:spcPts val="4186"/>
              </a:lnSpc>
              <a:buAutoNum type="arabicPeriod" startAt="1"/>
            </a:pPr>
            <a:r>
              <a:rPr lang="en-US" sz="2300">
                <a:solidFill>
                  <a:srgbClr val="000000"/>
                </a:solidFill>
                <a:latin typeface="Open Sans"/>
                <a:ea typeface="Open Sans"/>
                <a:cs typeface="Open Sans"/>
                <a:sym typeface="Open Sans"/>
              </a:rPr>
              <a:t>El entrenamiento del modelo se divide en 80% entrenamiento, 10%validación y 10% prueba.</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División 80-10-10</a:t>
            </a:r>
          </a:p>
        </p:txBody>
      </p:sp>
      <p:sp>
        <p:nvSpPr>
          <p:cNvPr name="TextBox 3" id="3"/>
          <p:cNvSpPr txBox="true"/>
          <p:nvPr/>
        </p:nvSpPr>
        <p:spPr>
          <a:xfrm rot="0">
            <a:off x="1388791" y="1752710"/>
            <a:ext cx="13281023" cy="476123"/>
          </a:xfrm>
          <a:prstGeom prst="rect">
            <a:avLst/>
          </a:prstGeom>
        </p:spPr>
        <p:txBody>
          <a:bodyPr anchor="t" rtlCol="false" tIns="0" lIns="0" bIns="0" rIns="0">
            <a:spAutoFit/>
          </a:bodyPr>
          <a:lstStyle/>
          <a:p>
            <a:pPr algn="l" marL="496571" indent="-248285" lvl="1">
              <a:lnSpc>
                <a:spcPts val="4186"/>
              </a:lnSpc>
              <a:buAutoNum type="arabicPeriod" startAt="1"/>
            </a:pPr>
            <a:r>
              <a:rPr lang="en-US" sz="2300">
                <a:solidFill>
                  <a:srgbClr val="000000"/>
                </a:solidFill>
                <a:latin typeface="Open Sans"/>
                <a:ea typeface="Open Sans"/>
                <a:cs typeface="Open Sans"/>
                <a:sym typeface="Open Sans"/>
              </a:rPr>
              <a:t>El 80% fue usada para que los modelos </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Variables usadas</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Modelos especificos usados breve explicacion</a:t>
            </a:r>
          </a:p>
        </p:txBody>
      </p:sp>
      <p:sp>
        <p:nvSpPr>
          <p:cNvPr name="TextBox 3" id="3"/>
          <p:cNvSpPr txBox="true"/>
          <p:nvPr/>
        </p:nvSpPr>
        <p:spPr>
          <a:xfrm rot="0">
            <a:off x="2002631" y="3824451"/>
            <a:ext cx="14282738" cy="580390"/>
          </a:xfrm>
          <a:prstGeom prst="rect">
            <a:avLst/>
          </a:prstGeom>
        </p:spPr>
        <p:txBody>
          <a:bodyPr anchor="t" rtlCol="false" tIns="0" lIns="0" bIns="0" rIns="0">
            <a:spAutoFit/>
          </a:bodyPr>
          <a:lstStyle/>
          <a:p>
            <a:pPr algn="ctr">
              <a:lnSpc>
                <a:spcPts val="4759"/>
              </a:lnSpc>
            </a:pPr>
            <a:r>
              <a:rPr lang="en-US" sz="3399">
                <a:solidFill>
                  <a:srgbClr val="000000"/>
                </a:solidFill>
                <a:latin typeface="Open Sans"/>
                <a:ea typeface="Open Sans"/>
                <a:cs typeface="Open Sans"/>
                <a:sym typeface="Open Sans"/>
              </a:rPr>
              <a:t>Ensamble de Cat boost , LST, Suavizacion exponencial winter ¿XgBoost?</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Esquema del modelo a modo general</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Explicación Capa 1</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Explicación Capa 2</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Explicación Capa 3 final</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Gráficos simples</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Ejericcio comercial simple para cuatizar resultados</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5113" y="650875"/>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Resultado Test Hipotesis</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25113" y="650875"/>
            <a:ext cx="13679129" cy="138430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Conclusiones relevantes + potenciales futuros trabajos</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304435" y="4413250"/>
            <a:ext cx="13679129" cy="679450"/>
          </a:xfrm>
          <a:prstGeom prst="rect">
            <a:avLst/>
          </a:prstGeom>
        </p:spPr>
        <p:txBody>
          <a:bodyPr anchor="t" rtlCol="false" tIns="0" lIns="0" bIns="0" rIns="0">
            <a:spAutoFit/>
          </a:bodyPr>
          <a:lstStyle/>
          <a:p>
            <a:pPr algn="ctr">
              <a:lnSpc>
                <a:spcPts val="5599"/>
              </a:lnSpc>
            </a:pPr>
            <a:r>
              <a:rPr lang="en-US" sz="3999" b="true">
                <a:solidFill>
                  <a:srgbClr val="000000"/>
                </a:solidFill>
                <a:latin typeface="Open Sans Bold"/>
                <a:ea typeface="Open Sans Bold"/>
                <a:cs typeface="Open Sans Bold"/>
                <a:sym typeface="Open Sans Bold"/>
              </a:rPr>
              <a:t>Anexos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01793" y="1759344"/>
            <a:ext cx="12684413" cy="7888119"/>
          </a:xfrm>
          <a:custGeom>
            <a:avLst/>
            <a:gdLst/>
            <a:ahLst/>
            <a:cxnLst/>
            <a:rect r="r" b="b" t="t" l="l"/>
            <a:pathLst>
              <a:path h="7888119" w="12684413">
                <a:moveTo>
                  <a:pt x="0" y="0"/>
                </a:moveTo>
                <a:lnTo>
                  <a:pt x="12684414" y="0"/>
                </a:lnTo>
                <a:lnTo>
                  <a:pt x="12684414" y="7888119"/>
                </a:lnTo>
                <a:lnTo>
                  <a:pt x="0" y="7888119"/>
                </a:lnTo>
                <a:lnTo>
                  <a:pt x="0" y="0"/>
                </a:lnTo>
                <a:close/>
              </a:path>
            </a:pathLst>
          </a:custGeom>
          <a:blipFill>
            <a:blip r:embed="rId2"/>
            <a:stretch>
              <a:fillRect l="0" t="0" r="0" b="0"/>
            </a:stretch>
          </a:blipFill>
        </p:spPr>
      </p:sp>
      <p:sp>
        <p:nvSpPr>
          <p:cNvPr name="TextBox 3" id="3"/>
          <p:cNvSpPr txBox="true"/>
          <p:nvPr/>
        </p:nvSpPr>
        <p:spPr>
          <a:xfrm rot="0">
            <a:off x="1028700" y="952500"/>
            <a:ext cx="13679129" cy="679450"/>
          </a:xfrm>
          <a:prstGeom prst="rect">
            <a:avLst/>
          </a:prstGeom>
        </p:spPr>
        <p:txBody>
          <a:bodyPr anchor="t" rtlCol="false" tIns="0" lIns="0" bIns="0" rIns="0">
            <a:spAutoFit/>
          </a:bodyPr>
          <a:lstStyle/>
          <a:p>
            <a:pPr algn="l">
              <a:lnSpc>
                <a:spcPts val="5599"/>
              </a:lnSpc>
            </a:pPr>
            <a:r>
              <a:rPr lang="en-US" sz="3999" b="true">
                <a:solidFill>
                  <a:srgbClr val="000000"/>
                </a:solidFill>
                <a:latin typeface="Open Sans Bold"/>
                <a:ea typeface="Open Sans Bold"/>
                <a:cs typeface="Open Sans Bold"/>
                <a:sym typeface="Open Sans Bold"/>
              </a:rPr>
              <a:t>Anexo 1: Mapa de Calor Intermitencia de Demanda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DAHTm-uVfMo</dc:identifier>
  <dcterms:modified xsi:type="dcterms:W3CDTF">2011-08-01T06:04:30Z</dcterms:modified>
  <cp:revision>1</cp:revision>
  <dc:title>Añadir un título</dc:title>
</cp:coreProperties>
</file>