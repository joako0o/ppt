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34,8 % de los meses a nivel SKU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 SI PREGUNTAN POR QUÉ TOP-DOWN Y NO BOTTOM-UP: por la ley de los grandes números. A nivel de SKU las ventas son erráticas e intermitentes y confunden a los algoritmos; al agregar a familia el ruido individual se cancela y emerge una curva densa con estacionalidad clara. Se predice el bosque y después se reparten las ramas.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45 s. La Capa 3 no predice demanda: predice la cuota de cada SKU dentro de su familia. Vía A: proporciones históricas, que es el esquema que usan todos los benchmarks y por eso garantiza una comparación justa; entrega el 16,10 %. Vía B: el motor supervisado que estima la cuota mes a mes con cuota rezagada, medias móviles, meses sin venta y precio relativo; dio 24,35 %. Y lo importante: el pipeline no elige a mano. Compara el WAPE de ambos esquemas en la ventana de validación y adopta el de menor error para la prueba ciega; en esta ventana seleccionó el reparto estático. Si el catálogo cambiara de comportamiento, la misma regla podría adoptar las cuotas aprendidas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DE EVIDENCIA. Explicar que se probaron tres configuraciones reentrenando el ensamble completo: sin ninguna información de precios, con el precio rezagado del mes anterior, y con el plan comercial ex-ante del propio mes. Resultados: 38,25 %, 26,42 % y 16,10 % de WAPE, con R2 de 0,69, 0,78 y 0,95. Dos lecturas: el plan comercial aporta 22,2 puntos de reducción, o sea la demanda del fast fashion no es estocástica sino dirigida; y aun sin precios el modelo queda en 38,25 %, muy por debajo de SARIMA (76,74 %) y SBA (83,42 %), lo que muestra que no depende de forma frágil de esa señal. Matiz honesto: el 67 % de importancia por ganancia no es una estimación causal de elasticidad.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de sección. Pasar rápido: sirve para marcar el cambio de bloque y dar un respiro visual al jurado.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ÍNDICE RÁPIDO DE ANEXOS PARA EL TURNO DE PREGUNTAS: A1 y A2 glosario de modelos; A3 tabla completa de métricas; A4 a A6 fórmulas; A7 horizonte, rolling-origin y qué se congela; A8 tratamiento de la intermitencia; A9 hiperparámetros; A10 significancia estadística; A11 comparativa por modelo; A12 residuos; A13 evidencia de intermitencia; A14 sensibilidad financiera; A15 contexto macro; A16 trazabilidad y uso de IA.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Glosario de los modelos de referencia en lenguaje simple. Para responder por qué no usó tal método o qué diferencia hay entre Croston y SARIMA.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Los componentes de la arquitectura propia y por qué cada uno está donde está.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Tabla 5.1 completa: WAPE, sMAPE, RMSE, MAE, sesgo, R2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Fórmulas de WAPE y MAPE con el significado de cada símbolo.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Fórmulas de MAE y RMSE. El MAE conecta con el cálculo de stock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Fórmulas de Bias y R2. El sesgo dice hacia qué lado se equivoca el modelo.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FICHA TÉCNICA: horizonte h = 1 mes encadenado sobre siete orígenes; validación rolling-origin walk-forward con dos cortes, C1 en marzo de 2024 y CUT en enero de 2025. Clave para la pregunta sobre reentrenamiento: el nivel de Holt se actualiza mes a mes, pero los modelos GBDT, los pesos NNLS, el umbral de ruteo y las cuotas quedan congelados desde el corte durante los siete meses. Eso es una prueba de estrés, no una ventaja.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A8. INTERMITENCIA: se aplicó zero-filling, es decir, se completó la grilla mes por SKU asignando cero explícito donde el ERP no guarda fila. No se imputó la media, no se interpoló y no se eliminaron los ceros: un cero es una observación, no un dato faltante. La intermitencia se resuelve por arquitectura, agregando a familia y desagregando por cuotas. 34,8 % de meses en cero a nivel SKU.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A9. HIPERPARÁMETROS: elegidos por búsqueda en grilla sobre la ventana de validación, nunca sobre el test. Ocho semillas promediadas. Si piden un valor concreto: XGBoost con learning_rate 0,05, max_depth 6 y 500 árboles; LightGBM con 31 hojas y 600 árboles; CatBoost con depth 6 y 600 iteraciones; TabPFN en modo zero-shot sin ajuste.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A10. SIGNIFICANCIA: test de Diebold-Mariano con corrección HAC sobre errores agrupados. Frente a SARIMA t = 7,84 con p = 0,0002; frente a SARIMAX t = 13,19 con p menor a 0,0001; frente a LSTM t = 10,14 con p = 0,0001. Aclarar el alcance: contrasta bajo pérdida cuadrática, no directamente sobre el WAPE, y para los modelos de frontera la comparación se mantiene descriptiva.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A11.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A12. Residuos: Ljung-Box p = 0,751 y Shapiro-Wilk p = 0,184.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A13.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A14. Sensibilidad financiera: 84,5 a 126,8 millones bajo gestión descentralizada y 8,5 a 12,7 millones con risk pooling.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A15. Contexto macro: el IPC de vestuario cae de forma sostenida.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A16.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01</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Contexto y problema</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La moda femenina compromete inventario seis meses antes de</a:t>
            </a:r>
          </a:p>
          <a:p>
            <a:pPr algn="l">
              <a:lnSpc>
                <a:spcPct val="125000"/>
              </a:lnSpc>
              <a:spcBef>
                <a:spcPts val="0"/>
              </a:spcBef>
              <a:spcAft>
                <a:spcPts val="0"/>
              </a:spcAft>
            </a:pPr>
            <a:r>
              <a:rPr sz="1700" b="0" i="0">
                <a:solidFill>
                  <a:srgbClr val="6E6E6E"/>
                </a:solidFill>
                <a:latin typeface="Open Sans"/>
              </a:rPr>
              <a:t>saber qué va a vender.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34,8 %</a:t>
            </a:r>
          </a:p>
          <a:p>
            <a:pPr algn="l">
              <a:lnSpc>
                <a:spcPct val="120000"/>
              </a:lnSpc>
              <a:spcBef>
                <a:spcPts val="0"/>
              </a:spcBef>
              <a:spcAft>
                <a:spcPts val="0"/>
              </a:spcAft>
            </a:pPr>
            <a:r>
              <a:rPr sz="1350" b="0" i="0">
                <a:solidFill>
                  <a:srgbClr val="394049"/>
                </a:solidFill>
                <a:latin typeface="Open Sans"/>
              </a:rPr>
              <a:t>de los meses SKU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02</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Pregunta, hipótesis y objetivo</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Qué se pone a prueba y con qué métrica se decide.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TextBox 9"/>
          <p:cNvSpPr txBox="1"/>
          <p:nvPr/>
        </p:nvSpPr>
        <p:spPr>
          <a:xfrm>
            <a:off x="960120" y="2231136"/>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200" b="1" i="0" spc="180">
                <a:solidFill>
                  <a:srgbClr val="6E6E6E"/>
                </a:solidFill>
                <a:latin typeface="Open Sans"/>
              </a:rPr>
              <a:t>PREGUNTA DE INVESTIGACIÓN</a:t>
            </a:r>
          </a:p>
        </p:txBody>
      </p:sp>
      <p:sp>
        <p:nvSpPr>
          <p:cNvPr id="11" name="Rectangle 10"/>
          <p:cNvSpPr/>
          <p:nvPr/>
        </p:nvSpPr>
        <p:spPr>
          <a:xfrm>
            <a:off x="960120" y="2633472"/>
            <a:ext cx="82296" cy="148132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63040" y="2596896"/>
            <a:ext cx="15179040" cy="1645920"/>
          </a:xfrm>
          <a:prstGeom prst="rect">
            <a:avLst/>
          </a:prstGeom>
          <a:noFill/>
        </p:spPr>
        <p:txBody>
          <a:bodyPr wrap="square" lIns="0" rIns="0" tIns="0" bIns="0" anchor="t">
            <a:spAutoFit/>
          </a:bodyPr>
          <a:lstStyle/>
          <a:p>
            <a:pPr algn="l">
              <a:lnSpc>
                <a:spcPct val="132000"/>
              </a:lnSpc>
              <a:spcBef>
                <a:spcPts val="0"/>
              </a:spcBef>
              <a:spcAft>
                <a:spcPts val="0"/>
              </a:spcAft>
            </a:pPr>
            <a:r>
              <a:rPr sz="2000" b="0" i="0">
                <a:solidFill>
                  <a:srgbClr val="13161B"/>
                </a:solidFill>
                <a:latin typeface="Open Sans"/>
              </a:rPr>
              <a:t>¿Cuál enfoque de modelado —clásicos univariados, causales, redes recurrentes, modelos fundacionales o ensambles jerárquicos híbridos— alcanza la mayor capacidad predictiva y robustez metodológica para pronosticar la demanda de retail de moda en Chile, evaluado mediante WAPE en un horizonte mensual h = 1?</a:t>
            </a:r>
          </a:p>
        </p:txBody>
      </p:sp>
      <p:cxnSp>
        <p:nvCxnSpPr>
          <p:cNvPr id="13" name="Connector 12"/>
          <p:cNvCxnSpPr/>
          <p:nvPr/>
        </p:nvCxnSpPr>
        <p:spPr>
          <a:xfrm>
            <a:off x="960120" y="4553712"/>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960120" y="4855464"/>
            <a:ext cx="566928" cy="6858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5102352"/>
            <a:ext cx="7680960" cy="365760"/>
          </a:xfrm>
          <a:prstGeom prst="rect">
            <a:avLst/>
          </a:prstGeom>
          <a:noFill/>
        </p:spPr>
        <p:txBody>
          <a:bodyPr wrap="square" lIns="0" rIns="0" tIns="0" bIns="0" anchor="t">
            <a:spAutoFit/>
          </a:bodyPr>
          <a:lstStyle/>
          <a:p>
            <a:pPr algn="l">
              <a:lnSpc>
                <a:spcPct val="116000"/>
              </a:lnSpc>
              <a:spcBef>
                <a:spcPts val="0"/>
              </a:spcBef>
              <a:spcAft>
                <a:spcPts val="0"/>
              </a:spcAft>
            </a:pPr>
            <a:r>
              <a:rPr sz="1700" b="1" i="0">
                <a:solidFill>
                  <a:srgbClr val="13161B"/>
                </a:solidFill>
                <a:latin typeface="Open Sans"/>
              </a:rPr>
              <a:t>H₀  ·  hipótesis nula</a:t>
            </a:r>
          </a:p>
        </p:txBody>
      </p:sp>
      <p:sp>
        <p:nvSpPr>
          <p:cNvPr id="16" name="TextBox 15"/>
          <p:cNvSpPr txBox="1"/>
          <p:nvPr/>
        </p:nvSpPr>
        <p:spPr>
          <a:xfrm>
            <a:off x="960120" y="5559552"/>
            <a:ext cx="7680960" cy="1188720"/>
          </a:xfrm>
          <a:prstGeom prst="rect">
            <a:avLst/>
          </a:prstGeom>
          <a:noFill/>
        </p:spPr>
        <p:txBody>
          <a:bodyPr wrap="square" lIns="0" rIns="0" tIns="0" bIns="0" anchor="t">
            <a:spAutoFit/>
          </a:bodyPr>
          <a:lstStyle/>
          <a:p>
            <a:pPr algn="l">
              <a:lnSpc>
                <a:spcPct val="128000"/>
              </a:lnSpc>
              <a:spcBef>
                <a:spcPts val="0"/>
              </a:spcBef>
              <a:spcAft>
                <a:spcPts val="0"/>
              </a:spcAft>
            </a:pPr>
            <a:r>
              <a:rPr sz="1550" b="0" i="0">
                <a:solidFill>
                  <a:srgbClr val="394049"/>
                </a:solidFill>
                <a:latin typeface="Open Sans"/>
              </a:rPr>
              <a:t>El WAPE esperado de la arquitectura ES-GBM no es inferior al de los benchmarks primarios de referencia: SARIMA, SARIMAX y LSTM.</a:t>
            </a:r>
          </a:p>
        </p:txBody>
      </p:sp>
      <p:sp>
        <p:nvSpPr>
          <p:cNvPr id="17" name="Rectangle 16"/>
          <p:cNvSpPr/>
          <p:nvPr/>
        </p:nvSpPr>
        <p:spPr>
          <a:xfrm>
            <a:off x="9646920" y="4855464"/>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46920" y="5102352"/>
            <a:ext cx="7680960" cy="365760"/>
          </a:xfrm>
          <a:prstGeom prst="rect">
            <a:avLst/>
          </a:prstGeom>
          <a:noFill/>
        </p:spPr>
        <p:txBody>
          <a:bodyPr wrap="square" lIns="0" rIns="0" tIns="0" bIns="0" anchor="t">
            <a:spAutoFit/>
          </a:bodyPr>
          <a:lstStyle/>
          <a:p>
            <a:pPr algn="l">
              <a:lnSpc>
                <a:spcPct val="116000"/>
              </a:lnSpc>
              <a:spcBef>
                <a:spcPts val="0"/>
              </a:spcBef>
              <a:spcAft>
                <a:spcPts val="0"/>
              </a:spcAft>
            </a:pPr>
            <a:r>
              <a:rPr sz="1700" b="1" i="0">
                <a:solidFill>
                  <a:srgbClr val="13161B"/>
                </a:solidFill>
                <a:latin typeface="Open Sans"/>
              </a:rPr>
              <a:t>H₁  ·  hipótesis de trabajo</a:t>
            </a:r>
          </a:p>
        </p:txBody>
      </p:sp>
      <p:sp>
        <p:nvSpPr>
          <p:cNvPr id="19" name="TextBox 18"/>
          <p:cNvSpPr txBox="1"/>
          <p:nvPr/>
        </p:nvSpPr>
        <p:spPr>
          <a:xfrm>
            <a:off x="9646920" y="5559552"/>
            <a:ext cx="7680960" cy="1188720"/>
          </a:xfrm>
          <a:prstGeom prst="rect">
            <a:avLst/>
          </a:prstGeom>
          <a:noFill/>
        </p:spPr>
        <p:txBody>
          <a:bodyPr wrap="square" lIns="0" rIns="0" tIns="0" bIns="0" anchor="t">
            <a:spAutoFit/>
          </a:bodyPr>
          <a:lstStyle/>
          <a:p>
            <a:pPr algn="l">
              <a:lnSpc>
                <a:spcPct val="128000"/>
              </a:lnSpc>
              <a:spcBef>
                <a:spcPts val="0"/>
              </a:spcBef>
              <a:spcAft>
                <a:spcPts val="0"/>
              </a:spcAft>
            </a:pPr>
            <a:r>
              <a:rPr sz="1550" b="0" i="0">
                <a:solidFill>
                  <a:srgbClr val="394049"/>
                </a:solidFill>
                <a:latin typeface="Open Sans"/>
              </a:rPr>
              <a:t>El WAPE esperado de la arquitectura ES-GBM es inferior al de los benchmarks primarios de referencia.</a:t>
            </a:r>
          </a:p>
        </p:txBody>
      </p:sp>
      <p:cxnSp>
        <p:nvCxnSpPr>
          <p:cNvPr id="20" name="Connector 19"/>
          <p:cNvCxnSpPr/>
          <p:nvPr/>
        </p:nvCxnSpPr>
        <p:spPr>
          <a:xfrm>
            <a:off x="960120" y="6986016"/>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 y="72329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200" b="1" i="0" spc="180">
                <a:solidFill>
                  <a:srgbClr val="6E6E6E"/>
                </a:solidFill>
                <a:latin typeface="Open Sans"/>
              </a:rPr>
              <a:t>OBJETIVO GENERAL</a:t>
            </a:r>
          </a:p>
        </p:txBody>
      </p:sp>
      <p:sp>
        <p:nvSpPr>
          <p:cNvPr id="22" name="Rectangle 21"/>
          <p:cNvSpPr/>
          <p:nvPr/>
        </p:nvSpPr>
        <p:spPr>
          <a:xfrm>
            <a:off x="960120" y="7644383"/>
            <a:ext cx="82296" cy="120700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63040" y="7607808"/>
            <a:ext cx="15179040" cy="1371600"/>
          </a:xfrm>
          <a:prstGeom prst="rect">
            <a:avLst/>
          </a:prstGeom>
          <a:noFill/>
        </p:spPr>
        <p:txBody>
          <a:bodyPr wrap="square" lIns="0" rIns="0" tIns="0" bIns="0" anchor="t">
            <a:spAutoFit/>
          </a:bodyPr>
          <a:lstStyle/>
          <a:p>
            <a:pPr algn="l">
              <a:lnSpc>
                <a:spcPct val="130000"/>
              </a:lnSpc>
              <a:spcBef>
                <a:spcPts val="0"/>
              </a:spcBef>
              <a:spcAft>
                <a:spcPts val="0"/>
              </a:spcAft>
            </a:pPr>
            <a:r>
              <a:rPr sz="1700" b="0" i="0">
                <a:solidFill>
                  <a:srgbClr val="13161B"/>
                </a:solidFill>
                <a:latin typeface="Open Sans"/>
              </a:rPr>
              <a:t>Desarrollar y evaluar una arquitectura de pronóstico jerárquica de ensamble para el retail de moda femenina en Chile, que minimice el error de predicción integrando variables comerciales ex-ante y suavizamiento exponencial, con el fin de optimizar la eficiencia del capital de trabajo.</a:t>
            </a:r>
          </a:p>
        </p:txBody>
      </p:sp>
      <p:sp>
        <p:nvSpPr>
          <p:cNvPr id="24" name="TextBox 23"/>
          <p:cNvSpPr txBox="1"/>
          <p:nvPr/>
        </p:nvSpPr>
        <p:spPr>
          <a:xfrm>
            <a:off x="960120" y="8970263"/>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350" b="0" i="0">
                <a:solidFill>
                  <a:srgbClr val="9AA1A9"/>
                </a:solidFill>
                <a:latin typeface="Open Sans"/>
              </a:rPr>
              <a:t>Benchmarks primarios: SARIMA · SARIMAX · LSTM     |     Referencias de frontera: Croston · SBA · Seasonal Naïve · Chronos-Bolt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03</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Datos, variables y supuestos</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El núcleo comercial: 100 SKUs, 58 familias y 66 meses</a:t>
            </a:r>
          </a:p>
          <a:p>
            <a:pPr algn="l">
              <a:lnSpc>
                <a:spcPct val="125000"/>
              </a:lnSpc>
              <a:spcBef>
                <a:spcPts val="0"/>
              </a:spcBef>
              <a:spcAft>
                <a:spcPts val="0"/>
              </a:spcAft>
            </a:pPr>
            <a:r>
              <a:rPr sz="1700" b="0" i="0">
                <a:solidFill>
                  <a:srgbClr val="6E6E6E"/>
                </a:solidFill>
                <a:latin typeface="Open Sans"/>
              </a:rPr>
              <a:t>de historia.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ectangle 18"/>
          <p:cNvSpPr/>
          <p:nvPr/>
        </p:nvSpPr>
        <p:spPr>
          <a:xfrm>
            <a:off x="960120" y="6611112"/>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60120" y="6848856"/>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65022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65022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04</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Metodología y arquitectura</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Del protocolo anti-leakage a las tres capas del ES-GBM.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7863840"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44168" y="5961888"/>
            <a:ext cx="709574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Horizonte h = 1: cada mes se pronostica a un mes vista, encadenando siete orígenes con los pesos congelados.</a:t>
            </a:r>
          </a:p>
        </p:txBody>
      </p:sp>
      <p:sp>
        <p:nvSpPr>
          <p:cNvPr id="30" name="Rectangle 29"/>
          <p:cNvSpPr/>
          <p:nvPr/>
        </p:nvSpPr>
        <p:spPr>
          <a:xfrm>
            <a:off x="960120" y="7562088"/>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960120" y="7799831"/>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ectangle 34"/>
          <p:cNvSpPr/>
          <p:nvPr/>
        </p:nvSpPr>
        <p:spPr>
          <a:xfrm>
            <a:off x="960120" y="8110727"/>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960120" y="8348471"/>
            <a:ext cx="16367759" cy="978408"/>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las heurísticas estacionales clásicas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decay con vida media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 + 1))</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60120" y="6464808"/>
            <a:ext cx="566928" cy="685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60120" y="6702552"/>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7223760" cy="685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488168" y="2578608"/>
            <a:ext cx="6455664"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7223760" cy="685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488168" y="5047488"/>
            <a:ext cx="6455664"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Sobre ese nivel aprenden los residuos y los multiplicadores estacionales: menor varianza, pero reacciona más tarde.</a:t>
            </a:r>
          </a:p>
        </p:txBody>
      </p:sp>
      <p:sp>
        <p:nvSpPr>
          <p:cNvPr id="19" name="Rectangle 18"/>
          <p:cNvSpPr/>
          <p:nvPr/>
        </p:nvSpPr>
        <p:spPr>
          <a:xfrm>
            <a:off x="960120" y="7571231"/>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60120" y="7808975"/>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5239512" cy="685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44168" y="2578608"/>
            <a:ext cx="4471416"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5239512" cy="685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03720" y="2578608"/>
            <a:ext cx="4471416"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5239512"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472416" y="2578608"/>
            <a:ext cx="4471416"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DE MOMENTUM EVALUADA EN VALIDACIÓN</a:t>
            </a:r>
          </a:p>
        </p:txBody>
      </p:sp>
      <p:sp>
        <p:nvSpPr>
          <p:cNvPr id="20" name="Rounded Rectangle 19"/>
          <p:cNvSpPr/>
          <p:nvPr/>
        </p:nvSpPr>
        <p:spPr>
          <a:xfrm>
            <a:off x="960120" y="6227064"/>
            <a:ext cx="11521440" cy="914400"/>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1" name="Connector 20"/>
          <p:cNvCxnSpPr/>
          <p:nvPr/>
        </p:nvCxnSpPr>
        <p:spPr>
          <a:xfrm>
            <a:off x="2331720" y="6684264"/>
            <a:ext cx="8778239" cy="0"/>
          </a:xfrm>
          <a:prstGeom prst="line">
            <a:avLst/>
          </a:prstGeom>
          <a:ln w="17780">
            <a:solidFill>
              <a:srgbClr val="9AA1A9"/>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304288" y="6528816"/>
            <a:ext cx="54864" cy="3108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508760" y="6291072"/>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13161B"/>
                </a:solidFill>
                <a:latin typeface="Open Sans"/>
              </a:rPr>
              <a:t>1,05</a:t>
            </a:r>
          </a:p>
        </p:txBody>
      </p:sp>
      <p:sp>
        <p:nvSpPr>
          <p:cNvPr id="24" name="Rectangle 23"/>
          <p:cNvSpPr/>
          <p:nvPr/>
        </p:nvSpPr>
        <p:spPr>
          <a:xfrm>
            <a:off x="11082528" y="6528816"/>
            <a:ext cx="54864" cy="3108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287000" y="6291072"/>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13161B"/>
                </a:solidFill>
                <a:latin typeface="Open Sans"/>
              </a:rPr>
              <a:t>1,50</a:t>
            </a:r>
          </a:p>
        </p:txBody>
      </p:sp>
      <p:sp>
        <p:nvSpPr>
          <p:cNvPr id="26" name="Rectangle 25"/>
          <p:cNvSpPr/>
          <p:nvPr/>
        </p:nvSpPr>
        <p:spPr>
          <a:xfrm>
            <a:off x="6665976" y="6455664"/>
            <a:ext cx="91440" cy="457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5897880" y="6867144"/>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005F91"/>
                </a:solidFill>
                <a:latin typeface="Open Sans"/>
              </a:rPr>
              <a:t>τ*</a:t>
            </a:r>
          </a:p>
        </p:txBody>
      </p:sp>
      <p:sp>
        <p:nvSpPr>
          <p:cNvPr id="28" name="TextBox 27"/>
          <p:cNvSpPr txBox="1"/>
          <p:nvPr/>
        </p:nvSpPr>
        <p:spPr>
          <a:xfrm>
            <a:off x="12938760" y="6227064"/>
            <a:ext cx="4389120" cy="914400"/>
          </a:xfrm>
          <a:prstGeom prst="rect">
            <a:avLst/>
          </a:prstGeom>
          <a:noFill/>
        </p:spPr>
        <p:txBody>
          <a:bodyPr wrap="square" lIns="0" rIns="0" tIns="0" bIns="0" anchor="ctr">
            <a:spAutoFit/>
          </a:bodyPr>
          <a:lstStyle/>
          <a:p>
            <a:pPr algn="l">
              <a:lnSpc>
                <a:spcPct val="120000"/>
              </a:lnSpc>
              <a:spcBef>
                <a:spcPts val="0"/>
              </a:spcBef>
              <a:spcAft>
                <a:spcPts val="0"/>
              </a:spcAft>
            </a:pPr>
            <a:r>
              <a:rPr sz="1280" b="0" i="0">
                <a:solidFill>
                  <a:srgbClr val="394049"/>
                </a:solidFill>
                <a:latin typeface="Open Sans"/>
              </a:rPr>
              <a:t>Para cada umbral de la grilla se reoptimizan los pesos de ruteo; se adopta el que minimiza el WAPE en validación.</a:t>
            </a:r>
          </a:p>
        </p:txBody>
      </p:sp>
      <p:sp>
        <p:nvSpPr>
          <p:cNvPr id="29" name="Rectangle 28"/>
          <p:cNvSpPr/>
          <p:nvPr/>
        </p:nvSpPr>
        <p:spPr>
          <a:xfrm>
            <a:off x="960120" y="7845552"/>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0120" y="8083296"/>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7863840" cy="2331720"/>
          </a:xfrm>
          <a:prstGeom prst="roundRect">
            <a:avLst>
              <a:gd name="adj" fmla="val 235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2962656"/>
            <a:ext cx="2286000" cy="822960"/>
          </a:xfrm>
          <a:prstGeom prst="roundRect">
            <a:avLst>
              <a:gd name="adj" fmla="val 6666"/>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962656"/>
            <a:ext cx="2286000" cy="822960"/>
          </a:xfrm>
          <a:prstGeom prst="rect">
            <a:avLst/>
          </a:prstGeom>
          <a:noFill/>
        </p:spPr>
        <p:txBody>
          <a:bodyPr wrap="square" lIns="0" rIns="0" tIns="0" bIns="0" anchor="ctr">
            <a:spAutoFit/>
          </a:bodyPr>
          <a:lstStyle/>
          <a:p>
            <a:pPr algn="ctr">
              <a:lnSpc>
                <a:spcPct val="116000"/>
              </a:lnSpc>
              <a:spcBef>
                <a:spcPts val="0"/>
              </a:spcBef>
              <a:spcAft>
                <a:spcPts val="200"/>
              </a:spcAft>
            </a:pPr>
            <a:r>
              <a:rPr sz="1450" b="1" i="0">
                <a:solidFill>
                  <a:srgbClr val="FFFFFF"/>
                </a:solidFill>
                <a:latin typeface="Open Sans"/>
              </a:rPr>
              <a:t>Familia</a:t>
            </a:r>
          </a:p>
          <a:p>
            <a:pPr algn="ctr">
              <a:lnSpc>
                <a:spcPct val="116000"/>
              </a:lnSpc>
              <a:spcBef>
                <a:spcPts val="0"/>
              </a:spcBef>
              <a:spcAft>
                <a:spcPts val="0"/>
              </a:spcAft>
            </a:pPr>
            <a:r>
              <a:rPr sz="1050" b="0" i="0">
                <a:solidFill>
                  <a:srgbClr val="CBDCE7"/>
                </a:solidFill>
                <a:latin typeface="Open Sans"/>
              </a:rPr>
              <a:t>demanda proyectada</a:t>
            </a:r>
          </a:p>
        </p:txBody>
      </p:sp>
      <p:sp>
        <p:nvSpPr>
          <p:cNvPr id="13" name="Rounded Rectangle 12"/>
          <p:cNvSpPr/>
          <p:nvPr/>
        </p:nvSpPr>
        <p:spPr>
          <a:xfrm>
            <a:off x="5166359" y="2487168"/>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487168"/>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A</a:t>
            </a:r>
          </a:p>
        </p:txBody>
      </p:sp>
      <p:sp>
        <p:nvSpPr>
          <p:cNvPr id="15" name="TextBox 14"/>
          <p:cNvSpPr txBox="1"/>
          <p:nvPr/>
        </p:nvSpPr>
        <p:spPr>
          <a:xfrm>
            <a:off x="6720840" y="2487168"/>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41 %</a:t>
            </a:r>
          </a:p>
        </p:txBody>
      </p:sp>
      <p:cxnSp>
        <p:nvCxnSpPr>
          <p:cNvPr id="16" name="Connector 15"/>
          <p:cNvCxnSpPr/>
          <p:nvPr/>
        </p:nvCxnSpPr>
        <p:spPr>
          <a:xfrm flipV="1">
            <a:off x="3749039" y="2697479"/>
            <a:ext cx="1325881" cy="676657"/>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2962656"/>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2962656"/>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B</a:t>
            </a:r>
          </a:p>
        </p:txBody>
      </p:sp>
      <p:sp>
        <p:nvSpPr>
          <p:cNvPr id="19" name="TextBox 18"/>
          <p:cNvSpPr txBox="1"/>
          <p:nvPr/>
        </p:nvSpPr>
        <p:spPr>
          <a:xfrm>
            <a:off x="6720840" y="2962656"/>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27 %</a:t>
            </a:r>
          </a:p>
        </p:txBody>
      </p:sp>
      <p:cxnSp>
        <p:nvCxnSpPr>
          <p:cNvPr id="20" name="Connector 19"/>
          <p:cNvCxnSpPr/>
          <p:nvPr/>
        </p:nvCxnSpPr>
        <p:spPr>
          <a:xfrm flipV="1">
            <a:off x="3749039" y="3172968"/>
            <a:ext cx="1325881" cy="20116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438144"/>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438144"/>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C</a:t>
            </a:r>
          </a:p>
        </p:txBody>
      </p:sp>
      <p:sp>
        <p:nvSpPr>
          <p:cNvPr id="23" name="TextBox 22"/>
          <p:cNvSpPr txBox="1"/>
          <p:nvPr/>
        </p:nvSpPr>
        <p:spPr>
          <a:xfrm>
            <a:off x="6720840" y="3438144"/>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19 %</a:t>
            </a:r>
          </a:p>
        </p:txBody>
      </p:sp>
      <p:cxnSp>
        <p:nvCxnSpPr>
          <p:cNvPr id="24" name="Connector 23"/>
          <p:cNvCxnSpPr/>
          <p:nvPr/>
        </p:nvCxnSpPr>
        <p:spPr>
          <a:xfrm>
            <a:off x="3749039" y="3374136"/>
            <a:ext cx="1325881" cy="27432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3913631"/>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3913631"/>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D</a:t>
            </a:r>
          </a:p>
        </p:txBody>
      </p:sp>
      <p:sp>
        <p:nvSpPr>
          <p:cNvPr id="27" name="TextBox 26"/>
          <p:cNvSpPr txBox="1"/>
          <p:nvPr/>
        </p:nvSpPr>
        <p:spPr>
          <a:xfrm>
            <a:off x="6720840" y="3913631"/>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13 %</a:t>
            </a:r>
          </a:p>
        </p:txBody>
      </p:sp>
      <p:cxnSp>
        <p:nvCxnSpPr>
          <p:cNvPr id="28" name="Connector 27"/>
          <p:cNvCxnSpPr/>
          <p:nvPr/>
        </p:nvCxnSpPr>
        <p:spPr>
          <a:xfrm>
            <a:off x="3749039" y="3374136"/>
            <a:ext cx="1325881" cy="74980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096512"/>
            <a:ext cx="3291840" cy="36576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9AA1A9"/>
                </a:solidFill>
                <a:latin typeface="Open Sans"/>
              </a:rPr>
              <a:t>Las cuotas suman 100 %</a:t>
            </a:r>
          </a:p>
        </p:txBody>
      </p:sp>
      <p:sp>
        <p:nvSpPr>
          <p:cNvPr id="30" name="Rounded Rectangle 29"/>
          <p:cNvSpPr/>
          <p:nvPr/>
        </p:nvSpPr>
        <p:spPr>
          <a:xfrm>
            <a:off x="9464040" y="2249424"/>
            <a:ext cx="7863840" cy="2331720"/>
          </a:xfrm>
          <a:prstGeom prst="roundRect">
            <a:avLst>
              <a:gd name="adj" fmla="val 215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3317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1673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predice esta capa</a:t>
            </a:r>
          </a:p>
          <a:p>
            <a:pPr algn="l" marL="274320" indent="-274320">
              <a:lnSpc>
                <a:spcPct val="118000"/>
              </a:lnSpc>
              <a:spcBef>
                <a:spcPts val="0"/>
              </a:spcBef>
              <a:spcAft>
                <a:spcPts val="700"/>
              </a:spcAft>
            </a:pPr>
            <a:r>
              <a:rPr sz="1340" b="0" i="0">
                <a:solidFill>
                  <a:srgbClr val="394049"/>
                </a:solidFill>
                <a:latin typeface="Open Sans"/>
              </a:rPr>
              <a:t>•	No la demanda del SKU, sino su participación dentro de la familia; la demanda familiar se multiplica por esa cuota.</a:t>
            </a:r>
          </a:p>
          <a:p>
            <a:pPr algn="l" marL="274320" indent="-274320">
              <a:lnSpc>
                <a:spcPct val="118000"/>
              </a:lnSpc>
              <a:spcBef>
                <a:spcPts val="0"/>
              </a:spcBef>
              <a:spcAft>
                <a:spcPts val="0"/>
              </a:spcAft>
            </a:pPr>
            <a:r>
              <a:rPr sz="134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4855464"/>
            <a:ext cx="5239512" cy="685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344168" y="5184648"/>
            <a:ext cx="4471416"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1000"/>
              </a:spcAft>
            </a:pPr>
            <a:r>
              <a:rPr sz="1340" b="0" i="0">
                <a:solidFill>
                  <a:srgbClr val="394049"/>
                </a:solidFill>
                <a:latin typeface="Open Sans"/>
              </a:rPr>
              <a:t>•	La cuota se calcula con las ventas del período de entrenamiento y se mantiene fija durante el test.</a:t>
            </a:r>
          </a:p>
          <a:p>
            <a:pPr algn="l" marL="274320" indent="-274320">
              <a:lnSpc>
                <a:spcPct val="118000"/>
              </a:lnSpc>
              <a:spcBef>
                <a:spcPts val="0"/>
              </a:spcBef>
              <a:spcAft>
                <a:spcPts val="1000"/>
              </a:spcAft>
            </a:pPr>
            <a:r>
              <a:rPr sz="134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1000"/>
              </a:spcAft>
            </a:pPr>
            <a:r>
              <a:rPr sz="1340" b="1" i="0">
                <a:solidFill>
                  <a:srgbClr val="13161B"/>
                </a:solidFill>
                <a:latin typeface="Open Sans"/>
              </a:rPr>
              <a:t>•	Resultado principal: WAPE 16,10 %.</a:t>
            </a:r>
          </a:p>
        </p:txBody>
      </p:sp>
      <p:sp>
        <p:nvSpPr>
          <p:cNvPr id="36" name="Rounded Rectangle 35"/>
          <p:cNvSpPr/>
          <p:nvPr/>
        </p:nvSpPr>
        <p:spPr>
          <a:xfrm>
            <a:off x="6519672"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519672" y="4855464"/>
            <a:ext cx="5239512" cy="6858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903720" y="5184648"/>
            <a:ext cx="4471416"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a:t>
            </a:r>
          </a:p>
          <a:p>
            <a:pPr algn="l" marL="274320" indent="-274320">
              <a:lnSpc>
                <a:spcPct val="118000"/>
              </a:lnSpc>
              <a:spcBef>
                <a:spcPts val="0"/>
              </a:spcBef>
              <a:spcAft>
                <a:spcPts val="1000"/>
              </a:spcAft>
            </a:pPr>
            <a:r>
              <a:rPr sz="134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1000"/>
              </a:spcAft>
            </a:pPr>
            <a:r>
              <a:rPr sz="1340" b="0" i="0">
                <a:solidFill>
                  <a:srgbClr val="394049"/>
                </a:solidFill>
                <a:latin typeface="Open Sans"/>
              </a:rPr>
              <a:t>•	Variables: cuota rezagada en t−1 y t−12, medias móviles de 3 y 12 meses, meses desde la última venta y precio relativo del SKU.</a:t>
            </a:r>
          </a:p>
          <a:p>
            <a:pPr algn="l" marL="274320" indent="-274320">
              <a:lnSpc>
                <a:spcPct val="118000"/>
              </a:lnSpc>
              <a:spcBef>
                <a:spcPts val="0"/>
              </a:spcBef>
              <a:spcAft>
                <a:spcPts val="1000"/>
              </a:spcAft>
            </a:pPr>
            <a:r>
              <a:rPr sz="1340" b="1" i="0">
                <a:solidFill>
                  <a:srgbClr val="13161B"/>
                </a:solidFill>
                <a:latin typeface="Open Sans"/>
              </a:rPr>
              <a:t>•	Evaluada en la misma ventana: WAPE 24,35 %.</a:t>
            </a:r>
          </a:p>
        </p:txBody>
      </p:sp>
      <p:sp>
        <p:nvSpPr>
          <p:cNvPr id="39" name="Rounded Rectangle 38"/>
          <p:cNvSpPr/>
          <p:nvPr/>
        </p:nvSpPr>
        <p:spPr>
          <a:xfrm>
            <a:off x="12079224"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12079224" y="4855464"/>
            <a:ext cx="5239512"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12463272" y="5184648"/>
            <a:ext cx="4471416"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Regla de selección en validación</a:t>
            </a:r>
          </a:p>
          <a:p>
            <a:pPr algn="l" marL="274320" indent="-274320">
              <a:lnSpc>
                <a:spcPct val="118000"/>
              </a:lnSpc>
              <a:spcBef>
                <a:spcPts val="0"/>
              </a:spcBef>
              <a:spcAft>
                <a:spcPts val="1000"/>
              </a:spcAft>
            </a:pPr>
            <a:r>
              <a:rPr sz="1340" b="0" i="0">
                <a:solidFill>
                  <a:srgbClr val="394049"/>
                </a:solidFill>
                <a:latin typeface="Open Sans"/>
              </a:rPr>
              <a:t>•	El pipeline compara el WAPE de ambos esquemas sobre la ventana de validación.</a:t>
            </a:r>
          </a:p>
          <a:p>
            <a:pPr algn="l" marL="274320" indent="-274320">
              <a:lnSpc>
                <a:spcPct val="118000"/>
              </a:lnSpc>
              <a:spcBef>
                <a:spcPts val="0"/>
              </a:spcBef>
              <a:spcAft>
                <a:spcPts val="1000"/>
              </a:spcAft>
            </a:pPr>
            <a:r>
              <a:rPr sz="1340" b="0" i="0">
                <a:solidFill>
                  <a:srgbClr val="394049"/>
                </a:solidFill>
                <a:latin typeface="Open Sans"/>
              </a:rPr>
              <a:t>•	Adopta el de menor error para la prueba ciega, sin intervención manual.</a:t>
            </a:r>
          </a:p>
          <a:p>
            <a:pPr algn="l" marL="274320" indent="-274320">
              <a:lnSpc>
                <a:spcPct val="118000"/>
              </a:lnSpc>
              <a:spcBef>
                <a:spcPts val="0"/>
              </a:spcBef>
              <a:spcAft>
                <a:spcPts val="1000"/>
              </a:spcAft>
            </a:pPr>
            <a:r>
              <a:rPr sz="1340" b="0" i="0">
                <a:solidFill>
                  <a:srgbClr val="394049"/>
                </a:solidFill>
                <a:latin typeface="Open Sans"/>
              </a:rPr>
              <a:t>•	En esta ventana seleccionó el reparto estático; si el catálogo cambia, la misma regla puede adoptar las cuotas aprendidas.</a:t>
            </a:r>
          </a:p>
        </p:txBody>
      </p:sp>
      <p:sp>
        <p:nvSpPr>
          <p:cNvPr id="42" name="Rectangle 41"/>
          <p:cNvSpPr/>
          <p:nvPr/>
        </p:nvSpPr>
        <p:spPr>
          <a:xfrm>
            <a:off x="960120" y="8467344"/>
            <a:ext cx="566928" cy="685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960120" y="8705088"/>
            <a:ext cx="16367759" cy="621791"/>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En catálogos con alta intermitencia, la estabilidad de las proporciones históricas le ganó a la sofisticación de las cuotas aprendidas.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05</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Resultados y evidencia</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Diez arquitecturas, siete meses de prueba ciega y un estudio</a:t>
            </a:r>
          </a:p>
          <a:p>
            <a:pPr algn="l">
              <a:lnSpc>
                <a:spcPct val="125000"/>
              </a:lnSpc>
              <a:spcBef>
                <a:spcPts val="0"/>
              </a:spcBef>
              <a:spcAft>
                <a:spcPts val="0"/>
              </a:spcAft>
            </a:pPr>
            <a:r>
              <a:rPr sz="1700" b="0" i="0">
                <a:solidFill>
                  <a:srgbClr val="6E6E6E"/>
                </a:solidFill>
                <a:latin typeface="Open Sans"/>
              </a:rPr>
              <a:t>de ablación.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Métricas completas en el anexo A3; significancia estadística de la diferencia en el anexo A10.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23</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del vector de precios: tres configuraciones, un mismo ensamble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sp>
        <p:nvSpPr>
          <p:cNvPr id="10" name="Rounded Rectangle 9"/>
          <p:cNvSpPr/>
          <p:nvPr/>
        </p:nvSpPr>
        <p:spPr>
          <a:xfrm>
            <a:off x="960120" y="2249424"/>
            <a:ext cx="786384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754505" y="2478024"/>
            <a:ext cx="6275070" cy="4114800"/>
          </a:xfrm>
          <a:prstGeom prst="rect">
            <a:avLst/>
          </a:prstGeom>
        </p:spPr>
      </p:pic>
      <p:sp>
        <p:nvSpPr>
          <p:cNvPr id="12" name="TextBox 11"/>
          <p:cNvSpPr txBox="1"/>
          <p:nvPr/>
        </p:nvSpPr>
        <p:spPr>
          <a:xfrm>
            <a:off x="960120" y="695858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 al pronosticar.</a:t>
            </a:r>
          </a:p>
        </p:txBody>
      </p:sp>
      <p:sp>
        <p:nvSpPr>
          <p:cNvPr id="13" name="Rounded Rectangle 12"/>
          <p:cNvSpPr/>
          <p:nvPr/>
        </p:nvSpPr>
        <p:spPr>
          <a:xfrm>
            <a:off x="960120" y="7324344"/>
            <a:ext cx="786384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732434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7653527"/>
            <a:ext cx="702259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Cómo se corrió el experimento</a:t>
            </a:r>
          </a:p>
          <a:p>
            <a:pPr algn="l" marL="274320" indent="-274320">
              <a:lnSpc>
                <a:spcPct val="118000"/>
              </a:lnSpc>
              <a:spcBef>
                <a:spcPts val="0"/>
              </a:spcBef>
              <a:spcAft>
                <a:spcPts val="700"/>
              </a:spcAft>
            </a:pPr>
            <a:r>
              <a:rPr sz="1360" b="0" i="0">
                <a:solidFill>
                  <a:srgbClr val="394049"/>
                </a:solidFill>
                <a:latin typeface="Open Sans"/>
              </a:rPr>
              <a:t>•	Se reentrena el ensamble completo excluyendo o rezagando el vector de precios; el resto del protocolo se mantiene idéntico.</a:t>
            </a:r>
          </a:p>
          <a:p>
            <a:pPr algn="l" marL="274320" indent="-274320">
              <a:lnSpc>
                <a:spcPct val="118000"/>
              </a:lnSpc>
              <a:spcBef>
                <a:spcPts val="0"/>
              </a:spcBef>
              <a:spcAft>
                <a:spcPts val="0"/>
              </a:spcAft>
            </a:pPr>
            <a:r>
              <a:rPr sz="1360" b="0" i="0">
                <a:solidFill>
                  <a:srgbClr val="394049"/>
                </a:solidFill>
                <a:latin typeface="Open Sans"/>
              </a:rPr>
              <a:t>•	Ejecuciones separadas del pipeline: 8 semillas × 3 modelos GBDT × NNLS × ruteo.</a:t>
            </a:r>
          </a:p>
        </p:txBody>
      </p:sp>
      <p:sp>
        <p:nvSpPr>
          <p:cNvPr id="16" name="TextBox 15"/>
          <p:cNvSpPr txBox="1"/>
          <p:nvPr/>
        </p:nvSpPr>
        <p:spPr>
          <a:xfrm>
            <a:off x="9464040" y="2194560"/>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ESTUDIO DE ABLACIÓN · NIVEL SKU (TABLA 5.5)</a:t>
            </a:r>
          </a:p>
        </p:txBody>
      </p:sp>
      <p:sp>
        <p:nvSpPr>
          <p:cNvPr id="17" name="Rectangle 16"/>
          <p:cNvSpPr/>
          <p:nvPr/>
        </p:nvSpPr>
        <p:spPr>
          <a:xfrm>
            <a:off x="9464040" y="2633472"/>
            <a:ext cx="7863840" cy="50292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28632" y="2633472"/>
            <a:ext cx="2871216" cy="502920"/>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FFFFFF"/>
                </a:solidFill>
                <a:latin typeface="Open Sans"/>
              </a:rPr>
              <a:t>Configuración de precios</a:t>
            </a:r>
          </a:p>
        </p:txBody>
      </p:sp>
      <p:sp>
        <p:nvSpPr>
          <p:cNvPr id="19" name="TextBox 18"/>
          <p:cNvSpPr txBox="1"/>
          <p:nvPr/>
        </p:nvSpPr>
        <p:spPr>
          <a:xfrm>
            <a:off x="12829032" y="2633472"/>
            <a:ext cx="95097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WAPE</a:t>
            </a:r>
          </a:p>
        </p:txBody>
      </p:sp>
      <p:sp>
        <p:nvSpPr>
          <p:cNvPr id="20" name="TextBox 19"/>
          <p:cNvSpPr txBox="1"/>
          <p:nvPr/>
        </p:nvSpPr>
        <p:spPr>
          <a:xfrm>
            <a:off x="14109192" y="2633472"/>
            <a:ext cx="85953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MAPE</a:t>
            </a:r>
          </a:p>
        </p:txBody>
      </p:sp>
      <p:sp>
        <p:nvSpPr>
          <p:cNvPr id="21" name="TextBox 20"/>
          <p:cNvSpPr txBox="1"/>
          <p:nvPr/>
        </p:nvSpPr>
        <p:spPr>
          <a:xfrm>
            <a:off x="1529791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RMSE</a:t>
            </a:r>
          </a:p>
        </p:txBody>
      </p:sp>
      <p:sp>
        <p:nvSpPr>
          <p:cNvPr id="22" name="TextBox 21"/>
          <p:cNvSpPr txBox="1"/>
          <p:nvPr/>
        </p:nvSpPr>
        <p:spPr>
          <a:xfrm>
            <a:off x="1639519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R²</a:t>
            </a:r>
          </a:p>
        </p:txBody>
      </p:sp>
      <p:sp>
        <p:nvSpPr>
          <p:cNvPr id="23" name="Rectangle 22"/>
          <p:cNvSpPr/>
          <p:nvPr/>
        </p:nvSpPr>
        <p:spPr>
          <a:xfrm>
            <a:off x="9464040" y="3136391"/>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628632" y="3136391"/>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1 · Sin información de precios</a:t>
            </a:r>
          </a:p>
        </p:txBody>
      </p:sp>
      <p:sp>
        <p:nvSpPr>
          <p:cNvPr id="25" name="TextBox 24"/>
          <p:cNvSpPr txBox="1"/>
          <p:nvPr/>
        </p:nvSpPr>
        <p:spPr>
          <a:xfrm>
            <a:off x="12829032" y="3136391"/>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38,25 %</a:t>
            </a:r>
          </a:p>
        </p:txBody>
      </p:sp>
      <p:sp>
        <p:nvSpPr>
          <p:cNvPr id="26" name="TextBox 25"/>
          <p:cNvSpPr txBox="1"/>
          <p:nvPr/>
        </p:nvSpPr>
        <p:spPr>
          <a:xfrm>
            <a:off x="14109192" y="3136391"/>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44,10 %</a:t>
            </a:r>
          </a:p>
        </p:txBody>
      </p:sp>
      <p:sp>
        <p:nvSpPr>
          <p:cNvPr id="27" name="TextBox 26"/>
          <p:cNvSpPr txBox="1"/>
          <p:nvPr/>
        </p:nvSpPr>
        <p:spPr>
          <a:xfrm>
            <a:off x="1529791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58,3</a:t>
            </a:r>
          </a:p>
        </p:txBody>
      </p:sp>
      <p:sp>
        <p:nvSpPr>
          <p:cNvPr id="28" name="TextBox 27"/>
          <p:cNvSpPr txBox="1"/>
          <p:nvPr/>
        </p:nvSpPr>
        <p:spPr>
          <a:xfrm>
            <a:off x="1639519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0,69</a:t>
            </a:r>
          </a:p>
        </p:txBody>
      </p:sp>
      <p:sp>
        <p:nvSpPr>
          <p:cNvPr id="29" name="Rectangle 28"/>
          <p:cNvSpPr/>
          <p:nvPr/>
        </p:nvSpPr>
        <p:spPr>
          <a:xfrm>
            <a:off x="9464040" y="3794759"/>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28632" y="3794759"/>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2 · Con precio rezagado t−1</a:t>
            </a:r>
          </a:p>
        </p:txBody>
      </p:sp>
      <p:sp>
        <p:nvSpPr>
          <p:cNvPr id="31" name="TextBox 30"/>
          <p:cNvSpPr txBox="1"/>
          <p:nvPr/>
        </p:nvSpPr>
        <p:spPr>
          <a:xfrm>
            <a:off x="12829032" y="3794759"/>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26,42 %</a:t>
            </a:r>
          </a:p>
        </p:txBody>
      </p:sp>
      <p:sp>
        <p:nvSpPr>
          <p:cNvPr id="32" name="TextBox 31"/>
          <p:cNvSpPr txBox="1"/>
          <p:nvPr/>
        </p:nvSpPr>
        <p:spPr>
          <a:xfrm>
            <a:off x="14109192" y="3794759"/>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31,50 %</a:t>
            </a:r>
          </a:p>
        </p:txBody>
      </p:sp>
      <p:sp>
        <p:nvSpPr>
          <p:cNvPr id="33" name="TextBox 32"/>
          <p:cNvSpPr txBox="1"/>
          <p:nvPr/>
        </p:nvSpPr>
        <p:spPr>
          <a:xfrm>
            <a:off x="1529791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41,2</a:t>
            </a:r>
          </a:p>
        </p:txBody>
      </p:sp>
      <p:sp>
        <p:nvSpPr>
          <p:cNvPr id="34" name="TextBox 33"/>
          <p:cNvSpPr txBox="1"/>
          <p:nvPr/>
        </p:nvSpPr>
        <p:spPr>
          <a:xfrm>
            <a:off x="1639519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0,78</a:t>
            </a:r>
          </a:p>
        </p:txBody>
      </p:sp>
      <p:sp>
        <p:nvSpPr>
          <p:cNvPr id="35" name="Rectangle 34"/>
          <p:cNvSpPr/>
          <p:nvPr/>
        </p:nvSpPr>
        <p:spPr>
          <a:xfrm>
            <a:off x="9464040" y="4453127"/>
            <a:ext cx="7863840" cy="658368"/>
          </a:xfrm>
          <a:prstGeom prst="rect">
            <a:avLst/>
          </a:prstGeom>
          <a:solidFill>
            <a:srgbClr val="E8EEF3"/>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Rectangle 35"/>
          <p:cNvSpPr/>
          <p:nvPr/>
        </p:nvSpPr>
        <p:spPr>
          <a:xfrm>
            <a:off x="9464040" y="4453127"/>
            <a:ext cx="54864" cy="6583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9628632" y="4453127"/>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1" i="0">
                <a:solidFill>
                  <a:srgbClr val="003F62"/>
                </a:solidFill>
                <a:latin typeface="Open Sans"/>
              </a:rPr>
              <a:t>3 · Con plan comercial ex-ante t</a:t>
            </a:r>
          </a:p>
        </p:txBody>
      </p:sp>
      <p:sp>
        <p:nvSpPr>
          <p:cNvPr id="38" name="TextBox 37"/>
          <p:cNvSpPr txBox="1"/>
          <p:nvPr/>
        </p:nvSpPr>
        <p:spPr>
          <a:xfrm>
            <a:off x="12829032" y="4453127"/>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16,10 %</a:t>
            </a:r>
          </a:p>
        </p:txBody>
      </p:sp>
      <p:sp>
        <p:nvSpPr>
          <p:cNvPr id="39" name="TextBox 38"/>
          <p:cNvSpPr txBox="1"/>
          <p:nvPr/>
        </p:nvSpPr>
        <p:spPr>
          <a:xfrm>
            <a:off x="14109192" y="4453127"/>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20,47 %</a:t>
            </a:r>
          </a:p>
        </p:txBody>
      </p:sp>
      <p:sp>
        <p:nvSpPr>
          <p:cNvPr id="40" name="TextBox 39"/>
          <p:cNvSpPr txBox="1"/>
          <p:nvPr/>
        </p:nvSpPr>
        <p:spPr>
          <a:xfrm>
            <a:off x="1529791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26,7</a:t>
            </a:r>
          </a:p>
        </p:txBody>
      </p:sp>
      <p:sp>
        <p:nvSpPr>
          <p:cNvPr id="41" name="TextBox 40"/>
          <p:cNvSpPr txBox="1"/>
          <p:nvPr/>
        </p:nvSpPr>
        <p:spPr>
          <a:xfrm>
            <a:off x="1639519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0,95</a:t>
            </a:r>
          </a:p>
        </p:txBody>
      </p:sp>
      <p:sp>
        <p:nvSpPr>
          <p:cNvPr id="42" name="TextBox 41"/>
          <p:cNvSpPr txBox="1"/>
          <p:nvPr/>
        </p:nvSpPr>
        <p:spPr>
          <a:xfrm>
            <a:off x="9464040" y="517550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configuración 3 es el modelo propuesto; las otras dos son reentrenamientos controlados.</a:t>
            </a:r>
          </a:p>
        </p:txBody>
      </p:sp>
      <p:sp>
        <p:nvSpPr>
          <p:cNvPr id="43" name="Rounded Rectangle 42"/>
          <p:cNvSpPr/>
          <p:nvPr/>
        </p:nvSpPr>
        <p:spPr>
          <a:xfrm>
            <a:off x="9464040" y="5678424"/>
            <a:ext cx="7863840" cy="3474720"/>
          </a:xfrm>
          <a:prstGeom prst="roundRect">
            <a:avLst>
              <a:gd name="adj" fmla="val 157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4" name="Picture 43" descr="fig5_4.png"/>
          <p:cNvPicPr>
            <a:picLocks noChangeAspect="1"/>
          </p:cNvPicPr>
          <p:nvPr/>
        </p:nvPicPr>
        <p:blipFill>
          <a:blip r:embed="rId3"/>
          <a:stretch>
            <a:fillRect/>
          </a:stretch>
        </p:blipFill>
        <p:spPr>
          <a:xfrm>
            <a:off x="10379254" y="5861304"/>
            <a:ext cx="6033411" cy="3108960"/>
          </a:xfrm>
          <a:prstGeom prst="rect">
            <a:avLst/>
          </a:prstGeom>
        </p:spPr>
      </p:pic>
      <p:sp>
        <p:nvSpPr>
          <p:cNvPr id="45" name="TextBox 44"/>
          <p:cNvSpPr txBox="1"/>
          <p:nvPr/>
        </p:nvSpPr>
        <p:spPr>
          <a:xfrm>
            <a:off x="9464040" y="9034272"/>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 el precio ex-ante concentra el 67,0 %.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2880360"/>
            <a:ext cx="4389120" cy="3017520"/>
          </a:xfrm>
          <a:prstGeom prst="rect">
            <a:avLst/>
          </a:prstGeom>
          <a:noFill/>
        </p:spPr>
        <p:txBody>
          <a:bodyPr wrap="square" lIns="0" rIns="0" tIns="0" bIns="0" anchor="ctr">
            <a:spAutoFit/>
          </a:bodyPr>
          <a:lstStyle/>
          <a:p>
            <a:pPr algn="l">
              <a:lnSpc>
                <a:spcPct val="100000"/>
              </a:lnSpc>
              <a:spcBef>
                <a:spcPts val="0"/>
              </a:spcBef>
              <a:spcAft>
                <a:spcPts val="0"/>
              </a:spcAft>
            </a:pPr>
            <a:r>
              <a:rPr sz="14000" b="1" i="0">
                <a:solidFill>
                  <a:srgbClr val="E4EAEF"/>
                </a:solidFill>
                <a:latin typeface="Open Sans"/>
              </a:rPr>
              <a:t>06</a:t>
            </a:r>
          </a:p>
        </p:txBody>
      </p:sp>
      <p:sp>
        <p:nvSpPr>
          <p:cNvPr id="3" name="Rectangle 2"/>
          <p:cNvSpPr/>
          <p:nvPr/>
        </p:nvSpPr>
        <p:spPr>
          <a:xfrm>
            <a:off x="5806440" y="3931920"/>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6647688" y="3931920"/>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7488936" y="3931920"/>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5806440" y="4261104"/>
            <a:ext cx="11155680" cy="1005840"/>
          </a:xfrm>
          <a:prstGeom prst="rect">
            <a:avLst/>
          </a:prstGeom>
          <a:noFill/>
        </p:spPr>
        <p:txBody>
          <a:bodyPr wrap="square" lIns="0" rIns="0" tIns="0" bIns="0" anchor="t">
            <a:spAutoFit/>
          </a:bodyPr>
          <a:lstStyle/>
          <a:p>
            <a:pPr algn="l">
              <a:lnSpc>
                <a:spcPct val="105000"/>
              </a:lnSpc>
              <a:spcBef>
                <a:spcPts val="0"/>
              </a:spcBef>
              <a:spcAft>
                <a:spcPts val="0"/>
              </a:spcAft>
            </a:pPr>
            <a:r>
              <a:rPr sz="4200" b="1" i="0">
                <a:solidFill>
                  <a:srgbClr val="13161B"/>
                </a:solidFill>
                <a:latin typeface="Open Sans"/>
              </a:rPr>
              <a:t>Impacto y conclusiones</a:t>
            </a:r>
          </a:p>
        </p:txBody>
      </p:sp>
      <p:sp>
        <p:nvSpPr>
          <p:cNvPr id="7" name="TextBox 6"/>
          <p:cNvSpPr txBox="1"/>
          <p:nvPr/>
        </p:nvSpPr>
        <p:spPr>
          <a:xfrm>
            <a:off x="5806440" y="5413248"/>
            <a:ext cx="10424160" cy="822960"/>
          </a:xfrm>
          <a:prstGeom prst="rect">
            <a:avLst/>
          </a:prstGeom>
          <a:noFill/>
        </p:spPr>
        <p:txBody>
          <a:bodyPr wrap="square" lIns="0" rIns="0" tIns="0" bIns="0" anchor="t">
            <a:spAutoFit/>
          </a:bodyPr>
          <a:lstStyle/>
          <a:p>
            <a:pPr algn="l">
              <a:lnSpc>
                <a:spcPct val="125000"/>
              </a:lnSpc>
              <a:spcBef>
                <a:spcPts val="0"/>
              </a:spcBef>
              <a:spcAft>
                <a:spcPts val="0"/>
              </a:spcAft>
            </a:pPr>
            <a:r>
              <a:rPr sz="1700" b="0" i="0">
                <a:solidFill>
                  <a:srgbClr val="6E6E6E"/>
                </a:solidFill>
                <a:latin typeface="Open Sans"/>
              </a:rPr>
              <a:t>Qué significa el error de pronóstico en capital de trabajo.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ectangle 15"/>
          <p:cNvSpPr/>
          <p:nvPr/>
        </p:nvSpPr>
        <p:spPr>
          <a:xfrm>
            <a:off x="960120" y="7708391"/>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60120" y="7946135"/>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modelos de referencia, en simple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42316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70332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3" name="TextBox 12"/>
          <p:cNvSpPr txBox="1"/>
          <p:nvPr/>
        </p:nvSpPr>
        <p:spPr>
          <a:xfrm>
            <a:off x="8183879" y="2377440"/>
            <a:ext cx="37033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4" name="TextBox 13"/>
          <p:cNvSpPr txBox="1"/>
          <p:nvPr/>
        </p:nvSpPr>
        <p:spPr>
          <a:xfrm>
            <a:off x="12207240" y="2377440"/>
            <a:ext cx="361187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sp>
        <p:nvSpPr>
          <p:cNvPr id="15" name="TextBox 14"/>
          <p:cNvSpPr txBox="1"/>
          <p:nvPr/>
        </p:nvSpPr>
        <p:spPr>
          <a:xfrm>
            <a:off x="16139159" y="2377440"/>
            <a:ext cx="868680" cy="384048"/>
          </a:xfrm>
          <a:prstGeom prst="rect">
            <a:avLst/>
          </a:prstGeom>
          <a:noFill/>
        </p:spPr>
        <p:txBody>
          <a:bodyPr wrap="square" lIns="0" rIns="0" tIns="0" bIns="0" anchor="t">
            <a:spAutoFit/>
          </a:bodyPr>
          <a:lstStyle/>
          <a:p>
            <a:pPr algn="r">
              <a:lnSpc>
                <a:spcPct val="116000"/>
              </a:lnSpc>
              <a:spcBef>
                <a:spcPts val="0"/>
              </a:spcBef>
              <a:spcAft>
                <a:spcPts val="0"/>
              </a:spcAft>
            </a:pPr>
            <a:r>
              <a:rPr sz="1130" b="1" i="0" spc="150">
                <a:solidFill>
                  <a:srgbClr val="6E6E6E"/>
                </a:solidFill>
                <a:latin typeface="Open Sans"/>
              </a:rPr>
              <a:t>WAPE</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Seasonal Naïve</a:t>
            </a:r>
          </a:p>
        </p:txBody>
      </p:sp>
      <p:sp>
        <p:nvSpPr>
          <p:cNvPr id="18" name="TextBox 17"/>
          <p:cNvSpPr txBox="1"/>
          <p:nvPr/>
        </p:nvSpPr>
        <p:spPr>
          <a:xfrm>
            <a:off x="3703320" y="285292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Repite lo que se vendió el mismo mes del año anterior.</a:t>
            </a:r>
          </a:p>
        </p:txBody>
      </p:sp>
      <p:sp>
        <p:nvSpPr>
          <p:cNvPr id="19" name="TextBox 18"/>
          <p:cNvSpPr txBox="1"/>
          <p:nvPr/>
        </p:nvSpPr>
        <p:spPr>
          <a:xfrm>
            <a:off x="8183879" y="285292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Referencia honesta y sin costo: captura la estacionalidad pura.</a:t>
            </a:r>
          </a:p>
        </p:txBody>
      </p:sp>
      <p:sp>
        <p:nvSpPr>
          <p:cNvPr id="20" name="TextBox 19"/>
          <p:cNvSpPr txBox="1"/>
          <p:nvPr/>
        </p:nvSpPr>
        <p:spPr>
          <a:xfrm>
            <a:off x="12207240" y="285292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Ciega a precios, campañas y cambios de tendencia.</a:t>
            </a:r>
          </a:p>
        </p:txBody>
      </p:sp>
      <p:sp>
        <p:nvSpPr>
          <p:cNvPr id="21" name="TextBox 20"/>
          <p:cNvSpPr txBox="1"/>
          <p:nvPr/>
        </p:nvSpPr>
        <p:spPr>
          <a:xfrm>
            <a:off x="16139159" y="285292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69,89 %</a:t>
            </a:r>
          </a:p>
        </p:txBody>
      </p:sp>
      <p:cxnSp>
        <p:nvCxnSpPr>
          <p:cNvPr id="22" name="Connector 21"/>
          <p:cNvCxnSpPr/>
          <p:nvPr/>
        </p:nvCxnSpPr>
        <p:spPr>
          <a:xfrm>
            <a:off x="960120" y="360273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0273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a:t>
            </a:r>
          </a:p>
        </p:txBody>
      </p:sp>
      <p:sp>
        <p:nvSpPr>
          <p:cNvPr id="24" name="TextBox 23"/>
          <p:cNvSpPr txBox="1"/>
          <p:nvPr/>
        </p:nvSpPr>
        <p:spPr>
          <a:xfrm>
            <a:off x="3703320" y="360273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Proyecta la serie usando su propia historia y su ciclo anual.</a:t>
            </a:r>
          </a:p>
        </p:txBody>
      </p:sp>
      <p:sp>
        <p:nvSpPr>
          <p:cNvPr id="25" name="TextBox 24"/>
          <p:cNvSpPr txBox="1"/>
          <p:nvPr/>
        </p:nvSpPr>
        <p:spPr>
          <a:xfrm>
            <a:off x="8183879" y="360273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Estándar de la literatura: interpretable y reproducible.</a:t>
            </a:r>
          </a:p>
        </p:txBody>
      </p:sp>
      <p:sp>
        <p:nvSpPr>
          <p:cNvPr id="26" name="TextBox 25"/>
          <p:cNvSpPr txBox="1"/>
          <p:nvPr/>
        </p:nvSpPr>
        <p:spPr>
          <a:xfrm>
            <a:off x="12207240" y="360273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lineal y no admite información externa; los ceros la desestabilizan.</a:t>
            </a:r>
          </a:p>
        </p:txBody>
      </p:sp>
      <p:sp>
        <p:nvSpPr>
          <p:cNvPr id="27" name="TextBox 26"/>
          <p:cNvSpPr txBox="1"/>
          <p:nvPr/>
        </p:nvSpPr>
        <p:spPr>
          <a:xfrm>
            <a:off x="16139159" y="360273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76,74 %</a:t>
            </a:r>
          </a:p>
        </p:txBody>
      </p:sp>
      <p:cxnSp>
        <p:nvCxnSpPr>
          <p:cNvPr id="28" name="Connector 27"/>
          <p:cNvCxnSpPr/>
          <p:nvPr/>
        </p:nvCxnSpPr>
        <p:spPr>
          <a:xfrm>
            <a:off x="960120" y="435254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352544"/>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SARIMAX</a:t>
            </a:r>
          </a:p>
        </p:txBody>
      </p:sp>
      <p:sp>
        <p:nvSpPr>
          <p:cNvPr id="30" name="TextBox 29"/>
          <p:cNvSpPr txBox="1"/>
          <p:nvPr/>
        </p:nvSpPr>
        <p:spPr>
          <a:xfrm>
            <a:off x="3703320" y="4352544"/>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SARIMA más variables externas: precio y descuento.</a:t>
            </a:r>
          </a:p>
        </p:txBody>
      </p:sp>
      <p:sp>
        <p:nvSpPr>
          <p:cNvPr id="31" name="TextBox 30"/>
          <p:cNvSpPr txBox="1"/>
          <p:nvPr/>
        </p:nvSpPr>
        <p:spPr>
          <a:xfrm>
            <a:off x="8183879" y="4352544"/>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Incorpora la palanca comercial dentro de un marco econométrico.</a:t>
            </a:r>
          </a:p>
        </p:txBody>
      </p:sp>
      <p:sp>
        <p:nvSpPr>
          <p:cNvPr id="32" name="TextBox 31"/>
          <p:cNvSpPr txBox="1"/>
          <p:nvPr/>
        </p:nvSpPr>
        <p:spPr>
          <a:xfrm>
            <a:off x="12207240" y="4352544"/>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La relación precio-demanda no es lineal: la estructura se le queda corta.</a:t>
            </a:r>
          </a:p>
        </p:txBody>
      </p:sp>
      <p:sp>
        <p:nvSpPr>
          <p:cNvPr id="33" name="TextBox 32"/>
          <p:cNvSpPr txBox="1"/>
          <p:nvPr/>
        </p:nvSpPr>
        <p:spPr>
          <a:xfrm>
            <a:off x="16139159" y="4352544"/>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73,24 %</a:t>
            </a:r>
          </a:p>
        </p:txBody>
      </p:sp>
      <p:cxnSp>
        <p:nvCxnSpPr>
          <p:cNvPr id="34" name="Connector 33"/>
          <p:cNvCxnSpPr/>
          <p:nvPr/>
        </p:nvCxnSpPr>
        <p:spPr>
          <a:xfrm>
            <a:off x="960120" y="510235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102352"/>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Croston</a:t>
            </a:r>
          </a:p>
        </p:txBody>
      </p:sp>
      <p:sp>
        <p:nvSpPr>
          <p:cNvPr id="36" name="TextBox 35"/>
          <p:cNvSpPr txBox="1"/>
          <p:nvPr/>
        </p:nvSpPr>
        <p:spPr>
          <a:xfrm>
            <a:off x="3703320" y="5102352"/>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Separa dos preguntas: cada cuánto se vende y cuánto se vende.</a:t>
            </a:r>
          </a:p>
        </p:txBody>
      </p:sp>
      <p:sp>
        <p:nvSpPr>
          <p:cNvPr id="37" name="TextBox 36"/>
          <p:cNvSpPr txBox="1"/>
          <p:nvPr/>
        </p:nvSpPr>
        <p:spPr>
          <a:xfrm>
            <a:off x="8183879" y="5102352"/>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Diseñado específicamente para demanda con muchos ceros.</a:t>
            </a:r>
          </a:p>
        </p:txBody>
      </p:sp>
      <p:sp>
        <p:nvSpPr>
          <p:cNvPr id="38" name="TextBox 37"/>
          <p:cNvSpPr txBox="1"/>
          <p:nvPr/>
        </p:nvSpPr>
        <p:spPr>
          <a:xfrm>
            <a:off x="12207240" y="5102352"/>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modela estacionalidad ni precio, que es justo lo que manda en moda.</a:t>
            </a:r>
          </a:p>
        </p:txBody>
      </p:sp>
      <p:sp>
        <p:nvSpPr>
          <p:cNvPr id="39" name="TextBox 38"/>
          <p:cNvSpPr txBox="1"/>
          <p:nvPr/>
        </p:nvSpPr>
        <p:spPr>
          <a:xfrm>
            <a:off x="16139159" y="5102352"/>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84,87 %</a:t>
            </a:r>
          </a:p>
        </p:txBody>
      </p:sp>
      <p:cxnSp>
        <p:nvCxnSpPr>
          <p:cNvPr id="40" name="Connector 39"/>
          <p:cNvCxnSpPr/>
          <p:nvPr/>
        </p:nvCxnSpPr>
        <p:spPr>
          <a:xfrm>
            <a:off x="960120" y="585216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5852160"/>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SBA</a:t>
            </a:r>
          </a:p>
        </p:txBody>
      </p:sp>
      <p:sp>
        <p:nvSpPr>
          <p:cNvPr id="42" name="TextBox 41"/>
          <p:cNvSpPr txBox="1"/>
          <p:nvPr/>
        </p:nvSpPr>
        <p:spPr>
          <a:xfrm>
            <a:off x="3703320" y="5852160"/>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Croston con una corrección de sesgo (Syntetos-Boylan).</a:t>
            </a:r>
          </a:p>
        </p:txBody>
      </p:sp>
      <p:sp>
        <p:nvSpPr>
          <p:cNvPr id="43" name="TextBox 42"/>
          <p:cNvSpPr txBox="1"/>
          <p:nvPr/>
        </p:nvSpPr>
        <p:spPr>
          <a:xfrm>
            <a:off x="8183879" y="5852160"/>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Corrige la sobreestimación sistemática del Croston clásico.</a:t>
            </a:r>
          </a:p>
        </p:txBody>
      </p:sp>
      <p:sp>
        <p:nvSpPr>
          <p:cNvPr id="44" name="TextBox 43"/>
          <p:cNvSpPr txBox="1"/>
          <p:nvPr/>
        </p:nvSpPr>
        <p:spPr>
          <a:xfrm>
            <a:off x="12207240" y="5852160"/>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Hereda la misma ceguera estacional y comercial.</a:t>
            </a:r>
          </a:p>
        </p:txBody>
      </p:sp>
      <p:sp>
        <p:nvSpPr>
          <p:cNvPr id="45" name="TextBox 44"/>
          <p:cNvSpPr txBox="1"/>
          <p:nvPr/>
        </p:nvSpPr>
        <p:spPr>
          <a:xfrm>
            <a:off x="16139159" y="5852160"/>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83,42 %</a:t>
            </a:r>
          </a:p>
        </p:txBody>
      </p:sp>
      <p:cxnSp>
        <p:nvCxnSpPr>
          <p:cNvPr id="46" name="Connector 45"/>
          <p:cNvCxnSpPr/>
          <p:nvPr/>
        </p:nvCxnSpPr>
        <p:spPr>
          <a:xfrm>
            <a:off x="960120" y="66019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60196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LSTM</a:t>
            </a:r>
          </a:p>
        </p:txBody>
      </p:sp>
      <p:sp>
        <p:nvSpPr>
          <p:cNvPr id="48" name="TextBox 47"/>
          <p:cNvSpPr txBox="1"/>
          <p:nvPr/>
        </p:nvSpPr>
        <p:spPr>
          <a:xfrm>
            <a:off x="3703320" y="660196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Red neuronal con memoria que aprende patrones de secuencias.</a:t>
            </a:r>
          </a:p>
        </p:txBody>
      </p:sp>
      <p:sp>
        <p:nvSpPr>
          <p:cNvPr id="49" name="TextBox 48"/>
          <p:cNvSpPr txBox="1"/>
          <p:nvPr/>
        </p:nvSpPr>
        <p:spPr>
          <a:xfrm>
            <a:off x="8183879" y="660196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relaciones no lineales y dependencias temporales largas.</a:t>
            </a:r>
          </a:p>
        </p:txBody>
      </p:sp>
      <p:sp>
        <p:nvSpPr>
          <p:cNvPr id="50" name="TextBox 49"/>
          <p:cNvSpPr txBox="1"/>
          <p:nvPr/>
        </p:nvSpPr>
        <p:spPr>
          <a:xfrm>
            <a:off x="12207240" y="660196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Exige mucha historia; con series cortas e intermitentes se vuelve inestable.</a:t>
            </a:r>
          </a:p>
        </p:txBody>
      </p:sp>
      <p:sp>
        <p:nvSpPr>
          <p:cNvPr id="51" name="TextBox 50"/>
          <p:cNvSpPr txBox="1"/>
          <p:nvPr/>
        </p:nvSpPr>
        <p:spPr>
          <a:xfrm>
            <a:off x="16139159" y="660196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45,75 %</a:t>
            </a:r>
          </a:p>
        </p:txBody>
      </p:sp>
      <p:cxnSp>
        <p:nvCxnSpPr>
          <p:cNvPr id="52" name="Connector 51"/>
          <p:cNvCxnSpPr/>
          <p:nvPr/>
        </p:nvCxnSpPr>
        <p:spPr>
          <a:xfrm>
            <a:off x="960120" y="73517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0120" y="735177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Chronos-Bolt</a:t>
            </a:r>
          </a:p>
        </p:txBody>
      </p:sp>
      <p:sp>
        <p:nvSpPr>
          <p:cNvPr id="54" name="TextBox 53"/>
          <p:cNvSpPr txBox="1"/>
          <p:nvPr/>
        </p:nvSpPr>
        <p:spPr>
          <a:xfrm>
            <a:off x="3703320" y="735177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pre-entrenado sobre miles de millones de series.</a:t>
            </a:r>
          </a:p>
        </p:txBody>
      </p:sp>
      <p:sp>
        <p:nvSpPr>
          <p:cNvPr id="55" name="TextBox 54"/>
          <p:cNvSpPr txBox="1"/>
          <p:nvPr/>
        </p:nvSpPr>
        <p:spPr>
          <a:xfrm>
            <a:off x="8183879" y="735177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Predice sin entrenamiento previo; muy sólido en agregado (36,35 % en familia).</a:t>
            </a:r>
          </a:p>
        </p:txBody>
      </p:sp>
      <p:sp>
        <p:nvSpPr>
          <p:cNvPr id="56" name="TextBox 55"/>
          <p:cNvSpPr txBox="1"/>
          <p:nvPr/>
        </p:nvSpPr>
        <p:spPr>
          <a:xfrm>
            <a:off x="12207240" y="735177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admite las variables comerciales propias de la empresa.</a:t>
            </a:r>
          </a:p>
        </p:txBody>
      </p:sp>
      <p:sp>
        <p:nvSpPr>
          <p:cNvPr id="57" name="TextBox 56"/>
          <p:cNvSpPr txBox="1"/>
          <p:nvPr/>
        </p:nvSpPr>
        <p:spPr>
          <a:xfrm>
            <a:off x="16139159" y="735177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48,44 %</a:t>
            </a:r>
          </a:p>
        </p:txBody>
      </p:sp>
      <p:cxnSp>
        <p:nvCxnSpPr>
          <p:cNvPr id="58" name="Connector 57"/>
          <p:cNvCxnSpPr/>
          <p:nvPr/>
        </p:nvCxnSpPr>
        <p:spPr>
          <a:xfrm>
            <a:off x="960120" y="810158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960120" y="8485632"/>
            <a:ext cx="16367759" cy="685800"/>
          </a:xfrm>
          <a:prstGeom prst="roundRect">
            <a:avLst>
              <a:gd name="adj" fmla="val 7333"/>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1417320" y="8485632"/>
            <a:ext cx="15453359" cy="685800"/>
          </a:xfrm>
          <a:prstGeom prst="rect">
            <a:avLst/>
          </a:prstGeom>
          <a:noFill/>
        </p:spPr>
        <p:txBody>
          <a:bodyPr wrap="square" lIns="0" rIns="0" tIns="0" bIns="0" anchor="ctr">
            <a:spAutoFit/>
          </a:bodyPr>
          <a:lstStyle/>
          <a:p>
            <a:pPr algn="ctr">
              <a:lnSpc>
                <a:spcPct val="118000"/>
              </a:lnSpc>
              <a:spcBef>
                <a:spcPts val="0"/>
              </a:spcBef>
              <a:spcAft>
                <a:spcPts val="0"/>
              </a:spcAft>
            </a:pPr>
            <a:r>
              <a:rPr sz="1400" b="0" i="0">
                <a:solidFill>
                  <a:srgbClr val="394049"/>
                </a:solidFill>
                <a:latin typeface="Open Sans"/>
              </a:rPr>
              <a:t>Ninguna referencia clásica combina las tres cosas que exige la moda: ceros, estacionalidad fuerte y sensibilidad al plan comercial.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componentes de la arquitectura propuesta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31</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Componente</a:t>
            </a:r>
          </a:p>
        </p:txBody>
      </p:sp>
      <p:sp>
        <p:nvSpPr>
          <p:cNvPr id="12" name="TextBox 11"/>
          <p:cNvSpPr txBox="1"/>
          <p:nvPr/>
        </p:nvSpPr>
        <p:spPr>
          <a:xfrm>
            <a:off x="3429000" y="2377440"/>
            <a:ext cx="141731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Dónde actúa</a:t>
            </a:r>
          </a:p>
        </p:txBody>
      </p:sp>
      <p:sp>
        <p:nvSpPr>
          <p:cNvPr id="13" name="TextBox 12"/>
          <p:cNvSpPr txBox="1"/>
          <p:nvPr/>
        </p:nvSpPr>
        <p:spPr>
          <a:xfrm>
            <a:off x="516636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4" name="TextBox 13"/>
          <p:cNvSpPr txBox="1"/>
          <p:nvPr/>
        </p:nvSpPr>
        <p:spPr>
          <a:xfrm>
            <a:off x="964692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5" name="TextBox 14"/>
          <p:cNvSpPr txBox="1"/>
          <p:nvPr/>
        </p:nvSpPr>
        <p:spPr>
          <a:xfrm>
            <a:off x="1348740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Holt amortiguado</a:t>
            </a:r>
          </a:p>
        </p:txBody>
      </p:sp>
      <p:sp>
        <p:nvSpPr>
          <p:cNvPr id="18" name="TextBox 17"/>
          <p:cNvSpPr txBox="1"/>
          <p:nvPr/>
        </p:nvSpPr>
        <p:spPr>
          <a:xfrm>
            <a:off x="3429000" y="285292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 2</a:t>
            </a:r>
          </a:p>
        </p:txBody>
      </p:sp>
      <p:sp>
        <p:nvSpPr>
          <p:cNvPr id="19" name="TextBox 18"/>
          <p:cNvSpPr txBox="1"/>
          <p:nvPr/>
        </p:nvSpPr>
        <p:spPr>
          <a:xfrm>
            <a:off x="5166360" y="285292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Suaviza la serie y estima su nivel y tendencia, frenando la extrapolación.</a:t>
            </a:r>
          </a:p>
        </p:txBody>
      </p:sp>
      <p:sp>
        <p:nvSpPr>
          <p:cNvPr id="20" name="TextBox 19"/>
          <p:cNvSpPr txBox="1"/>
          <p:nvPr/>
        </p:nvSpPr>
        <p:spPr>
          <a:xfrm>
            <a:off x="964692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Muy estable y con pocos parámetros: entrega una base limpia.</a:t>
            </a:r>
          </a:p>
        </p:txBody>
      </p:sp>
      <p:sp>
        <p:nvSpPr>
          <p:cNvPr id="21" name="TextBox 20"/>
          <p:cNvSpPr txBox="1"/>
          <p:nvPr/>
        </p:nvSpPr>
        <p:spPr>
          <a:xfrm>
            <a:off x="1348740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Por sí solo ignora precios y cualquier relación no lineal.</a:t>
            </a:r>
          </a:p>
        </p:txBody>
      </p:sp>
      <p:cxnSp>
        <p:nvCxnSpPr>
          <p:cNvPr id="22" name="Connector 21"/>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XGBoost</a:t>
            </a:r>
          </a:p>
        </p:txBody>
      </p:sp>
      <p:sp>
        <p:nvSpPr>
          <p:cNvPr id="24" name="TextBox 23"/>
          <p:cNvSpPr txBox="1"/>
          <p:nvPr/>
        </p:nvSpPr>
        <p:spPr>
          <a:xfrm>
            <a:off x="3429000" y="3694176"/>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25" name="TextBox 24"/>
          <p:cNvSpPr txBox="1"/>
          <p:nvPr/>
        </p:nvSpPr>
        <p:spPr>
          <a:xfrm>
            <a:off x="5166360" y="3694176"/>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Árboles que corrigen, uno tras otro, el error del anterior.</a:t>
            </a:r>
          </a:p>
        </p:txBody>
      </p:sp>
      <p:sp>
        <p:nvSpPr>
          <p:cNvPr id="26" name="TextBox 25"/>
          <p:cNvSpPr txBox="1"/>
          <p:nvPr/>
        </p:nvSpPr>
        <p:spPr>
          <a:xfrm>
            <a:off x="964692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interacciones como precio por temporada; muy preciso en datos tabulares.</a:t>
            </a:r>
          </a:p>
        </p:txBody>
      </p:sp>
      <p:sp>
        <p:nvSpPr>
          <p:cNvPr id="27" name="TextBox 26"/>
          <p:cNvSpPr txBox="1"/>
          <p:nvPr/>
        </p:nvSpPr>
        <p:spPr>
          <a:xfrm>
            <a:off x="1348740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extrapola tendencias fuera del rango que vio en entrenamiento.</a:t>
            </a:r>
          </a:p>
        </p:txBody>
      </p:sp>
      <p:cxnSp>
        <p:nvCxnSpPr>
          <p:cNvPr id="28" name="Connector 27"/>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LightGBM</a:t>
            </a:r>
          </a:p>
        </p:txBody>
      </p:sp>
      <p:sp>
        <p:nvSpPr>
          <p:cNvPr id="30" name="TextBox 29"/>
          <p:cNvSpPr txBox="1"/>
          <p:nvPr/>
        </p:nvSpPr>
        <p:spPr>
          <a:xfrm>
            <a:off x="3429000" y="4535424"/>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1" name="TextBox 30"/>
          <p:cNvSpPr txBox="1"/>
          <p:nvPr/>
        </p:nvSpPr>
        <p:spPr>
          <a:xfrm>
            <a:off x="5166360" y="4535424"/>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Mismo principio que XGBoost, pero por histogramas: mucho más rápido.</a:t>
            </a:r>
          </a:p>
        </p:txBody>
      </p:sp>
      <p:sp>
        <p:nvSpPr>
          <p:cNvPr id="32" name="TextBox 31"/>
          <p:cNvSpPr txBox="1"/>
          <p:nvPr/>
        </p:nvSpPr>
        <p:spPr>
          <a:xfrm>
            <a:off x="964692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Escala bien y maneja con soltura las variables categóricas.</a:t>
            </a:r>
          </a:p>
        </p:txBody>
      </p:sp>
      <p:sp>
        <p:nvSpPr>
          <p:cNvPr id="33" name="TextBox 32"/>
          <p:cNvSpPr txBox="1"/>
          <p:nvPr/>
        </p:nvSpPr>
        <p:spPr>
          <a:xfrm>
            <a:off x="1348740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Puede sobreajustar en series cortas si no se regula.</a:t>
            </a:r>
          </a:p>
        </p:txBody>
      </p:sp>
      <p:cxnSp>
        <p:nvCxnSpPr>
          <p:cNvPr id="34" name="Connector 33"/>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CatBoost</a:t>
            </a:r>
          </a:p>
        </p:txBody>
      </p:sp>
      <p:sp>
        <p:nvSpPr>
          <p:cNvPr id="36" name="TextBox 35"/>
          <p:cNvSpPr txBox="1"/>
          <p:nvPr/>
        </p:nvSpPr>
        <p:spPr>
          <a:xfrm>
            <a:off x="3429000" y="5376672"/>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7" name="TextBox 36"/>
          <p:cNvSpPr txBox="1"/>
          <p:nvPr/>
        </p:nvSpPr>
        <p:spPr>
          <a:xfrm>
            <a:off x="5166360" y="5376672"/>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Boosting ordenado, pensado para variables categóricas.</a:t>
            </a:r>
          </a:p>
        </p:txBody>
      </p:sp>
      <p:sp>
        <p:nvSpPr>
          <p:cNvPr id="38" name="TextBox 37"/>
          <p:cNvSpPr txBox="1"/>
          <p:nvPr/>
        </p:nvSpPr>
        <p:spPr>
          <a:xfrm>
            <a:off x="964692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Robusto con familias y canales; menos propenso al sobreajuste.</a:t>
            </a:r>
          </a:p>
        </p:txBody>
      </p:sp>
      <p:sp>
        <p:nvSpPr>
          <p:cNvPr id="39" name="TextBox 38"/>
          <p:cNvSpPr txBox="1"/>
          <p:nvPr/>
        </p:nvSpPr>
        <p:spPr>
          <a:xfrm>
            <a:off x="1348740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el más lento de entrenar de los tres.</a:t>
            </a:r>
          </a:p>
        </p:txBody>
      </p:sp>
      <p:cxnSp>
        <p:nvCxnSpPr>
          <p:cNvPr id="40" name="Connector 39"/>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TabPFN</a:t>
            </a:r>
          </a:p>
        </p:txBody>
      </p:sp>
      <p:sp>
        <p:nvSpPr>
          <p:cNvPr id="42" name="TextBox 41"/>
          <p:cNvSpPr txBox="1"/>
          <p:nvPr/>
        </p:nvSpPr>
        <p:spPr>
          <a:xfrm>
            <a:off x="3429000" y="6217920"/>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En paralelo</a:t>
            </a:r>
          </a:p>
        </p:txBody>
      </p:sp>
      <p:sp>
        <p:nvSpPr>
          <p:cNvPr id="43" name="TextBox 42"/>
          <p:cNvSpPr txBox="1"/>
          <p:nvPr/>
        </p:nvSpPr>
        <p:spPr>
          <a:xfrm>
            <a:off x="5166360" y="6217920"/>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para tablas: infiere sin entrenar.</a:t>
            </a:r>
          </a:p>
        </p:txBody>
      </p:sp>
      <p:sp>
        <p:nvSpPr>
          <p:cNvPr id="44" name="TextBox 43"/>
          <p:cNvSpPr txBox="1"/>
          <p:nvPr/>
        </p:nvSpPr>
        <p:spPr>
          <a:xfrm>
            <a:off x="964692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Buen desempeño inmediato y aporta diversidad al ensamble.</a:t>
            </a:r>
          </a:p>
        </p:txBody>
      </p:sp>
      <p:sp>
        <p:nvSpPr>
          <p:cNvPr id="45" name="TextBox 44"/>
          <p:cNvSpPr txBox="1"/>
          <p:nvPr/>
        </p:nvSpPr>
        <p:spPr>
          <a:xfrm>
            <a:off x="1348740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Pensado para conjuntos pequeños; no es un modelo de series nativo.</a:t>
            </a:r>
          </a:p>
        </p:txBody>
      </p:sp>
      <p:cxnSp>
        <p:nvCxnSpPr>
          <p:cNvPr id="46" name="Connector 45"/>
          <p:cNvCxnSpPr/>
          <p:nvPr/>
        </p:nvCxnSpPr>
        <p:spPr>
          <a:xfrm>
            <a:off x="960120" y="70591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705916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NNLS y ruteo</a:t>
            </a:r>
          </a:p>
        </p:txBody>
      </p:sp>
      <p:sp>
        <p:nvSpPr>
          <p:cNvPr id="48" name="TextBox 47"/>
          <p:cNvSpPr txBox="1"/>
          <p:nvPr/>
        </p:nvSpPr>
        <p:spPr>
          <a:xfrm>
            <a:off x="3429000" y="705916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Validación</a:t>
            </a:r>
          </a:p>
        </p:txBody>
      </p:sp>
      <p:sp>
        <p:nvSpPr>
          <p:cNvPr id="49" name="TextBox 48"/>
          <p:cNvSpPr txBox="1"/>
          <p:nvPr/>
        </p:nvSpPr>
        <p:spPr>
          <a:xfrm>
            <a:off x="5166360" y="705916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Decide cuánto pesa cada predicción y en qué régimen aplicarla.</a:t>
            </a:r>
          </a:p>
        </p:txBody>
      </p:sp>
      <p:sp>
        <p:nvSpPr>
          <p:cNvPr id="50" name="TextBox 49"/>
          <p:cNvSpPr txBox="1"/>
          <p:nvPr/>
        </p:nvSpPr>
        <p:spPr>
          <a:xfrm>
            <a:off x="964692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Adapta el ensamble al momento comercial de cada familia.</a:t>
            </a:r>
          </a:p>
        </p:txBody>
      </p:sp>
      <p:sp>
        <p:nvSpPr>
          <p:cNvPr id="51" name="TextBox 50"/>
          <p:cNvSpPr txBox="1"/>
          <p:nvPr/>
        </p:nvSpPr>
        <p:spPr>
          <a:xfrm>
            <a:off x="1348740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Los pesos deben recalibrarse cuando cambia la estructura del mercado.</a:t>
            </a:r>
          </a:p>
        </p:txBody>
      </p:sp>
      <p:cxnSp>
        <p:nvCxnSpPr>
          <p:cNvPr id="52" name="Connector 51"/>
          <p:cNvCxnSpPr/>
          <p:nvPr/>
        </p:nvCxnSpPr>
        <p:spPr>
          <a:xfrm>
            <a:off x="960120" y="7900416"/>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60120" y="8284464"/>
            <a:ext cx="16367759" cy="777240"/>
          </a:xfrm>
          <a:prstGeom prst="roundRect">
            <a:avLst>
              <a:gd name="adj" fmla="val 647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1417320" y="828446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1" i="0">
                <a:solidFill>
                  <a:srgbClr val="FFFFFF"/>
                </a:solidFill>
                <a:latin typeface="Open Sans"/>
              </a:rPr>
              <a:t>La arquitectura no elige un ganador: pone a cada método a hacer aquello en lo que es bueno y deja que la validación decida el peso.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32</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40864"/>
            <a:ext cx="5577840" cy="329184"/>
          </a:xfrm>
          <a:prstGeom prst="rect">
            <a:avLst/>
          </a:prstGeom>
          <a:noFill/>
        </p:spPr>
        <p:txBody>
          <a:bodyPr wrap="square" lIns="0" rIns="0" tIns="0" bIns="0" anchor="t">
            <a:spAutoFit/>
          </a:bodyPr>
          <a:lstStyle/>
          <a:p>
            <a:pPr algn="l">
              <a:lnSpc>
                <a:spcPct val="116000"/>
              </a:lnSpc>
              <a:spcBef>
                <a:spcPts val="0"/>
              </a:spcBef>
              <a:spcAft>
                <a:spcPts val="0"/>
              </a:spcAft>
            </a:pPr>
            <a:r>
              <a:rPr sz="1100" b="1" i="0" spc="120">
                <a:solidFill>
                  <a:srgbClr val="6E6E6E"/>
                </a:solidFill>
                <a:latin typeface="Open Sans"/>
              </a:rPr>
              <a:t>Modelo / arquitectura</a:t>
            </a:r>
          </a:p>
        </p:txBody>
      </p:sp>
      <p:sp>
        <p:nvSpPr>
          <p:cNvPr id="12" name="TextBox 11"/>
          <p:cNvSpPr txBox="1"/>
          <p:nvPr/>
        </p:nvSpPr>
        <p:spPr>
          <a:xfrm>
            <a:off x="681228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WAPE</a:t>
            </a:r>
          </a:p>
        </p:txBody>
      </p:sp>
      <p:sp>
        <p:nvSpPr>
          <p:cNvPr id="13" name="TextBox 12"/>
          <p:cNvSpPr txBox="1"/>
          <p:nvPr/>
        </p:nvSpPr>
        <p:spPr>
          <a:xfrm>
            <a:off x="8366760" y="2340864"/>
            <a:ext cx="14630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sMAPE</a:t>
            </a:r>
          </a:p>
        </p:txBody>
      </p:sp>
      <p:sp>
        <p:nvSpPr>
          <p:cNvPr id="14" name="TextBox 13"/>
          <p:cNvSpPr txBox="1"/>
          <p:nvPr/>
        </p:nvSpPr>
        <p:spPr>
          <a:xfrm>
            <a:off x="10104120" y="2340864"/>
            <a:ext cx="118872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RMSE</a:t>
            </a:r>
          </a:p>
        </p:txBody>
      </p:sp>
      <p:sp>
        <p:nvSpPr>
          <p:cNvPr id="15" name="TextBox 14"/>
          <p:cNvSpPr txBox="1"/>
          <p:nvPr/>
        </p:nvSpPr>
        <p:spPr>
          <a:xfrm>
            <a:off x="11567160" y="2340864"/>
            <a:ext cx="109728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MAE</a:t>
            </a:r>
          </a:p>
        </p:txBody>
      </p:sp>
      <p:sp>
        <p:nvSpPr>
          <p:cNvPr id="16" name="TextBox 15"/>
          <p:cNvSpPr txBox="1"/>
          <p:nvPr/>
        </p:nvSpPr>
        <p:spPr>
          <a:xfrm>
            <a:off x="1293876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Bias</a:t>
            </a:r>
          </a:p>
        </p:txBody>
      </p:sp>
      <p:sp>
        <p:nvSpPr>
          <p:cNvPr id="17" name="TextBox 16"/>
          <p:cNvSpPr txBox="1"/>
          <p:nvPr/>
        </p:nvSpPr>
        <p:spPr>
          <a:xfrm>
            <a:off x="14493240" y="2340864"/>
            <a:ext cx="10058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R²</a:t>
            </a:r>
          </a:p>
        </p:txBody>
      </p:sp>
      <p:sp>
        <p:nvSpPr>
          <p:cNvPr id="18" name="TextBox 17"/>
          <p:cNvSpPr txBox="1"/>
          <p:nvPr/>
        </p:nvSpPr>
        <p:spPr>
          <a:xfrm>
            <a:off x="1577340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Ranking</a:t>
            </a:r>
          </a:p>
        </p:txBody>
      </p:sp>
      <p:cxnSp>
        <p:nvCxnSpPr>
          <p:cNvPr id="19" name="Connector 18"/>
          <p:cNvCxnSpPr/>
          <p:nvPr/>
        </p:nvCxnSpPr>
        <p:spPr>
          <a:xfrm>
            <a:off x="960120" y="2724912"/>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 y="277977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A · MODELOS DESAGREGADOS A NIVEL SKU (TOP 100 PRODUCTOS)</a:t>
            </a:r>
          </a:p>
        </p:txBody>
      </p:sp>
      <p:sp>
        <p:nvSpPr>
          <p:cNvPr id="21" name="Rectangle 20"/>
          <p:cNvSpPr/>
          <p:nvPr/>
        </p:nvSpPr>
        <p:spPr>
          <a:xfrm>
            <a:off x="960120" y="309067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60120" y="309067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(Static Top-Down)</a:t>
            </a:r>
          </a:p>
        </p:txBody>
      </p:sp>
      <p:sp>
        <p:nvSpPr>
          <p:cNvPr id="23" name="TextBox 22"/>
          <p:cNvSpPr txBox="1"/>
          <p:nvPr/>
        </p:nvSpPr>
        <p:spPr>
          <a:xfrm>
            <a:off x="681228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16,10 %</a:t>
            </a:r>
          </a:p>
        </p:txBody>
      </p:sp>
      <p:sp>
        <p:nvSpPr>
          <p:cNvPr id="24" name="TextBox 23"/>
          <p:cNvSpPr txBox="1"/>
          <p:nvPr/>
        </p:nvSpPr>
        <p:spPr>
          <a:xfrm>
            <a:off x="8366760" y="309067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20,47 %</a:t>
            </a:r>
          </a:p>
        </p:txBody>
      </p:sp>
      <p:sp>
        <p:nvSpPr>
          <p:cNvPr id="25" name="TextBox 24"/>
          <p:cNvSpPr txBox="1"/>
          <p:nvPr/>
        </p:nvSpPr>
        <p:spPr>
          <a:xfrm>
            <a:off x="10104120" y="309067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26,7</a:t>
            </a:r>
          </a:p>
        </p:txBody>
      </p:sp>
      <p:sp>
        <p:nvSpPr>
          <p:cNvPr id="26" name="TextBox 25"/>
          <p:cNvSpPr txBox="1"/>
          <p:nvPr/>
        </p:nvSpPr>
        <p:spPr>
          <a:xfrm>
            <a:off x="11567160" y="309067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11,4</a:t>
            </a:r>
          </a:p>
        </p:txBody>
      </p:sp>
      <p:sp>
        <p:nvSpPr>
          <p:cNvPr id="27" name="TextBox 26"/>
          <p:cNvSpPr txBox="1"/>
          <p:nvPr/>
        </p:nvSpPr>
        <p:spPr>
          <a:xfrm>
            <a:off x="1293876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28" name="TextBox 27"/>
          <p:cNvSpPr txBox="1"/>
          <p:nvPr/>
        </p:nvSpPr>
        <p:spPr>
          <a:xfrm>
            <a:off x="14493240" y="309067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0,95</a:t>
            </a:r>
          </a:p>
        </p:txBody>
      </p:sp>
      <p:sp>
        <p:nvSpPr>
          <p:cNvPr id="29" name="TextBox 28"/>
          <p:cNvSpPr txBox="1"/>
          <p:nvPr/>
        </p:nvSpPr>
        <p:spPr>
          <a:xfrm>
            <a:off x="1577340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30" name="Connector 29"/>
          <p:cNvCxnSpPr/>
          <p:nvPr/>
        </p:nvCxnSpPr>
        <p:spPr>
          <a:xfrm>
            <a:off x="960120" y="342900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342900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ES-GBM (Learned Dynamic Share)</a:t>
            </a:r>
          </a:p>
        </p:txBody>
      </p:sp>
      <p:sp>
        <p:nvSpPr>
          <p:cNvPr id="32" name="TextBox 31"/>
          <p:cNvSpPr txBox="1"/>
          <p:nvPr/>
        </p:nvSpPr>
        <p:spPr>
          <a:xfrm>
            <a:off x="681228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24,35 %</a:t>
            </a:r>
          </a:p>
        </p:txBody>
      </p:sp>
      <p:sp>
        <p:nvSpPr>
          <p:cNvPr id="33" name="TextBox 32"/>
          <p:cNvSpPr txBox="1"/>
          <p:nvPr/>
        </p:nvSpPr>
        <p:spPr>
          <a:xfrm>
            <a:off x="8366760" y="342900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28,90 %</a:t>
            </a:r>
          </a:p>
        </p:txBody>
      </p:sp>
      <p:sp>
        <p:nvSpPr>
          <p:cNvPr id="34" name="TextBox 33"/>
          <p:cNvSpPr txBox="1"/>
          <p:nvPr/>
        </p:nvSpPr>
        <p:spPr>
          <a:xfrm>
            <a:off x="10104120" y="342900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41,2</a:t>
            </a:r>
          </a:p>
        </p:txBody>
      </p:sp>
      <p:sp>
        <p:nvSpPr>
          <p:cNvPr id="35" name="TextBox 34"/>
          <p:cNvSpPr txBox="1"/>
          <p:nvPr/>
        </p:nvSpPr>
        <p:spPr>
          <a:xfrm>
            <a:off x="11567160" y="342900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17,2</a:t>
            </a:r>
          </a:p>
        </p:txBody>
      </p:sp>
      <p:sp>
        <p:nvSpPr>
          <p:cNvPr id="36" name="TextBox 35"/>
          <p:cNvSpPr txBox="1"/>
          <p:nvPr/>
        </p:nvSpPr>
        <p:spPr>
          <a:xfrm>
            <a:off x="1293876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−5,2 %</a:t>
            </a:r>
          </a:p>
        </p:txBody>
      </p:sp>
      <p:sp>
        <p:nvSpPr>
          <p:cNvPr id="37" name="TextBox 36"/>
          <p:cNvSpPr txBox="1"/>
          <p:nvPr/>
        </p:nvSpPr>
        <p:spPr>
          <a:xfrm>
            <a:off x="14493240" y="342900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38" name="TextBox 37"/>
          <p:cNvSpPr txBox="1"/>
          <p:nvPr/>
        </p:nvSpPr>
        <p:spPr>
          <a:xfrm>
            <a:off x="1577340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39" name="Connector 38"/>
          <p:cNvCxnSpPr/>
          <p:nvPr/>
        </p:nvCxnSpPr>
        <p:spPr>
          <a:xfrm>
            <a:off x="960120" y="376732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60120" y="376732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(con precio ex-ante)</a:t>
            </a:r>
          </a:p>
        </p:txBody>
      </p:sp>
      <p:sp>
        <p:nvSpPr>
          <p:cNvPr id="41" name="TextBox 40"/>
          <p:cNvSpPr txBox="1"/>
          <p:nvPr/>
        </p:nvSpPr>
        <p:spPr>
          <a:xfrm>
            <a:off x="681228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45,75 %</a:t>
            </a:r>
          </a:p>
        </p:txBody>
      </p:sp>
      <p:sp>
        <p:nvSpPr>
          <p:cNvPr id="42" name="TextBox 41"/>
          <p:cNvSpPr txBox="1"/>
          <p:nvPr/>
        </p:nvSpPr>
        <p:spPr>
          <a:xfrm>
            <a:off x="8366760" y="376732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52,10 %</a:t>
            </a:r>
          </a:p>
        </p:txBody>
      </p:sp>
      <p:sp>
        <p:nvSpPr>
          <p:cNvPr id="43" name="TextBox 42"/>
          <p:cNvSpPr txBox="1"/>
          <p:nvPr/>
        </p:nvSpPr>
        <p:spPr>
          <a:xfrm>
            <a:off x="10104120" y="376732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64,1</a:t>
            </a:r>
          </a:p>
        </p:txBody>
      </p:sp>
      <p:sp>
        <p:nvSpPr>
          <p:cNvPr id="44" name="TextBox 43"/>
          <p:cNvSpPr txBox="1"/>
          <p:nvPr/>
        </p:nvSpPr>
        <p:spPr>
          <a:xfrm>
            <a:off x="11567160" y="376732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32,3</a:t>
            </a:r>
          </a:p>
        </p:txBody>
      </p:sp>
      <p:sp>
        <p:nvSpPr>
          <p:cNvPr id="45" name="TextBox 44"/>
          <p:cNvSpPr txBox="1"/>
          <p:nvPr/>
        </p:nvSpPr>
        <p:spPr>
          <a:xfrm>
            <a:off x="1293876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+8,4 %</a:t>
            </a:r>
          </a:p>
        </p:txBody>
      </p:sp>
      <p:sp>
        <p:nvSpPr>
          <p:cNvPr id="46" name="TextBox 45"/>
          <p:cNvSpPr txBox="1"/>
          <p:nvPr/>
        </p:nvSpPr>
        <p:spPr>
          <a:xfrm>
            <a:off x="14493240" y="376732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0,55</a:t>
            </a:r>
          </a:p>
        </p:txBody>
      </p:sp>
      <p:sp>
        <p:nvSpPr>
          <p:cNvPr id="47" name="TextBox 46"/>
          <p:cNvSpPr txBox="1"/>
          <p:nvPr/>
        </p:nvSpPr>
        <p:spPr>
          <a:xfrm>
            <a:off x="1577340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48" name="Connector 47"/>
          <p:cNvCxnSpPr/>
          <p:nvPr/>
        </p:nvCxnSpPr>
        <p:spPr>
          <a:xfrm>
            <a:off x="960120" y="410565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0120" y="410565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Desagregado (Static Share)</a:t>
            </a:r>
          </a:p>
        </p:txBody>
      </p:sp>
      <p:sp>
        <p:nvSpPr>
          <p:cNvPr id="50" name="TextBox 49"/>
          <p:cNvSpPr txBox="1"/>
          <p:nvPr/>
        </p:nvSpPr>
        <p:spPr>
          <a:xfrm>
            <a:off x="681228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48,44 %</a:t>
            </a:r>
          </a:p>
        </p:txBody>
      </p:sp>
      <p:sp>
        <p:nvSpPr>
          <p:cNvPr id="51" name="TextBox 50"/>
          <p:cNvSpPr txBox="1"/>
          <p:nvPr/>
        </p:nvSpPr>
        <p:spPr>
          <a:xfrm>
            <a:off x="8366760" y="410565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70,69 %</a:t>
            </a:r>
          </a:p>
        </p:txBody>
      </p:sp>
      <p:sp>
        <p:nvSpPr>
          <p:cNvPr id="52" name="TextBox 51"/>
          <p:cNvSpPr txBox="1"/>
          <p:nvPr/>
        </p:nvSpPr>
        <p:spPr>
          <a:xfrm>
            <a:off x="10104120" y="410565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65,1</a:t>
            </a:r>
          </a:p>
        </p:txBody>
      </p:sp>
      <p:sp>
        <p:nvSpPr>
          <p:cNvPr id="53" name="TextBox 52"/>
          <p:cNvSpPr txBox="1"/>
          <p:nvPr/>
        </p:nvSpPr>
        <p:spPr>
          <a:xfrm>
            <a:off x="11567160" y="410565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34,2</a:t>
            </a:r>
          </a:p>
        </p:txBody>
      </p:sp>
      <p:sp>
        <p:nvSpPr>
          <p:cNvPr id="54" name="TextBox 53"/>
          <p:cNvSpPr txBox="1"/>
          <p:nvPr/>
        </p:nvSpPr>
        <p:spPr>
          <a:xfrm>
            <a:off x="1293876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55" name="TextBox 54"/>
          <p:cNvSpPr txBox="1"/>
          <p:nvPr/>
        </p:nvSpPr>
        <p:spPr>
          <a:xfrm>
            <a:off x="14493240" y="410565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0,72</a:t>
            </a:r>
          </a:p>
        </p:txBody>
      </p:sp>
      <p:sp>
        <p:nvSpPr>
          <p:cNvPr id="56" name="TextBox 55"/>
          <p:cNvSpPr txBox="1"/>
          <p:nvPr/>
        </p:nvSpPr>
        <p:spPr>
          <a:xfrm>
            <a:off x="1577340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57" name="Connector 56"/>
          <p:cNvCxnSpPr/>
          <p:nvPr/>
        </p:nvCxnSpPr>
        <p:spPr>
          <a:xfrm>
            <a:off x="960120" y="444398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60120" y="444398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(sin precio ex-ante)</a:t>
            </a:r>
          </a:p>
        </p:txBody>
      </p:sp>
      <p:sp>
        <p:nvSpPr>
          <p:cNvPr id="59" name="TextBox 58"/>
          <p:cNvSpPr txBox="1"/>
          <p:nvPr/>
        </p:nvSpPr>
        <p:spPr>
          <a:xfrm>
            <a:off x="681228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53,76 %</a:t>
            </a:r>
          </a:p>
        </p:txBody>
      </p:sp>
      <p:sp>
        <p:nvSpPr>
          <p:cNvPr id="60" name="TextBox 59"/>
          <p:cNvSpPr txBox="1"/>
          <p:nvPr/>
        </p:nvSpPr>
        <p:spPr>
          <a:xfrm>
            <a:off x="8366760" y="444398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61,40 %</a:t>
            </a:r>
          </a:p>
        </p:txBody>
      </p:sp>
      <p:sp>
        <p:nvSpPr>
          <p:cNvPr id="61" name="TextBox 60"/>
          <p:cNvSpPr txBox="1"/>
          <p:nvPr/>
        </p:nvSpPr>
        <p:spPr>
          <a:xfrm>
            <a:off x="10104120" y="444398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68,1</a:t>
            </a:r>
          </a:p>
        </p:txBody>
      </p:sp>
      <p:sp>
        <p:nvSpPr>
          <p:cNvPr id="62" name="TextBox 61"/>
          <p:cNvSpPr txBox="1"/>
          <p:nvPr/>
        </p:nvSpPr>
        <p:spPr>
          <a:xfrm>
            <a:off x="11567160" y="444398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38,1</a:t>
            </a:r>
          </a:p>
        </p:txBody>
      </p:sp>
      <p:sp>
        <p:nvSpPr>
          <p:cNvPr id="63" name="TextBox 62"/>
          <p:cNvSpPr txBox="1"/>
          <p:nvPr/>
        </p:nvSpPr>
        <p:spPr>
          <a:xfrm>
            <a:off x="1293876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+11,2 %</a:t>
            </a:r>
          </a:p>
        </p:txBody>
      </p:sp>
      <p:sp>
        <p:nvSpPr>
          <p:cNvPr id="64" name="TextBox 63"/>
          <p:cNvSpPr txBox="1"/>
          <p:nvPr/>
        </p:nvSpPr>
        <p:spPr>
          <a:xfrm>
            <a:off x="14493240" y="444398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0,38</a:t>
            </a:r>
          </a:p>
        </p:txBody>
      </p:sp>
      <p:sp>
        <p:nvSpPr>
          <p:cNvPr id="65" name="TextBox 64"/>
          <p:cNvSpPr txBox="1"/>
          <p:nvPr/>
        </p:nvSpPr>
        <p:spPr>
          <a:xfrm>
            <a:off x="1577340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66" name="Connector 65"/>
          <p:cNvCxnSpPr/>
          <p:nvPr/>
        </p:nvCxnSpPr>
        <p:spPr>
          <a:xfrm>
            <a:off x="960120" y="478231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960120" y="47823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(benchmark del año anterior)</a:t>
            </a:r>
          </a:p>
        </p:txBody>
      </p:sp>
      <p:sp>
        <p:nvSpPr>
          <p:cNvPr id="68" name="TextBox 67"/>
          <p:cNvSpPr txBox="1"/>
          <p:nvPr/>
        </p:nvSpPr>
        <p:spPr>
          <a:xfrm>
            <a:off x="681228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69,89 %</a:t>
            </a:r>
          </a:p>
        </p:txBody>
      </p:sp>
      <p:sp>
        <p:nvSpPr>
          <p:cNvPr id="69" name="TextBox 68"/>
          <p:cNvSpPr txBox="1"/>
          <p:nvPr/>
        </p:nvSpPr>
        <p:spPr>
          <a:xfrm>
            <a:off x="8366760" y="47823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88,17 %</a:t>
            </a:r>
          </a:p>
        </p:txBody>
      </p:sp>
      <p:sp>
        <p:nvSpPr>
          <p:cNvPr id="70" name="TextBox 69"/>
          <p:cNvSpPr txBox="1"/>
          <p:nvPr/>
        </p:nvSpPr>
        <p:spPr>
          <a:xfrm>
            <a:off x="10104120" y="47823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107,2</a:t>
            </a:r>
          </a:p>
        </p:txBody>
      </p:sp>
      <p:sp>
        <p:nvSpPr>
          <p:cNvPr id="71" name="TextBox 70"/>
          <p:cNvSpPr txBox="1"/>
          <p:nvPr/>
        </p:nvSpPr>
        <p:spPr>
          <a:xfrm>
            <a:off x="11567160" y="47823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49,4</a:t>
            </a:r>
          </a:p>
        </p:txBody>
      </p:sp>
      <p:sp>
        <p:nvSpPr>
          <p:cNvPr id="72" name="TextBox 71"/>
          <p:cNvSpPr txBox="1"/>
          <p:nvPr/>
        </p:nvSpPr>
        <p:spPr>
          <a:xfrm>
            <a:off x="1293876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73" name="TextBox 72"/>
          <p:cNvSpPr txBox="1"/>
          <p:nvPr/>
        </p:nvSpPr>
        <p:spPr>
          <a:xfrm>
            <a:off x="14493240" y="47823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0,23</a:t>
            </a:r>
          </a:p>
        </p:txBody>
      </p:sp>
      <p:sp>
        <p:nvSpPr>
          <p:cNvPr id="74" name="TextBox 73"/>
          <p:cNvSpPr txBox="1"/>
          <p:nvPr/>
        </p:nvSpPr>
        <p:spPr>
          <a:xfrm>
            <a:off x="1577340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75" name="Connector 74"/>
          <p:cNvCxnSpPr/>
          <p:nvPr/>
        </p:nvCxnSpPr>
        <p:spPr>
          <a:xfrm>
            <a:off x="960120" y="51206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60120" y="51206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(con precio y descuento)</a:t>
            </a:r>
          </a:p>
        </p:txBody>
      </p:sp>
      <p:sp>
        <p:nvSpPr>
          <p:cNvPr id="77" name="TextBox 76"/>
          <p:cNvSpPr txBox="1"/>
          <p:nvPr/>
        </p:nvSpPr>
        <p:spPr>
          <a:xfrm>
            <a:off x="681228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73,24 %</a:t>
            </a:r>
          </a:p>
        </p:txBody>
      </p:sp>
      <p:sp>
        <p:nvSpPr>
          <p:cNvPr id="78" name="TextBox 77"/>
          <p:cNvSpPr txBox="1"/>
          <p:nvPr/>
        </p:nvSpPr>
        <p:spPr>
          <a:xfrm>
            <a:off x="8366760" y="51206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170,87 %</a:t>
            </a:r>
          </a:p>
        </p:txBody>
      </p:sp>
      <p:sp>
        <p:nvSpPr>
          <p:cNvPr id="79" name="TextBox 78"/>
          <p:cNvSpPr txBox="1"/>
          <p:nvPr/>
        </p:nvSpPr>
        <p:spPr>
          <a:xfrm>
            <a:off x="10104120" y="51206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122,9</a:t>
            </a:r>
          </a:p>
        </p:txBody>
      </p:sp>
      <p:sp>
        <p:nvSpPr>
          <p:cNvPr id="80" name="TextBox 79"/>
          <p:cNvSpPr txBox="1"/>
          <p:nvPr/>
        </p:nvSpPr>
        <p:spPr>
          <a:xfrm>
            <a:off x="11567160" y="51206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51,7</a:t>
            </a:r>
          </a:p>
        </p:txBody>
      </p:sp>
      <p:sp>
        <p:nvSpPr>
          <p:cNvPr id="81" name="TextBox 80"/>
          <p:cNvSpPr txBox="1"/>
          <p:nvPr/>
        </p:nvSpPr>
        <p:spPr>
          <a:xfrm>
            <a:off x="1293876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82" name="TextBox 81"/>
          <p:cNvSpPr txBox="1"/>
          <p:nvPr/>
        </p:nvSpPr>
        <p:spPr>
          <a:xfrm>
            <a:off x="14493240" y="51206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−0,01</a:t>
            </a:r>
          </a:p>
        </p:txBody>
      </p:sp>
      <p:sp>
        <p:nvSpPr>
          <p:cNvPr id="83" name="TextBox 82"/>
          <p:cNvSpPr txBox="1"/>
          <p:nvPr/>
        </p:nvSpPr>
        <p:spPr>
          <a:xfrm>
            <a:off x="1577340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a:t>
            </a:r>
          </a:p>
        </p:txBody>
      </p:sp>
      <p:cxnSp>
        <p:nvCxnSpPr>
          <p:cNvPr id="84" name="Connector 83"/>
          <p:cNvCxnSpPr/>
          <p:nvPr/>
        </p:nvCxnSpPr>
        <p:spPr>
          <a:xfrm>
            <a:off x="960120" y="54589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960120" y="54589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Univariado (línea base)</a:t>
            </a:r>
          </a:p>
        </p:txBody>
      </p:sp>
      <p:sp>
        <p:nvSpPr>
          <p:cNvPr id="86" name="TextBox 85"/>
          <p:cNvSpPr txBox="1"/>
          <p:nvPr/>
        </p:nvSpPr>
        <p:spPr>
          <a:xfrm>
            <a:off x="681228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76,74 %</a:t>
            </a:r>
          </a:p>
        </p:txBody>
      </p:sp>
      <p:sp>
        <p:nvSpPr>
          <p:cNvPr id="87" name="TextBox 86"/>
          <p:cNvSpPr txBox="1"/>
          <p:nvPr/>
        </p:nvSpPr>
        <p:spPr>
          <a:xfrm>
            <a:off x="8366760" y="54589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309,88 %</a:t>
            </a:r>
          </a:p>
        </p:txBody>
      </p:sp>
      <p:sp>
        <p:nvSpPr>
          <p:cNvPr id="88" name="TextBox 87"/>
          <p:cNvSpPr txBox="1"/>
          <p:nvPr/>
        </p:nvSpPr>
        <p:spPr>
          <a:xfrm>
            <a:off x="10104120" y="54589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139,6</a:t>
            </a:r>
          </a:p>
        </p:txBody>
      </p:sp>
      <p:sp>
        <p:nvSpPr>
          <p:cNvPr id="89" name="TextBox 88"/>
          <p:cNvSpPr txBox="1"/>
          <p:nvPr/>
        </p:nvSpPr>
        <p:spPr>
          <a:xfrm>
            <a:off x="11567160" y="54589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54,2</a:t>
            </a:r>
          </a:p>
        </p:txBody>
      </p:sp>
      <p:sp>
        <p:nvSpPr>
          <p:cNvPr id="90" name="TextBox 89"/>
          <p:cNvSpPr txBox="1"/>
          <p:nvPr/>
        </p:nvSpPr>
        <p:spPr>
          <a:xfrm>
            <a:off x="1293876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91" name="TextBox 90"/>
          <p:cNvSpPr txBox="1"/>
          <p:nvPr/>
        </p:nvSpPr>
        <p:spPr>
          <a:xfrm>
            <a:off x="14493240" y="54589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−0,31</a:t>
            </a:r>
          </a:p>
        </p:txBody>
      </p:sp>
      <p:sp>
        <p:nvSpPr>
          <p:cNvPr id="92" name="TextBox 91"/>
          <p:cNvSpPr txBox="1"/>
          <p:nvPr/>
        </p:nvSpPr>
        <p:spPr>
          <a:xfrm>
            <a:off x="1577340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a:t>
            </a:r>
          </a:p>
        </p:txBody>
      </p:sp>
      <p:cxnSp>
        <p:nvCxnSpPr>
          <p:cNvPr id="93" name="Connector 92"/>
          <p:cNvCxnSpPr/>
          <p:nvPr/>
        </p:nvCxnSpPr>
        <p:spPr>
          <a:xfrm>
            <a:off x="960120" y="57972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960120" y="57972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SBA (Syntetos-Boylan Approximation)</a:t>
            </a:r>
          </a:p>
        </p:txBody>
      </p:sp>
      <p:sp>
        <p:nvSpPr>
          <p:cNvPr id="95" name="TextBox 94"/>
          <p:cNvSpPr txBox="1"/>
          <p:nvPr/>
        </p:nvSpPr>
        <p:spPr>
          <a:xfrm>
            <a:off x="681228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83,42 %</a:t>
            </a:r>
          </a:p>
        </p:txBody>
      </p:sp>
      <p:sp>
        <p:nvSpPr>
          <p:cNvPr id="96" name="TextBox 95"/>
          <p:cNvSpPr txBox="1"/>
          <p:nvPr/>
        </p:nvSpPr>
        <p:spPr>
          <a:xfrm>
            <a:off x="8366760" y="57972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95,19 %</a:t>
            </a:r>
          </a:p>
        </p:txBody>
      </p:sp>
      <p:sp>
        <p:nvSpPr>
          <p:cNvPr id="97" name="TextBox 96"/>
          <p:cNvSpPr txBox="1"/>
          <p:nvPr/>
        </p:nvSpPr>
        <p:spPr>
          <a:xfrm>
            <a:off x="10104120" y="57972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108,1</a:t>
            </a:r>
          </a:p>
        </p:txBody>
      </p:sp>
      <p:sp>
        <p:nvSpPr>
          <p:cNvPr id="98" name="TextBox 97"/>
          <p:cNvSpPr txBox="1"/>
          <p:nvPr/>
        </p:nvSpPr>
        <p:spPr>
          <a:xfrm>
            <a:off x="11567160" y="57972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58,9</a:t>
            </a:r>
          </a:p>
        </p:txBody>
      </p:sp>
      <p:sp>
        <p:nvSpPr>
          <p:cNvPr id="99" name="TextBox 98"/>
          <p:cNvSpPr txBox="1"/>
          <p:nvPr/>
        </p:nvSpPr>
        <p:spPr>
          <a:xfrm>
            <a:off x="1293876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−4,2 %</a:t>
            </a:r>
          </a:p>
        </p:txBody>
      </p:sp>
      <p:sp>
        <p:nvSpPr>
          <p:cNvPr id="100" name="TextBox 99"/>
          <p:cNvSpPr txBox="1"/>
          <p:nvPr/>
        </p:nvSpPr>
        <p:spPr>
          <a:xfrm>
            <a:off x="14493240" y="57972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0,22</a:t>
            </a:r>
          </a:p>
        </p:txBody>
      </p:sp>
      <p:sp>
        <p:nvSpPr>
          <p:cNvPr id="101" name="TextBox 100"/>
          <p:cNvSpPr txBox="1"/>
          <p:nvPr/>
        </p:nvSpPr>
        <p:spPr>
          <a:xfrm>
            <a:off x="1577340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a:t>
            </a:r>
          </a:p>
        </p:txBody>
      </p:sp>
      <p:cxnSp>
        <p:nvCxnSpPr>
          <p:cNvPr id="102" name="Connector 101"/>
          <p:cNvCxnSpPr/>
          <p:nvPr/>
        </p:nvCxnSpPr>
        <p:spPr>
          <a:xfrm>
            <a:off x="960120" y="613562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960120" y="613562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Croston Clásico</a:t>
            </a:r>
          </a:p>
        </p:txBody>
      </p:sp>
      <p:sp>
        <p:nvSpPr>
          <p:cNvPr id="104" name="TextBox 103"/>
          <p:cNvSpPr txBox="1"/>
          <p:nvPr/>
        </p:nvSpPr>
        <p:spPr>
          <a:xfrm>
            <a:off x="681228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84,87 %</a:t>
            </a:r>
          </a:p>
        </p:txBody>
      </p:sp>
      <p:sp>
        <p:nvSpPr>
          <p:cNvPr id="105" name="TextBox 104"/>
          <p:cNvSpPr txBox="1"/>
          <p:nvPr/>
        </p:nvSpPr>
        <p:spPr>
          <a:xfrm>
            <a:off x="8366760" y="613562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95,35 %</a:t>
            </a:r>
          </a:p>
        </p:txBody>
      </p:sp>
      <p:sp>
        <p:nvSpPr>
          <p:cNvPr id="106" name="TextBox 105"/>
          <p:cNvSpPr txBox="1"/>
          <p:nvPr/>
        </p:nvSpPr>
        <p:spPr>
          <a:xfrm>
            <a:off x="10104120" y="613562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108,6</a:t>
            </a:r>
          </a:p>
        </p:txBody>
      </p:sp>
      <p:sp>
        <p:nvSpPr>
          <p:cNvPr id="107" name="TextBox 106"/>
          <p:cNvSpPr txBox="1"/>
          <p:nvPr/>
        </p:nvSpPr>
        <p:spPr>
          <a:xfrm>
            <a:off x="11567160" y="613562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59,9</a:t>
            </a:r>
          </a:p>
        </p:txBody>
      </p:sp>
      <p:sp>
        <p:nvSpPr>
          <p:cNvPr id="108" name="TextBox 107"/>
          <p:cNvSpPr txBox="1"/>
          <p:nvPr/>
        </p:nvSpPr>
        <p:spPr>
          <a:xfrm>
            <a:off x="1293876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+0,9 %</a:t>
            </a:r>
          </a:p>
        </p:txBody>
      </p:sp>
      <p:sp>
        <p:nvSpPr>
          <p:cNvPr id="109" name="TextBox 108"/>
          <p:cNvSpPr txBox="1"/>
          <p:nvPr/>
        </p:nvSpPr>
        <p:spPr>
          <a:xfrm>
            <a:off x="14493240" y="613562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0,21</a:t>
            </a:r>
          </a:p>
        </p:txBody>
      </p:sp>
      <p:sp>
        <p:nvSpPr>
          <p:cNvPr id="110" name="TextBox 109"/>
          <p:cNvSpPr txBox="1"/>
          <p:nvPr/>
        </p:nvSpPr>
        <p:spPr>
          <a:xfrm>
            <a:off x="1577340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a:t>
            </a:r>
          </a:p>
        </p:txBody>
      </p:sp>
      <p:cxnSp>
        <p:nvCxnSpPr>
          <p:cNvPr id="111" name="Connector 110"/>
          <p:cNvCxnSpPr/>
          <p:nvPr/>
        </p:nvCxnSpPr>
        <p:spPr>
          <a:xfrm>
            <a:off x="960120" y="647395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960120" y="652881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B · MODELOS AGREGADOS A NIVEL FAMILIA (58 FAMILIAS)</a:t>
            </a:r>
          </a:p>
        </p:txBody>
      </p:sp>
      <p:sp>
        <p:nvSpPr>
          <p:cNvPr id="113" name="Rectangle 112"/>
          <p:cNvSpPr/>
          <p:nvPr/>
        </p:nvSpPr>
        <p:spPr>
          <a:xfrm>
            <a:off x="960120" y="683971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4" name="TextBox 113"/>
          <p:cNvSpPr txBox="1"/>
          <p:nvPr/>
        </p:nvSpPr>
        <p:spPr>
          <a:xfrm>
            <a:off x="960120" y="68397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Ensamble Agregado</a:t>
            </a:r>
          </a:p>
        </p:txBody>
      </p:sp>
      <p:sp>
        <p:nvSpPr>
          <p:cNvPr id="115" name="TextBox 114"/>
          <p:cNvSpPr txBox="1"/>
          <p:nvPr/>
        </p:nvSpPr>
        <p:spPr>
          <a:xfrm>
            <a:off x="681228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12,89 %</a:t>
            </a:r>
          </a:p>
        </p:txBody>
      </p:sp>
      <p:sp>
        <p:nvSpPr>
          <p:cNvPr id="116" name="TextBox 115"/>
          <p:cNvSpPr txBox="1"/>
          <p:nvPr/>
        </p:nvSpPr>
        <p:spPr>
          <a:xfrm>
            <a:off x="8366760" y="68397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14,67 %</a:t>
            </a:r>
          </a:p>
        </p:txBody>
      </p:sp>
      <p:sp>
        <p:nvSpPr>
          <p:cNvPr id="117" name="TextBox 116"/>
          <p:cNvSpPr txBox="1"/>
          <p:nvPr/>
        </p:nvSpPr>
        <p:spPr>
          <a:xfrm>
            <a:off x="10104120" y="68397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35,9</a:t>
            </a:r>
          </a:p>
        </p:txBody>
      </p:sp>
      <p:sp>
        <p:nvSpPr>
          <p:cNvPr id="118" name="TextBox 117"/>
          <p:cNvSpPr txBox="1"/>
          <p:nvPr/>
        </p:nvSpPr>
        <p:spPr>
          <a:xfrm>
            <a:off x="11567160" y="68397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15,7</a:t>
            </a:r>
          </a:p>
        </p:txBody>
      </p:sp>
      <p:sp>
        <p:nvSpPr>
          <p:cNvPr id="119" name="TextBox 118"/>
          <p:cNvSpPr txBox="1"/>
          <p:nvPr/>
        </p:nvSpPr>
        <p:spPr>
          <a:xfrm>
            <a:off x="1293876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120" name="TextBox 119"/>
          <p:cNvSpPr txBox="1"/>
          <p:nvPr/>
        </p:nvSpPr>
        <p:spPr>
          <a:xfrm>
            <a:off x="14493240" y="68397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0,96</a:t>
            </a:r>
          </a:p>
        </p:txBody>
      </p:sp>
      <p:sp>
        <p:nvSpPr>
          <p:cNvPr id="121" name="TextBox 120"/>
          <p:cNvSpPr txBox="1"/>
          <p:nvPr/>
        </p:nvSpPr>
        <p:spPr>
          <a:xfrm>
            <a:off x="1577340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122" name="Connector 121"/>
          <p:cNvCxnSpPr/>
          <p:nvPr/>
        </p:nvCxnSpPr>
        <p:spPr>
          <a:xfrm>
            <a:off x="960120" y="71780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60120" y="71780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Agregado (Zero-Shot)</a:t>
            </a:r>
          </a:p>
        </p:txBody>
      </p:sp>
      <p:sp>
        <p:nvSpPr>
          <p:cNvPr id="124" name="TextBox 123"/>
          <p:cNvSpPr txBox="1"/>
          <p:nvPr/>
        </p:nvSpPr>
        <p:spPr>
          <a:xfrm>
            <a:off x="681228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36,35 %</a:t>
            </a:r>
          </a:p>
        </p:txBody>
      </p:sp>
      <p:sp>
        <p:nvSpPr>
          <p:cNvPr id="125" name="TextBox 124"/>
          <p:cNvSpPr txBox="1"/>
          <p:nvPr/>
        </p:nvSpPr>
        <p:spPr>
          <a:xfrm>
            <a:off x="8366760" y="71780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61,38 %</a:t>
            </a:r>
          </a:p>
        </p:txBody>
      </p:sp>
      <p:sp>
        <p:nvSpPr>
          <p:cNvPr id="126" name="TextBox 125"/>
          <p:cNvSpPr txBox="1"/>
          <p:nvPr/>
        </p:nvSpPr>
        <p:spPr>
          <a:xfrm>
            <a:off x="10104120" y="71780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81,9</a:t>
            </a:r>
          </a:p>
        </p:txBody>
      </p:sp>
      <p:sp>
        <p:nvSpPr>
          <p:cNvPr id="127" name="TextBox 126"/>
          <p:cNvSpPr txBox="1"/>
          <p:nvPr/>
        </p:nvSpPr>
        <p:spPr>
          <a:xfrm>
            <a:off x="11567160" y="71780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44,3</a:t>
            </a:r>
          </a:p>
        </p:txBody>
      </p:sp>
      <p:sp>
        <p:nvSpPr>
          <p:cNvPr id="128" name="TextBox 127"/>
          <p:cNvSpPr txBox="1"/>
          <p:nvPr/>
        </p:nvSpPr>
        <p:spPr>
          <a:xfrm>
            <a:off x="1293876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129" name="TextBox 128"/>
          <p:cNvSpPr txBox="1"/>
          <p:nvPr/>
        </p:nvSpPr>
        <p:spPr>
          <a:xfrm>
            <a:off x="14493240" y="71780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130" name="TextBox 129"/>
          <p:cNvSpPr txBox="1"/>
          <p:nvPr/>
        </p:nvSpPr>
        <p:spPr>
          <a:xfrm>
            <a:off x="1577340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131" name="Connector 130"/>
          <p:cNvCxnSpPr/>
          <p:nvPr/>
        </p:nvCxnSpPr>
        <p:spPr>
          <a:xfrm>
            <a:off x="960120" y="75163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960120" y="75163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Agregado</a:t>
            </a:r>
          </a:p>
        </p:txBody>
      </p:sp>
      <p:sp>
        <p:nvSpPr>
          <p:cNvPr id="133" name="TextBox 132"/>
          <p:cNvSpPr txBox="1"/>
          <p:nvPr/>
        </p:nvSpPr>
        <p:spPr>
          <a:xfrm>
            <a:off x="681228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40,51 %</a:t>
            </a:r>
          </a:p>
        </p:txBody>
      </p:sp>
      <p:sp>
        <p:nvSpPr>
          <p:cNvPr id="134" name="TextBox 133"/>
          <p:cNvSpPr txBox="1"/>
          <p:nvPr/>
        </p:nvSpPr>
        <p:spPr>
          <a:xfrm>
            <a:off x="8366760" y="75163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69,36 %</a:t>
            </a:r>
          </a:p>
        </p:txBody>
      </p:sp>
      <p:sp>
        <p:nvSpPr>
          <p:cNvPr id="135" name="TextBox 134"/>
          <p:cNvSpPr txBox="1"/>
          <p:nvPr/>
        </p:nvSpPr>
        <p:spPr>
          <a:xfrm>
            <a:off x="10104120" y="75163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a:t>
            </a:r>
          </a:p>
        </p:txBody>
      </p:sp>
      <p:sp>
        <p:nvSpPr>
          <p:cNvPr id="136" name="TextBox 135"/>
          <p:cNvSpPr txBox="1"/>
          <p:nvPr/>
        </p:nvSpPr>
        <p:spPr>
          <a:xfrm>
            <a:off x="11567160" y="75163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49,3</a:t>
            </a:r>
          </a:p>
        </p:txBody>
      </p:sp>
      <p:sp>
        <p:nvSpPr>
          <p:cNvPr id="137" name="TextBox 136"/>
          <p:cNvSpPr txBox="1"/>
          <p:nvPr/>
        </p:nvSpPr>
        <p:spPr>
          <a:xfrm>
            <a:off x="1293876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+7,9 %</a:t>
            </a:r>
          </a:p>
        </p:txBody>
      </p:sp>
      <p:sp>
        <p:nvSpPr>
          <p:cNvPr id="138" name="TextBox 137"/>
          <p:cNvSpPr txBox="1"/>
          <p:nvPr/>
        </p:nvSpPr>
        <p:spPr>
          <a:xfrm>
            <a:off x="14493240" y="75163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0,76</a:t>
            </a:r>
          </a:p>
        </p:txBody>
      </p:sp>
      <p:sp>
        <p:nvSpPr>
          <p:cNvPr id="139" name="TextBox 138"/>
          <p:cNvSpPr txBox="1"/>
          <p:nvPr/>
        </p:nvSpPr>
        <p:spPr>
          <a:xfrm>
            <a:off x="1577340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140" name="Connector 139"/>
          <p:cNvCxnSpPr/>
          <p:nvPr/>
        </p:nvCxnSpPr>
        <p:spPr>
          <a:xfrm>
            <a:off x="960120" y="78546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960120" y="78546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Agregado</a:t>
            </a:r>
          </a:p>
        </p:txBody>
      </p:sp>
      <p:sp>
        <p:nvSpPr>
          <p:cNvPr id="142" name="TextBox 141"/>
          <p:cNvSpPr txBox="1"/>
          <p:nvPr/>
        </p:nvSpPr>
        <p:spPr>
          <a:xfrm>
            <a:off x="681228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59,64 %</a:t>
            </a:r>
          </a:p>
        </p:txBody>
      </p:sp>
      <p:sp>
        <p:nvSpPr>
          <p:cNvPr id="143" name="TextBox 142"/>
          <p:cNvSpPr txBox="1"/>
          <p:nvPr/>
        </p:nvSpPr>
        <p:spPr>
          <a:xfrm>
            <a:off x="8366760" y="78546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268,31 %</a:t>
            </a:r>
          </a:p>
        </p:txBody>
      </p:sp>
      <p:sp>
        <p:nvSpPr>
          <p:cNvPr id="144" name="TextBox 143"/>
          <p:cNvSpPr txBox="1"/>
          <p:nvPr/>
        </p:nvSpPr>
        <p:spPr>
          <a:xfrm>
            <a:off x="10104120" y="78546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165,3</a:t>
            </a:r>
          </a:p>
        </p:txBody>
      </p:sp>
      <p:sp>
        <p:nvSpPr>
          <p:cNvPr id="145" name="TextBox 144"/>
          <p:cNvSpPr txBox="1"/>
          <p:nvPr/>
        </p:nvSpPr>
        <p:spPr>
          <a:xfrm>
            <a:off x="11567160" y="78546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72,6</a:t>
            </a:r>
          </a:p>
        </p:txBody>
      </p:sp>
      <p:sp>
        <p:nvSpPr>
          <p:cNvPr id="146" name="TextBox 145"/>
          <p:cNvSpPr txBox="1"/>
          <p:nvPr/>
        </p:nvSpPr>
        <p:spPr>
          <a:xfrm>
            <a:off x="1293876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147" name="TextBox 146"/>
          <p:cNvSpPr txBox="1"/>
          <p:nvPr/>
        </p:nvSpPr>
        <p:spPr>
          <a:xfrm>
            <a:off x="14493240" y="78546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0,16</a:t>
            </a:r>
          </a:p>
        </p:txBody>
      </p:sp>
      <p:sp>
        <p:nvSpPr>
          <p:cNvPr id="148" name="TextBox 147"/>
          <p:cNvSpPr txBox="1"/>
          <p:nvPr/>
        </p:nvSpPr>
        <p:spPr>
          <a:xfrm>
            <a:off x="1577340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149" name="Connector 148"/>
          <p:cNvCxnSpPr/>
          <p:nvPr/>
        </p:nvCxnSpPr>
        <p:spPr>
          <a:xfrm>
            <a:off x="960120" y="8193023"/>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960120" y="8193023"/>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Agregado</a:t>
            </a:r>
          </a:p>
        </p:txBody>
      </p:sp>
      <p:sp>
        <p:nvSpPr>
          <p:cNvPr id="151" name="TextBox 150"/>
          <p:cNvSpPr txBox="1"/>
          <p:nvPr/>
        </p:nvSpPr>
        <p:spPr>
          <a:xfrm>
            <a:off x="681228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59,78 %</a:t>
            </a:r>
          </a:p>
        </p:txBody>
      </p:sp>
      <p:sp>
        <p:nvSpPr>
          <p:cNvPr id="152" name="TextBox 151"/>
          <p:cNvSpPr txBox="1"/>
          <p:nvPr/>
        </p:nvSpPr>
        <p:spPr>
          <a:xfrm>
            <a:off x="8366760" y="8193023"/>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84,80 %</a:t>
            </a:r>
          </a:p>
        </p:txBody>
      </p:sp>
      <p:sp>
        <p:nvSpPr>
          <p:cNvPr id="153" name="TextBox 152"/>
          <p:cNvSpPr txBox="1"/>
          <p:nvPr/>
        </p:nvSpPr>
        <p:spPr>
          <a:xfrm>
            <a:off x="10104120" y="8193023"/>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148,9</a:t>
            </a:r>
          </a:p>
        </p:txBody>
      </p:sp>
      <p:sp>
        <p:nvSpPr>
          <p:cNvPr id="154" name="TextBox 153"/>
          <p:cNvSpPr txBox="1"/>
          <p:nvPr/>
        </p:nvSpPr>
        <p:spPr>
          <a:xfrm>
            <a:off x="11567160" y="8193023"/>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72,8</a:t>
            </a:r>
          </a:p>
        </p:txBody>
      </p:sp>
      <p:sp>
        <p:nvSpPr>
          <p:cNvPr id="155" name="TextBox 154"/>
          <p:cNvSpPr txBox="1"/>
          <p:nvPr/>
        </p:nvSpPr>
        <p:spPr>
          <a:xfrm>
            <a:off x="1293876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156" name="TextBox 155"/>
          <p:cNvSpPr txBox="1"/>
          <p:nvPr/>
        </p:nvSpPr>
        <p:spPr>
          <a:xfrm>
            <a:off x="14493240" y="8193023"/>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0,32</a:t>
            </a:r>
          </a:p>
        </p:txBody>
      </p:sp>
      <p:sp>
        <p:nvSpPr>
          <p:cNvPr id="157" name="TextBox 156"/>
          <p:cNvSpPr txBox="1"/>
          <p:nvPr/>
        </p:nvSpPr>
        <p:spPr>
          <a:xfrm>
            <a:off x="1577340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158" name="Connector 157"/>
          <p:cNvCxnSpPr/>
          <p:nvPr/>
        </p:nvCxnSpPr>
        <p:spPr>
          <a:xfrm>
            <a:off x="960120" y="8531351"/>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960120" y="8531351"/>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Agregado</a:t>
            </a:r>
          </a:p>
        </p:txBody>
      </p:sp>
      <p:sp>
        <p:nvSpPr>
          <p:cNvPr id="160" name="TextBox 159"/>
          <p:cNvSpPr txBox="1"/>
          <p:nvPr/>
        </p:nvSpPr>
        <p:spPr>
          <a:xfrm>
            <a:off x="681228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64,84 %</a:t>
            </a:r>
          </a:p>
        </p:txBody>
      </p:sp>
      <p:sp>
        <p:nvSpPr>
          <p:cNvPr id="161" name="TextBox 160"/>
          <p:cNvSpPr txBox="1"/>
          <p:nvPr/>
        </p:nvSpPr>
        <p:spPr>
          <a:xfrm>
            <a:off x="8366760" y="8531351"/>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450,19 %</a:t>
            </a:r>
          </a:p>
        </p:txBody>
      </p:sp>
      <p:sp>
        <p:nvSpPr>
          <p:cNvPr id="162" name="TextBox 161"/>
          <p:cNvSpPr txBox="1"/>
          <p:nvPr/>
        </p:nvSpPr>
        <p:spPr>
          <a:xfrm>
            <a:off x="10104120" y="8531351"/>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183,3</a:t>
            </a:r>
          </a:p>
        </p:txBody>
      </p:sp>
      <p:sp>
        <p:nvSpPr>
          <p:cNvPr id="163" name="TextBox 162"/>
          <p:cNvSpPr txBox="1"/>
          <p:nvPr/>
        </p:nvSpPr>
        <p:spPr>
          <a:xfrm>
            <a:off x="11567160" y="8531351"/>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79,0</a:t>
            </a:r>
          </a:p>
        </p:txBody>
      </p:sp>
      <p:sp>
        <p:nvSpPr>
          <p:cNvPr id="164" name="TextBox 163"/>
          <p:cNvSpPr txBox="1"/>
          <p:nvPr/>
        </p:nvSpPr>
        <p:spPr>
          <a:xfrm>
            <a:off x="1293876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165" name="TextBox 164"/>
          <p:cNvSpPr txBox="1"/>
          <p:nvPr/>
        </p:nvSpPr>
        <p:spPr>
          <a:xfrm>
            <a:off x="14493240" y="8531351"/>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−0,03</a:t>
            </a:r>
          </a:p>
        </p:txBody>
      </p:sp>
      <p:sp>
        <p:nvSpPr>
          <p:cNvPr id="166" name="TextBox 165"/>
          <p:cNvSpPr txBox="1"/>
          <p:nvPr/>
        </p:nvSpPr>
        <p:spPr>
          <a:xfrm>
            <a:off x="1577340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167" name="Connector 166"/>
          <p:cNvCxnSpPr/>
          <p:nvPr/>
        </p:nvCxnSpPr>
        <p:spPr>
          <a:xfrm>
            <a:off x="960120" y="8869679"/>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960120" y="8869679"/>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960120" y="901598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Evaluación fuera de muestra, febrero a agosto de 2025. Las fórmulas de cada métrica están en los anexos A4 a A6.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error relativo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33</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WAPE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Weighted Absolute Percentage Error  ·  métrica rectora del estudio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wape.png"/>
          <p:cNvPicPr>
            <a:picLocks noChangeAspect="1"/>
          </p:cNvPicPr>
          <p:nvPr/>
        </p:nvPicPr>
        <p:blipFill>
          <a:blip r:embed="rId2"/>
          <a:stretch>
            <a:fillRect/>
          </a:stretch>
        </p:blipFill>
        <p:spPr>
          <a:xfrm>
            <a:off x="3386244" y="3182112"/>
            <a:ext cx="301159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 en unidades vendidas</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suma sobre los n meses del horizonte de evaluación</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de meses evaluados: 7 en la prueba ciega</a:t>
            </a:r>
          </a:p>
        </p:txBody>
      </p:sp>
      <p:cxnSp>
        <p:nvCxnSpPr>
          <p:cNvPr id="27" name="Connector 26"/>
          <p:cNvCxnSpPr/>
          <p:nvPr/>
        </p:nvCxnSpPr>
        <p:spPr>
          <a:xfrm>
            <a:off x="960120" y="67482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05840" y="68031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100 %</a:t>
            </a:r>
          </a:p>
        </p:txBody>
      </p:sp>
      <p:sp>
        <p:nvSpPr>
          <p:cNvPr id="29" name="TextBox 28"/>
          <p:cNvSpPr txBox="1"/>
          <p:nvPr/>
        </p:nvSpPr>
        <p:spPr>
          <a:xfrm>
            <a:off x="2240280" y="68031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expresa el resultado como porcentaje del volumen vendido</a:t>
            </a:r>
          </a:p>
        </p:txBody>
      </p:sp>
      <p:cxnSp>
        <p:nvCxnSpPr>
          <p:cNvPr id="30" name="Connector 29"/>
          <p:cNvCxnSpPr/>
          <p:nvPr/>
        </p:nvCxnSpPr>
        <p:spPr>
          <a:xfrm>
            <a:off x="960120" y="72603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0120" y="7498079"/>
            <a:ext cx="7863840" cy="1664208"/>
          </a:xfrm>
          <a:prstGeom prst="roundRect">
            <a:avLst>
              <a:gd name="adj" fmla="val 302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960120" y="7498079"/>
            <a:ext cx="68580" cy="16642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325880" y="7735823"/>
            <a:ext cx="7205472" cy="11887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Suma todos los errores y los divide por el volumen total vendido: es inmune a la división por cero. Un WAPE de 16,10 % significa que el error acumulado equivale al 16,10 % de las unidades vendidas.</a:t>
            </a:r>
          </a:p>
        </p:txBody>
      </p:sp>
      <p:cxnSp>
        <p:nvCxnSpPr>
          <p:cNvPr id="34" name="Connector 33"/>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MAPE</a:t>
            </a:r>
          </a:p>
        </p:txBody>
      </p:sp>
      <p:sp>
        <p:nvSpPr>
          <p:cNvPr id="36" name="TextBox 35"/>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Percentage Error  ·  reportado en su variante simétrica</a:t>
            </a:r>
          </a:p>
        </p:txBody>
      </p:sp>
      <p:sp>
        <p:nvSpPr>
          <p:cNvPr id="37" name="Rounded Rectangle 36"/>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mape.png"/>
          <p:cNvPicPr>
            <a:picLocks noChangeAspect="1"/>
          </p:cNvPicPr>
          <p:nvPr/>
        </p:nvPicPr>
        <p:blipFill>
          <a:blip r:embed="rId3"/>
          <a:stretch>
            <a:fillRect/>
          </a:stretch>
        </p:blipFill>
        <p:spPr>
          <a:xfrm>
            <a:off x="10826936" y="3182112"/>
            <a:ext cx="5138046" cy="1197864"/>
          </a:xfrm>
          <a:prstGeom prst="rect">
            <a:avLst/>
          </a:prstGeom>
        </p:spPr>
      </p:pic>
      <p:sp>
        <p:nvSpPr>
          <p:cNvPr id="39" name="TextBox 38"/>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40" name="Connector 39"/>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42" name="TextBox 41"/>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3" name="Connector 42"/>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5" name="TextBox 44"/>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6" name="Connector 45"/>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48" name="TextBox 47"/>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conjunto de meses con demanda estrictamente positiva</a:t>
            </a:r>
          </a:p>
        </p:txBody>
      </p:sp>
      <p:cxnSp>
        <p:nvCxnSpPr>
          <p:cNvPr id="49" name="Connector 48"/>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51" name="TextBox 50"/>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cantidad de esos meses: el promedio se calcula solo sobre ellos</a:t>
            </a:r>
          </a:p>
        </p:txBody>
      </p:sp>
      <p:cxnSp>
        <p:nvCxnSpPr>
          <p:cNvPr id="52" name="Connector 51"/>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Rectangle 53"/>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TextBox 54"/>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Promedia el error relativo mes a mes. Con demanda cero se indetermina y con demanda baja se dispara: SARIMA llega a un sMAPE de 309,88 % pese a un WAPE de 76,74 %.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escala absoluta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34</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MAE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Error  ·  error promedio en unidades físicas</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mae.png"/>
          <p:cNvPicPr>
            <a:picLocks noChangeAspect="1"/>
          </p:cNvPicPr>
          <p:nvPr/>
        </p:nvPicPr>
        <p:blipFill>
          <a:blip r:embed="rId2"/>
          <a:stretch>
            <a:fillRect/>
          </a:stretch>
        </p:blipFill>
        <p:spPr>
          <a:xfrm>
            <a:off x="3307279" y="3182112"/>
            <a:ext cx="316952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valor absoluto: ignora si el modelo sobrestimó o subestimó</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total de observaciones evaluadas</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Error promedio expresado en prendas. Alimenta el cálculo del stock de seguridad: 11,4 unidades por SKU frente a 54,2 de SARIMA, y esa diferencia es la que libera capital.</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RMSE</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Root Mean Squared Error  ·  penaliza los errores grandes</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mse.png"/>
          <p:cNvPicPr>
            <a:picLocks noChangeAspect="1"/>
          </p:cNvPicPr>
          <p:nvPr/>
        </p:nvPicPr>
        <p:blipFill>
          <a:blip r:embed="rId3"/>
          <a:stretch>
            <a:fillRect/>
          </a:stretch>
        </p:blipFill>
        <p:spPr>
          <a:xfrm>
            <a:off x="11659687" y="3182112"/>
            <a:ext cx="3472544"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)²</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eleva al cuadrado: castiga con más fuerza las desviaciones grandes</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raíz</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devuelve el resultado a las unidades originales</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Al castigar los errores grandes, delata a los modelos que aciertan casi siempre pero fallan feo en los peaks de campaña. El ES-GBM obtiene 26,7 unidades frente a 139,6 de SARIMA.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calibración y bondad de ajuste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35</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B07800"/>
                </a:solidFill>
                <a:latin typeface="Open Sans"/>
              </a:rPr>
              <a:t>Bias</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Sesgo porcentual  ·  hacia qué lado se equivoca el modelo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bias.png"/>
          <p:cNvPicPr>
            <a:picLocks noChangeAspect="1"/>
          </p:cNvPicPr>
          <p:nvPr/>
        </p:nvPicPr>
        <p:blipFill>
          <a:blip r:embed="rId2"/>
          <a:stretch>
            <a:fillRect/>
          </a:stretch>
        </p:blipFill>
        <p:spPr>
          <a:xfrm>
            <a:off x="3539681" y="3182112"/>
            <a:ext cx="2704717"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 − 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diferencia con signo entre pronóstico y demanda real</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sobreestimación sistemática: riesgo de sobre-stock</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subestimación sistemática: riesgo de quiebre</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 y</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volumen total vendido, para expresarlo como porcentaje</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Un buen modelo combina WAPE bajo con sesgo cercano a cero. El ES-GBM tiene −4,8 %: subestima levemente, que en gestión de inventario es el error más barato de los dos.</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R²</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Coeficiente de determinación  ·  cuánta varianza explica el modelo</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2.png"/>
          <p:cNvPicPr>
            <a:picLocks noChangeAspect="1"/>
          </p:cNvPicPr>
          <p:nvPr/>
        </p:nvPicPr>
        <p:blipFill>
          <a:blip r:embed="rId3"/>
          <a:stretch>
            <a:fillRect/>
          </a:stretch>
        </p:blipFill>
        <p:spPr>
          <a:xfrm>
            <a:off x="12299681" y="3182112"/>
            <a:ext cx="2192556"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media</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promedio del período: la y con barra en la fórmula</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1 −</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resta la varianza no explicada sobre la varianza total</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Proporción de la variabilidad de la demanda que el modelo explica. El ES-GBM alcanza 0,95 a nivel SKU y 0,96 a nivel familia; SARIMA queda en terreno negativo, es decir, predice peor que usar el promedio.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Ficha técnica del pipeline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36</a:t>
            </a:r>
          </a:p>
        </p:txBody>
      </p:sp>
      <p:sp>
        <p:nvSpPr>
          <p:cNvPr id="10" name="Rounded Rectangle 9"/>
          <p:cNvSpPr/>
          <p:nvPr/>
        </p:nvSpPr>
        <p:spPr>
          <a:xfrm>
            <a:off x="960120"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1148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Horizonte de pronóstico</a:t>
            </a:r>
          </a:p>
          <a:p>
            <a:pPr algn="l">
              <a:lnSpc>
                <a:spcPct val="116000"/>
              </a:lnSpc>
              <a:spcBef>
                <a:spcPts val="0"/>
              </a:spcBef>
              <a:spcAft>
                <a:spcPts val="200"/>
              </a:spcAft>
            </a:pPr>
            <a:r>
              <a:rPr sz="1360" b="1" i="0">
                <a:solidFill>
                  <a:srgbClr val="13161B"/>
                </a:solidFill>
                <a:latin typeface="Open Sans"/>
              </a:rPr>
              <a:t>h = 1 mes</a:t>
            </a:r>
          </a:p>
          <a:p>
            <a:pPr algn="l">
              <a:lnSpc>
                <a:spcPct val="120000"/>
              </a:lnSpc>
              <a:spcBef>
                <a:spcPts val="0"/>
              </a:spcBef>
              <a:spcAft>
                <a:spcPts val="0"/>
              </a:spcAft>
            </a:pPr>
            <a:r>
              <a:rPr sz="1300" b="0" i="0">
                <a:solidFill>
                  <a:srgbClr val="394049"/>
                </a:solidFill>
                <a:latin typeface="Open Sans"/>
              </a:rPr>
              <a:t>Cada predicción es a un mes vista, no a seis.</a:t>
            </a:r>
          </a:p>
          <a:p>
            <a:pPr algn="l">
              <a:lnSpc>
                <a:spcPct val="116000"/>
              </a:lnSpc>
              <a:spcBef>
                <a:spcPts val="800"/>
              </a:spcBef>
              <a:spcAft>
                <a:spcPts val="200"/>
              </a:spcAft>
            </a:pPr>
            <a:r>
              <a:rPr sz="1360" b="1" i="0">
                <a:solidFill>
                  <a:srgbClr val="13161B"/>
                </a:solidFill>
                <a:latin typeface="Open Sans"/>
              </a:rPr>
              <a:t>7 orígenes encadenados</a:t>
            </a:r>
          </a:p>
          <a:p>
            <a:pPr algn="l">
              <a:lnSpc>
                <a:spcPct val="120000"/>
              </a:lnSpc>
              <a:spcBef>
                <a:spcPts val="0"/>
              </a:spcBef>
              <a:spcAft>
                <a:spcPts val="0"/>
              </a:spcAft>
            </a:pPr>
            <a:r>
              <a:rPr sz="1300" b="0" i="0">
                <a:solidFill>
                  <a:srgbClr val="394049"/>
                </a:solidFill>
                <a:latin typeface="Open Sans"/>
              </a:rPr>
              <a:t>La prueba ciega recorre febrero a agosto de 2025 avanzando mes a mes.</a:t>
            </a:r>
          </a:p>
          <a:p>
            <a:pPr algn="l">
              <a:lnSpc>
                <a:spcPct val="116000"/>
              </a:lnSpc>
              <a:spcBef>
                <a:spcPts val="800"/>
              </a:spcBef>
              <a:spcAft>
                <a:spcPts val="200"/>
              </a:spcAft>
            </a:pPr>
            <a:r>
              <a:rPr sz="1360" b="1" i="0">
                <a:solidFill>
                  <a:srgbClr val="13161B"/>
                </a:solidFill>
                <a:latin typeface="Open Sans"/>
              </a:rPr>
              <a:t>Extensión pendiente</a:t>
            </a:r>
          </a:p>
          <a:p>
            <a:pPr algn="l">
              <a:lnSpc>
                <a:spcPct val="120000"/>
              </a:lnSpc>
              <a:spcBef>
                <a:spcPts val="0"/>
              </a:spcBef>
              <a:spcAft>
                <a:spcPts val="0"/>
              </a:spcAft>
            </a:pPr>
            <a:r>
              <a:rPr sz="1300" b="0" i="0">
                <a:solidFill>
                  <a:srgbClr val="394049"/>
                </a:solidFill>
                <a:latin typeface="Open Sans"/>
              </a:rPr>
              <a:t>Evaluar h = 3 y h = 6 para el ciclo de compra marítimo.</a:t>
            </a:r>
          </a:p>
        </p:txBody>
      </p:sp>
      <p:sp>
        <p:nvSpPr>
          <p:cNvPr id="13" name="Rounded Rectangle 12"/>
          <p:cNvSpPr/>
          <p:nvPr/>
        </p:nvSpPr>
        <p:spPr>
          <a:xfrm>
            <a:off x="6519672"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41148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 rolling-origin</a:t>
            </a:r>
          </a:p>
          <a:p>
            <a:pPr algn="l">
              <a:lnSpc>
                <a:spcPct val="116000"/>
              </a:lnSpc>
              <a:spcBef>
                <a:spcPts val="0"/>
              </a:spcBef>
              <a:spcAft>
                <a:spcPts val="200"/>
              </a:spcAft>
            </a:pPr>
            <a:r>
              <a:rPr sz="1360" b="1" i="0">
                <a:solidFill>
                  <a:srgbClr val="13161B"/>
                </a:solidFill>
                <a:latin typeface="Open Sans"/>
              </a:rPr>
              <a:t>Walk-forward</a:t>
            </a:r>
          </a:p>
          <a:p>
            <a:pPr algn="l">
              <a:lnSpc>
                <a:spcPct val="120000"/>
              </a:lnSpc>
              <a:spcBef>
                <a:spcPts val="0"/>
              </a:spcBef>
              <a:spcAft>
                <a:spcPts val="0"/>
              </a:spcAft>
            </a:pPr>
            <a:r>
              <a:rPr sz="1300" b="0" i="0">
                <a:solidFill>
                  <a:srgbClr val="394049"/>
                </a:solidFill>
                <a:latin typeface="Open Sans"/>
              </a:rPr>
              <a:t>El origen se desplaza en el tiempo; nunca se usa información posterior al punto de corte.</a:t>
            </a:r>
          </a:p>
          <a:p>
            <a:pPr algn="l">
              <a:lnSpc>
                <a:spcPct val="116000"/>
              </a:lnSpc>
              <a:spcBef>
                <a:spcPts val="800"/>
              </a:spcBef>
              <a:spcAft>
                <a:spcPts val="200"/>
              </a:spcAft>
            </a:pPr>
            <a:r>
              <a:rPr sz="1360" b="1" i="0">
                <a:solidFill>
                  <a:srgbClr val="13161B"/>
                </a:solidFill>
                <a:latin typeface="Open Sans"/>
              </a:rPr>
              <a:t>C1 = marzo 2024</a:t>
            </a:r>
          </a:p>
          <a:p>
            <a:pPr algn="l">
              <a:lnSpc>
                <a:spcPct val="120000"/>
              </a:lnSpc>
              <a:spcBef>
                <a:spcPts val="0"/>
              </a:spcBef>
              <a:spcAft>
                <a:spcPts val="0"/>
              </a:spcAft>
            </a:pPr>
            <a:r>
              <a:rPr sz="1300" b="0" i="0">
                <a:solidFill>
                  <a:srgbClr val="394049"/>
                </a:solidFill>
                <a:latin typeface="Open Sans"/>
              </a:rPr>
              <a:t>Inicio de la ventana que calibra el ensamble, los pesos NNLS y el ruteo.</a:t>
            </a:r>
          </a:p>
          <a:p>
            <a:pPr algn="l">
              <a:lnSpc>
                <a:spcPct val="116000"/>
              </a:lnSpc>
              <a:spcBef>
                <a:spcPts val="800"/>
              </a:spcBef>
              <a:spcAft>
                <a:spcPts val="200"/>
              </a:spcAft>
            </a:pPr>
            <a:r>
              <a:rPr sz="1360" b="1" i="0">
                <a:solidFill>
                  <a:srgbClr val="13161B"/>
                </a:solidFill>
                <a:latin typeface="Open Sans"/>
              </a:rPr>
              <a:t>CUT = enero 2025</a:t>
            </a:r>
          </a:p>
          <a:p>
            <a:pPr algn="l">
              <a:lnSpc>
                <a:spcPct val="120000"/>
              </a:lnSpc>
              <a:spcBef>
                <a:spcPts val="0"/>
              </a:spcBef>
              <a:spcAft>
                <a:spcPts val="0"/>
              </a:spcAft>
            </a:pPr>
            <a:r>
              <a:rPr sz="1300" b="0" i="0">
                <a:solidFill>
                  <a:srgbClr val="394049"/>
                </a:solidFill>
                <a:latin typeface="Open Sans"/>
              </a:rPr>
              <a:t>Corte que separa definitivamente entrenamiento de prueba.</a:t>
            </a:r>
          </a:p>
        </p:txBody>
      </p:sp>
      <p:sp>
        <p:nvSpPr>
          <p:cNvPr id="16" name="Rounded Rectangle 15"/>
          <p:cNvSpPr/>
          <p:nvPr/>
        </p:nvSpPr>
        <p:spPr>
          <a:xfrm>
            <a:off x="12079224"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41148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se actualiza y qué se congela</a:t>
            </a:r>
          </a:p>
          <a:p>
            <a:pPr algn="l">
              <a:lnSpc>
                <a:spcPct val="116000"/>
              </a:lnSpc>
              <a:spcBef>
                <a:spcPts val="0"/>
              </a:spcBef>
              <a:spcAft>
                <a:spcPts val="200"/>
              </a:spcAft>
            </a:pPr>
            <a:r>
              <a:rPr sz="1360" b="1" i="0">
                <a:solidFill>
                  <a:srgbClr val="13161B"/>
                </a:solidFill>
                <a:latin typeface="Open Sans"/>
              </a:rPr>
              <a:t>Se actualiza</a:t>
            </a:r>
          </a:p>
          <a:p>
            <a:pPr algn="l">
              <a:lnSpc>
                <a:spcPct val="120000"/>
              </a:lnSpc>
              <a:spcBef>
                <a:spcPts val="0"/>
              </a:spcBef>
              <a:spcAft>
                <a:spcPts val="0"/>
              </a:spcAft>
            </a:pPr>
            <a:r>
              <a:rPr sz="1300" b="0" i="0">
                <a:solidFill>
                  <a:srgbClr val="394049"/>
                </a:solidFill>
                <a:latin typeface="Open Sans"/>
              </a:rPr>
              <a:t>El nivel base de Holt se recalcula mes a mes con la historia hasta t−1.</a:t>
            </a:r>
          </a:p>
          <a:p>
            <a:pPr algn="l">
              <a:lnSpc>
                <a:spcPct val="116000"/>
              </a:lnSpc>
              <a:spcBef>
                <a:spcPts val="800"/>
              </a:spcBef>
              <a:spcAft>
                <a:spcPts val="200"/>
              </a:spcAft>
            </a:pPr>
            <a:r>
              <a:rPr sz="1360" b="1" i="0">
                <a:solidFill>
                  <a:srgbClr val="13161B"/>
                </a:solidFill>
                <a:latin typeface="Open Sans"/>
              </a:rPr>
              <a:t>Se congela</a:t>
            </a:r>
          </a:p>
          <a:p>
            <a:pPr algn="l">
              <a:lnSpc>
                <a:spcPct val="120000"/>
              </a:lnSpc>
              <a:spcBef>
                <a:spcPts val="0"/>
              </a:spcBef>
              <a:spcAft>
                <a:spcPts val="0"/>
              </a:spcAft>
            </a:pPr>
            <a:r>
              <a:rPr sz="1300" b="0" i="0">
                <a:solidFill>
                  <a:srgbClr val="394049"/>
                </a:solidFill>
                <a:latin typeface="Open Sans"/>
              </a:rPr>
              <a:t>Modelos GBDT, pesos NNLS, umbral de ruteo y cuotas quedan fijos desde el corte.</a:t>
            </a:r>
          </a:p>
          <a:p>
            <a:pPr algn="l">
              <a:lnSpc>
                <a:spcPct val="116000"/>
              </a:lnSpc>
              <a:spcBef>
                <a:spcPts val="800"/>
              </a:spcBef>
              <a:spcAft>
                <a:spcPts val="200"/>
              </a:spcAft>
            </a:pPr>
            <a:r>
              <a:rPr sz="1360" b="1" i="0">
                <a:solidFill>
                  <a:srgbClr val="13161B"/>
                </a:solidFill>
                <a:latin typeface="Open Sans"/>
              </a:rPr>
              <a:t>Por qué</a:t>
            </a:r>
          </a:p>
          <a:p>
            <a:pPr algn="l">
              <a:lnSpc>
                <a:spcPct val="120000"/>
              </a:lnSpc>
              <a:spcBef>
                <a:spcPts val="0"/>
              </a:spcBef>
              <a:spcAft>
                <a:spcPts val="0"/>
              </a:spcAft>
            </a:pPr>
            <a:r>
              <a:rPr sz="1300" b="0" i="0">
                <a:solidFill>
                  <a:srgbClr val="394049"/>
                </a:solidFill>
                <a:latin typeface="Open Sans"/>
              </a:rPr>
              <a:t>Reentrenar cada mes tiene fricción real y riesgo de sobrerreaccionar a anomalías.</a:t>
            </a:r>
          </a:p>
        </p:txBody>
      </p:sp>
      <p:sp>
        <p:nvSpPr>
          <p:cNvPr id="19" name="Rounded Rectangle 18"/>
          <p:cNvSpPr/>
          <p:nvPr/>
        </p:nvSpPr>
        <p:spPr>
          <a:xfrm>
            <a:off x="960120" y="6638544"/>
            <a:ext cx="7863840" cy="1481328"/>
          </a:xfrm>
          <a:prstGeom prst="roundRect">
            <a:avLst>
              <a:gd name="adj" fmla="val 339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638544"/>
            <a:ext cx="68580" cy="14813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344168" y="6894576"/>
            <a:ext cx="7168896" cy="969264"/>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Reproducibilidad</a:t>
            </a:r>
          </a:p>
          <a:p>
            <a:pPr algn="l">
              <a:lnSpc>
                <a:spcPct val="120000"/>
              </a:lnSpc>
              <a:spcBef>
                <a:spcPts val="0"/>
              </a:spcBef>
              <a:spcAft>
                <a:spcPts val="0"/>
              </a:spcAft>
            </a:pPr>
            <a:r>
              <a:rPr sz="1320" b="0" i="0">
                <a:solidFill>
                  <a:srgbClr val="394049"/>
                </a:solidFill>
                <a:latin typeface="Open Sans"/>
              </a:rPr>
              <a:t>Cada modelo se entrena con 8 semillas —42, 1, 7, 2025, 99, 3, 11 y 21— y se promedian las inferencias; se fijan versiones de librerías y parámetros de ejecución.</a:t>
            </a:r>
          </a:p>
        </p:txBody>
      </p:sp>
      <p:sp>
        <p:nvSpPr>
          <p:cNvPr id="22" name="Rounded Rectangle 21"/>
          <p:cNvSpPr/>
          <p:nvPr/>
        </p:nvSpPr>
        <p:spPr>
          <a:xfrm>
            <a:off x="9464040" y="6638544"/>
            <a:ext cx="7863840" cy="1481328"/>
          </a:xfrm>
          <a:prstGeom prst="roundRect">
            <a:avLst>
              <a:gd name="adj" fmla="val 339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464040" y="6638544"/>
            <a:ext cx="68580" cy="148132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848088" y="6894576"/>
            <a:ext cx="7168896" cy="969264"/>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Qué prueba realmente este diseño</a:t>
            </a:r>
          </a:p>
          <a:p>
            <a:pPr algn="l">
              <a:lnSpc>
                <a:spcPct val="120000"/>
              </a:lnSpc>
              <a:spcBef>
                <a:spcPts val="0"/>
              </a:spcBef>
              <a:spcAft>
                <a:spcPts val="0"/>
              </a:spcAft>
            </a:pPr>
            <a:r>
              <a:rPr sz="1320" b="0" i="0">
                <a:solidFill>
                  <a:srgbClr val="394049"/>
                </a:solidFill>
                <a:latin typeface="Open Sans"/>
              </a:rPr>
              <a:t>Evaluar siete meses con los pesos congelados somete la arquitectura a una prueba de estrés frente al cambio de régimen, en lugar de premiarla por reajustarse.</a:t>
            </a:r>
          </a:p>
        </p:txBody>
      </p:sp>
      <p:sp>
        <p:nvSpPr>
          <p:cNvPr id="25" name="Rectangle 24"/>
          <p:cNvSpPr/>
          <p:nvPr/>
        </p:nvSpPr>
        <p:spPr>
          <a:xfrm>
            <a:off x="960120" y="8412480"/>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960120" y="8650224"/>
            <a:ext cx="16367759" cy="676656"/>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El 16,10 % no se obtuvo reentrenando cada mes: se obtuvo con una calibración única anterior a enero de 2025 sostenida durante siete meses.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A8</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trató la intermitencia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37</a:t>
            </a:r>
          </a:p>
        </p:txBody>
      </p:sp>
      <p:sp>
        <p:nvSpPr>
          <p:cNvPr id="10" name="Rounded Rectangle 9"/>
          <p:cNvSpPr/>
          <p:nvPr/>
        </p:nvSpPr>
        <p:spPr>
          <a:xfrm>
            <a:off x="960120" y="2249424"/>
            <a:ext cx="5239512" cy="1938528"/>
          </a:xfrm>
          <a:prstGeom prst="roundRect">
            <a:avLst>
              <a:gd name="adj" fmla="val 2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38528"/>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34,8 %</a:t>
            </a:r>
          </a:p>
          <a:p>
            <a:pPr algn="l">
              <a:lnSpc>
                <a:spcPct val="120000"/>
              </a:lnSpc>
              <a:spcBef>
                <a:spcPts val="0"/>
              </a:spcBef>
              <a:spcAft>
                <a:spcPts val="0"/>
              </a:spcAft>
            </a:pPr>
            <a:r>
              <a:rPr sz="1300" b="0" i="0">
                <a:solidFill>
                  <a:srgbClr val="394049"/>
                </a:solidFill>
                <a:latin typeface="Open Sans"/>
              </a:rPr>
              <a:t>de los meses a nivel SKU tienen demanda nula</a:t>
            </a:r>
          </a:p>
          <a:p>
            <a:pPr algn="l">
              <a:lnSpc>
                <a:spcPct val="115000"/>
              </a:lnSpc>
              <a:spcBef>
                <a:spcPts val="400"/>
              </a:spcBef>
              <a:spcAft>
                <a:spcPts val="0"/>
              </a:spcAft>
            </a:pPr>
            <a:r>
              <a:rPr sz="1150" b="0" i="0">
                <a:solidFill>
                  <a:srgbClr val="9AA1A9"/>
                </a:solidFill>
                <a:latin typeface="Open Sans"/>
              </a:rPr>
              <a:t>A nivel familia las series son densas y continuas</a:t>
            </a:r>
          </a:p>
        </p:txBody>
      </p:sp>
      <p:sp>
        <p:nvSpPr>
          <p:cNvPr id="12" name="Rounded Rectangle 11"/>
          <p:cNvSpPr/>
          <p:nvPr/>
        </p:nvSpPr>
        <p:spPr>
          <a:xfrm>
            <a:off x="6519672" y="2249424"/>
            <a:ext cx="10808208" cy="1938528"/>
          </a:xfrm>
          <a:prstGeom prst="roundRect">
            <a:avLst>
              <a:gd name="adj" fmla="val 2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519672" y="2249424"/>
            <a:ext cx="68580" cy="193852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976872" y="2578608"/>
            <a:ext cx="9966960" cy="1280160"/>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Zero-filling: lo que sí se hizo</a:t>
            </a:r>
          </a:p>
          <a:p>
            <a:pPr algn="l">
              <a:lnSpc>
                <a:spcPct val="122000"/>
              </a:lnSpc>
              <a:spcBef>
                <a:spcPts val="0"/>
              </a:spcBef>
              <a:spcAft>
                <a:spcPts val="0"/>
              </a:spcAft>
            </a:pPr>
            <a:r>
              <a:rPr sz="1350" b="0" i="0">
                <a:solidFill>
                  <a:srgbClr val="394049"/>
                </a:solidFill>
                <a:latin typeface="Open Sans"/>
              </a:rPr>
              <a:t>El ERP no guarda una fila cuando no hay venta: simplemente la omite. Se generó el producto cartesiano de todos los meses por cada SKU y familia, asignando explícitamente demanda cero en los períodos sin movimiento, para poder calcular rezagos y medias móviles consistentes.</a:t>
            </a:r>
          </a:p>
        </p:txBody>
      </p:sp>
      <p:sp>
        <p:nvSpPr>
          <p:cNvPr id="15" name="Rounded Rectangle 14"/>
          <p:cNvSpPr/>
          <p:nvPr/>
        </p:nvSpPr>
        <p:spPr>
          <a:xfrm>
            <a:off x="960120"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imputó la media</a:t>
            </a:r>
          </a:p>
          <a:p>
            <a:pPr algn="l">
              <a:lnSpc>
                <a:spcPct val="122000"/>
              </a:lnSpc>
              <a:spcBef>
                <a:spcPts val="0"/>
              </a:spcBef>
              <a:spcAft>
                <a:spcPts val="0"/>
              </a:spcAft>
            </a:pPr>
            <a:r>
              <a:rPr sz="1320" b="0" i="0">
                <a:solidFill>
                  <a:srgbClr val="394049"/>
                </a:solidFill>
                <a:latin typeface="Open Sans"/>
              </a:rPr>
              <a:t>Sustituir los ceros por un promedio inventaría demanda que nunca existió y aplanaría la estacionalidad real.</a:t>
            </a:r>
          </a:p>
        </p:txBody>
      </p:sp>
      <p:sp>
        <p:nvSpPr>
          <p:cNvPr id="18" name="Rounded Rectangle 17"/>
          <p:cNvSpPr/>
          <p:nvPr/>
        </p:nvSpPr>
        <p:spPr>
          <a:xfrm>
            <a:off x="6519672"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519672"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76872"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interpoló</a:t>
            </a:r>
          </a:p>
          <a:p>
            <a:pPr algn="l">
              <a:lnSpc>
                <a:spcPct val="122000"/>
              </a:lnSpc>
              <a:spcBef>
                <a:spcPts val="0"/>
              </a:spcBef>
              <a:spcAft>
                <a:spcPts val="0"/>
              </a:spcAft>
            </a:pPr>
            <a:r>
              <a:rPr sz="1320" b="0" i="0">
                <a:solidFill>
                  <a:srgbClr val="394049"/>
                </a:solidFill>
                <a:latin typeface="Open Sans"/>
              </a:rPr>
              <a:t>Interpolar entre meses con venta suavizaría artificialmente el patrón intermitente que justamente se quiere modelar.</a:t>
            </a:r>
          </a:p>
        </p:txBody>
      </p:sp>
      <p:sp>
        <p:nvSpPr>
          <p:cNvPr id="21" name="Rounded Rectangle 20"/>
          <p:cNvSpPr/>
          <p:nvPr/>
        </p:nvSpPr>
        <p:spPr>
          <a:xfrm>
            <a:off x="12079224"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2079224"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536424"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eliminaron los ceros</a:t>
            </a:r>
          </a:p>
          <a:p>
            <a:pPr algn="l">
              <a:lnSpc>
                <a:spcPct val="122000"/>
              </a:lnSpc>
              <a:spcBef>
                <a:spcPts val="0"/>
              </a:spcBef>
              <a:spcAft>
                <a:spcPts val="0"/>
              </a:spcAft>
            </a:pPr>
            <a:r>
              <a:rPr sz="1320" b="0" i="0">
                <a:solidFill>
                  <a:srgbClr val="394049"/>
                </a:solidFill>
                <a:latin typeface="Open Sans"/>
              </a:rPr>
              <a:t>Un cero no es un dato faltante: es la observación de que ese mes no hubo venta, y esa información es predictiva.</a:t>
            </a:r>
          </a:p>
        </p:txBody>
      </p:sp>
      <p:sp>
        <p:nvSpPr>
          <p:cNvPr id="24" name="Rounded Rectangle 23"/>
          <p:cNvSpPr/>
          <p:nvPr/>
        </p:nvSpPr>
        <p:spPr>
          <a:xfrm>
            <a:off x="960120" y="6931152"/>
            <a:ext cx="16367759" cy="1691640"/>
          </a:xfrm>
          <a:prstGeom prst="roundRect">
            <a:avLst>
              <a:gd name="adj" fmla="val 297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960120" y="6931152"/>
            <a:ext cx="68580" cy="16916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417320" y="7260336"/>
            <a:ext cx="15526512" cy="10332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Entonces, ¿cómo se resuelve la intermitencia?</a:t>
            </a:r>
          </a:p>
          <a:p>
            <a:pPr algn="l">
              <a:lnSpc>
                <a:spcPct val="124000"/>
              </a:lnSpc>
              <a:spcBef>
                <a:spcPts val="0"/>
              </a:spcBef>
              <a:spcAft>
                <a:spcPts val="0"/>
              </a:spcAft>
            </a:pPr>
            <a:r>
              <a:rPr sz="1400" b="0" i="0">
                <a:solidFill>
                  <a:srgbClr val="394049"/>
                </a:solidFill>
                <a:latin typeface="Open Sans"/>
              </a:rPr>
              <a:t>Por arquitectura, no por imputación. Se pronostica en el nivel donde la serie es continua y tiene estacionalidad clara —la familia comercial— y desde ahí se reparte a cada SKU mediante cuotas. El problema del cero deja de ser un problema de modelado y pasa a ser uno de reparto.</a:t>
            </a:r>
          </a:p>
        </p:txBody>
      </p:sp>
      <p:sp>
        <p:nvSpPr>
          <p:cNvPr id="27" name="Rounded Rectangle 26"/>
          <p:cNvSpPr/>
          <p:nvPr/>
        </p:nvSpPr>
        <p:spPr>
          <a:xfrm>
            <a:off x="960120" y="8787384"/>
            <a:ext cx="16367759" cy="502920"/>
          </a:xfrm>
          <a:prstGeom prst="roundRect">
            <a:avLst>
              <a:gd name="adj" fmla="val 1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8787384"/>
            <a:ext cx="15453359" cy="502920"/>
          </a:xfrm>
          <a:prstGeom prst="rect">
            <a:avLst/>
          </a:prstGeom>
          <a:noFill/>
        </p:spPr>
        <p:txBody>
          <a:bodyPr wrap="square" lIns="0" rIns="0" tIns="0" bIns="0" anchor="ctr">
            <a:spAutoFit/>
          </a:bodyPr>
          <a:lstStyle/>
          <a:p>
            <a:pPr algn="ctr">
              <a:lnSpc>
                <a:spcPct val="118000"/>
              </a:lnSpc>
              <a:spcBef>
                <a:spcPts val="0"/>
              </a:spcBef>
              <a:spcAft>
                <a:spcPts val="0"/>
              </a:spcAft>
            </a:pPr>
            <a:r>
              <a:rPr sz="1350" b="0" i="0">
                <a:solidFill>
                  <a:srgbClr val="394049"/>
                </a:solidFill>
                <a:latin typeface="Open Sans"/>
              </a:rPr>
              <a:t>Supuesto declarado: si hay inventario disponible y la venta es cero, se interpreta como demanda cero. Los quiebres de stock son la limitación conocida de ese supuesto.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A9</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Hiperparámetros calibrados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38</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429000" y="2377440"/>
            <a:ext cx="26060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Módulo</a:t>
            </a:r>
          </a:p>
        </p:txBody>
      </p:sp>
      <p:sp>
        <p:nvSpPr>
          <p:cNvPr id="13" name="TextBox 12"/>
          <p:cNvSpPr txBox="1"/>
          <p:nvPr/>
        </p:nvSpPr>
        <p:spPr>
          <a:xfrm>
            <a:off x="6355080" y="2377440"/>
            <a:ext cx="708660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Hiperparámetros</a:t>
            </a:r>
          </a:p>
        </p:txBody>
      </p:sp>
      <p:sp>
        <p:nvSpPr>
          <p:cNvPr id="14" name="TextBox 13"/>
          <p:cNvSpPr txBox="1"/>
          <p:nvPr/>
        </p:nvSpPr>
        <p:spPr>
          <a:xfrm>
            <a:off x="13761720" y="2377440"/>
            <a:ext cx="32461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Función objetivo</a:t>
            </a:r>
          </a:p>
        </p:txBody>
      </p:sp>
      <p:cxnSp>
        <p:nvCxnSpPr>
          <p:cNvPr id="15" name="Connector 14"/>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XGBoost</a:t>
            </a:r>
          </a:p>
        </p:txBody>
      </p:sp>
      <p:sp>
        <p:nvSpPr>
          <p:cNvPr id="17" name="TextBox 16"/>
          <p:cNvSpPr txBox="1"/>
          <p:nvPr/>
        </p:nvSpPr>
        <p:spPr>
          <a:xfrm>
            <a:off x="3429000" y="2852928"/>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Ensamble combo</a:t>
            </a:r>
          </a:p>
        </p:txBody>
      </p:sp>
      <p:sp>
        <p:nvSpPr>
          <p:cNvPr id="18" name="TextBox 17"/>
          <p:cNvSpPr txBox="1"/>
          <p:nvPr/>
        </p:nvSpPr>
        <p:spPr>
          <a:xfrm>
            <a:off x="6355080" y="2852928"/>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max_depth 6 · subsample 0,90 · colsample_bytree 0,90 · n_estimators 500</a:t>
            </a:r>
          </a:p>
        </p:txBody>
      </p:sp>
      <p:sp>
        <p:nvSpPr>
          <p:cNvPr id="19" name="TextBox 18"/>
          <p:cNvSpPr txBox="1"/>
          <p:nvPr/>
        </p:nvSpPr>
        <p:spPr>
          <a:xfrm>
            <a:off x="13761720" y="2852928"/>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reg:squarederror</a:t>
            </a:r>
          </a:p>
        </p:txBody>
      </p:sp>
      <p:cxnSp>
        <p:nvCxnSpPr>
          <p:cNvPr id="20" name="Connector 19"/>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LightGBM</a:t>
            </a:r>
          </a:p>
        </p:txBody>
      </p:sp>
      <p:sp>
        <p:nvSpPr>
          <p:cNvPr id="22" name="TextBox 21"/>
          <p:cNvSpPr txBox="1"/>
          <p:nvPr/>
        </p:nvSpPr>
        <p:spPr>
          <a:xfrm>
            <a:off x="3429000" y="3694176"/>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Residual y ensamble global</a:t>
            </a:r>
          </a:p>
        </p:txBody>
      </p:sp>
      <p:sp>
        <p:nvSpPr>
          <p:cNvPr id="23" name="TextBox 22"/>
          <p:cNvSpPr txBox="1"/>
          <p:nvPr/>
        </p:nvSpPr>
        <p:spPr>
          <a:xfrm>
            <a:off x="6355080" y="3694176"/>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num_leaves 31 · subsample 0,90 · colsample_bytree 0,90 · n_estimators 600</a:t>
            </a:r>
          </a:p>
        </p:txBody>
      </p:sp>
      <p:sp>
        <p:nvSpPr>
          <p:cNvPr id="24" name="TextBox 23"/>
          <p:cNvSpPr txBox="1"/>
          <p:nvPr/>
        </p:nvSpPr>
        <p:spPr>
          <a:xfrm>
            <a:off x="13761720" y="3694176"/>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regression</a:t>
            </a:r>
          </a:p>
        </p:txBody>
      </p:sp>
      <p:cxnSp>
        <p:nvCxnSpPr>
          <p:cNvPr id="25" name="Connector 24"/>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CatBoost</a:t>
            </a:r>
          </a:p>
        </p:txBody>
      </p:sp>
      <p:sp>
        <p:nvSpPr>
          <p:cNvPr id="27" name="TextBox 26"/>
          <p:cNvSpPr txBox="1"/>
          <p:nvPr/>
        </p:nvSpPr>
        <p:spPr>
          <a:xfrm>
            <a:off x="3429000" y="4535424"/>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Módulo categórico</a:t>
            </a:r>
          </a:p>
        </p:txBody>
      </p:sp>
      <p:sp>
        <p:nvSpPr>
          <p:cNvPr id="28" name="TextBox 27"/>
          <p:cNvSpPr txBox="1"/>
          <p:nvPr/>
        </p:nvSpPr>
        <p:spPr>
          <a:xfrm>
            <a:off x="6355080" y="4535424"/>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depth 6 · iterations 600</a:t>
            </a:r>
          </a:p>
        </p:txBody>
      </p:sp>
      <p:sp>
        <p:nvSpPr>
          <p:cNvPr id="29" name="TextBox 28"/>
          <p:cNvSpPr txBox="1"/>
          <p:nvPr/>
        </p:nvSpPr>
        <p:spPr>
          <a:xfrm>
            <a:off x="13761720" y="4535424"/>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RMSE</a:t>
            </a:r>
          </a:p>
        </p:txBody>
      </p:sp>
      <p:cxnSp>
        <p:nvCxnSpPr>
          <p:cNvPr id="30" name="Connector 29"/>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TabPFN</a:t>
            </a:r>
          </a:p>
        </p:txBody>
      </p:sp>
      <p:sp>
        <p:nvSpPr>
          <p:cNvPr id="32" name="TextBox 31"/>
          <p:cNvSpPr txBox="1"/>
          <p:nvPr/>
        </p:nvSpPr>
        <p:spPr>
          <a:xfrm>
            <a:off x="3429000" y="5376672"/>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Fundacional tabular</a:t>
            </a:r>
          </a:p>
        </p:txBody>
      </p:sp>
      <p:sp>
        <p:nvSpPr>
          <p:cNvPr id="33" name="TextBox 32"/>
          <p:cNvSpPr txBox="1"/>
          <p:nvPr/>
        </p:nvSpPr>
        <p:spPr>
          <a:xfrm>
            <a:off x="6355080" y="5376672"/>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TabPFNRegressor v2 · n_estimators 2 · inferencia in-context zero-shot · escalado robusto</a:t>
            </a:r>
          </a:p>
        </p:txBody>
      </p:sp>
      <p:sp>
        <p:nvSpPr>
          <p:cNvPr id="34" name="TextBox 33"/>
          <p:cNvSpPr txBox="1"/>
          <p:nvPr/>
        </p:nvSpPr>
        <p:spPr>
          <a:xfrm>
            <a:off x="13761720" y="5376672"/>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Sin ajuste: zero-shot</a:t>
            </a:r>
          </a:p>
        </p:txBody>
      </p:sp>
      <p:cxnSp>
        <p:nvCxnSpPr>
          <p:cNvPr id="35" name="Connector 34"/>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Motor de cuotas</a:t>
            </a:r>
          </a:p>
        </p:txBody>
      </p:sp>
      <p:sp>
        <p:nvSpPr>
          <p:cNvPr id="37" name="TextBox 36"/>
          <p:cNvSpPr txBox="1"/>
          <p:nvPr/>
        </p:nvSpPr>
        <p:spPr>
          <a:xfrm>
            <a:off x="3429000" y="6217920"/>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Capa 3 · vía dinámica</a:t>
            </a:r>
          </a:p>
        </p:txBody>
      </p:sp>
      <p:sp>
        <p:nvSpPr>
          <p:cNvPr id="38" name="TextBox 37"/>
          <p:cNvSpPr txBox="1"/>
          <p:nvPr/>
        </p:nvSpPr>
        <p:spPr>
          <a:xfrm>
            <a:off x="6355080" y="6217920"/>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LightGBM y XGBoost: n_estimators 500, learning_rate 0,05 · CatBoost por grilla: depth entre 4 y 8, learning_rate 0,03 o 0,05, iterations 600</a:t>
            </a:r>
          </a:p>
        </p:txBody>
      </p:sp>
      <p:sp>
        <p:nvSpPr>
          <p:cNvPr id="39" name="TextBox 38"/>
          <p:cNvSpPr txBox="1"/>
          <p:nvPr/>
        </p:nvSpPr>
        <p:spPr>
          <a:xfrm>
            <a:off x="13761720" y="6217920"/>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Huber (α = 0,9) y normalización al símplex</a:t>
            </a:r>
          </a:p>
        </p:txBody>
      </p:sp>
      <p:cxnSp>
        <p:nvCxnSpPr>
          <p:cNvPr id="40" name="Connector 39"/>
          <p:cNvCxnSpPr/>
          <p:nvPr/>
        </p:nvCxnSpPr>
        <p:spPr>
          <a:xfrm>
            <a:off x="960120" y="7059168"/>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60120" y="7424927"/>
            <a:ext cx="786384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60120" y="7424927"/>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1417320" y="7754111"/>
            <a:ext cx="7022592" cy="9418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Cómo se eligieron</a:t>
            </a:r>
          </a:p>
          <a:p>
            <a:pPr algn="l">
              <a:lnSpc>
                <a:spcPct val="122000"/>
              </a:lnSpc>
              <a:spcBef>
                <a:spcPts val="0"/>
              </a:spcBef>
              <a:spcAft>
                <a:spcPts val="0"/>
              </a:spcAft>
            </a:pPr>
            <a:r>
              <a:rPr sz="1340" b="0" i="0">
                <a:solidFill>
                  <a:srgbClr val="394049"/>
                </a:solidFill>
                <a:latin typeface="Open Sans"/>
              </a:rPr>
              <a:t>Búsqueda en grilla sobre la ventana de validación intermedia (marzo 2024 a enero 2025). Ningún hiperparámetro se ajustó mirando el período de prueba.</a:t>
            </a:r>
          </a:p>
        </p:txBody>
      </p:sp>
      <p:sp>
        <p:nvSpPr>
          <p:cNvPr id="44" name="Rounded Rectangle 43"/>
          <p:cNvSpPr/>
          <p:nvPr/>
        </p:nvSpPr>
        <p:spPr>
          <a:xfrm>
            <a:off x="9464040" y="7424927"/>
            <a:ext cx="786384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Rectangle 44"/>
          <p:cNvSpPr/>
          <p:nvPr/>
        </p:nvSpPr>
        <p:spPr>
          <a:xfrm>
            <a:off x="9464040" y="7424927"/>
            <a:ext cx="68580" cy="16002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921240" y="7754111"/>
            <a:ext cx="7022592" cy="9418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Por qué ocho semillas</a:t>
            </a:r>
          </a:p>
          <a:p>
            <a:pPr algn="l">
              <a:lnSpc>
                <a:spcPct val="122000"/>
              </a:lnSpc>
              <a:spcBef>
                <a:spcPts val="0"/>
              </a:spcBef>
              <a:spcAft>
                <a:spcPts val="0"/>
              </a:spcAft>
            </a:pPr>
            <a:r>
              <a:rPr sz="1340" b="0" i="0">
                <a:solidFill>
                  <a:srgbClr val="394049"/>
                </a:solidFill>
                <a:latin typeface="Open Sans"/>
              </a:rPr>
              <a:t>Cada configuración se entrena con las semillas 42, 1, 7, 2025, 99, 3, 11 y 21, promediando las inferencias: reduce la varianza de inicialización y evita resultados afortunados.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A10</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¿Es estadísticamente significativa la diferencia?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39</a:t>
            </a:r>
          </a:p>
        </p:txBody>
      </p:sp>
      <p:sp>
        <p:nvSpPr>
          <p:cNvPr id="10" name="TextBox 9"/>
          <p:cNvSpPr txBox="1"/>
          <p:nvPr/>
        </p:nvSpPr>
        <p:spPr>
          <a:xfrm>
            <a:off x="960120" y="2212848"/>
            <a:ext cx="16367759" cy="384048"/>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TEST DE DIEBOLD-MARIANO  ·  ES-GBM FRENTE A LOS BENCHMARKS PRIMARIOS</a:t>
            </a:r>
          </a:p>
        </p:txBody>
      </p:sp>
      <p:sp>
        <p:nvSpPr>
          <p:cNvPr id="11" name="Rounded Rectangle 10"/>
          <p:cNvSpPr/>
          <p:nvPr/>
        </p:nvSpPr>
        <p:spPr>
          <a:xfrm>
            <a:off x="960120"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960120"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417320"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SARIMA</a:t>
            </a:r>
          </a:p>
          <a:p>
            <a:pPr algn="l">
              <a:lnSpc>
                <a:spcPct val="100000"/>
              </a:lnSpc>
              <a:spcBef>
                <a:spcPts val="0"/>
              </a:spcBef>
              <a:spcAft>
                <a:spcPts val="200"/>
              </a:spcAft>
            </a:pPr>
            <a:r>
              <a:rPr sz="3000" b="1" i="0">
                <a:solidFill>
                  <a:srgbClr val="005F91"/>
                </a:solidFill>
                <a:latin typeface="Open Sans"/>
              </a:rPr>
              <a:t>t = 7,84</a:t>
            </a:r>
          </a:p>
          <a:p>
            <a:pPr algn="l">
              <a:lnSpc>
                <a:spcPct val="116000"/>
              </a:lnSpc>
              <a:spcBef>
                <a:spcPts val="0"/>
              </a:spcBef>
              <a:spcAft>
                <a:spcPts val="0"/>
              </a:spcAft>
            </a:pPr>
            <a:r>
              <a:rPr sz="1500" b="1" i="0">
                <a:solidFill>
                  <a:srgbClr val="13161B"/>
                </a:solidFill>
                <a:latin typeface="Open Sans"/>
              </a:rPr>
              <a:t>p = 0,0002</a:t>
            </a:r>
          </a:p>
        </p:txBody>
      </p:sp>
      <p:sp>
        <p:nvSpPr>
          <p:cNvPr id="14" name="Rounded Rectangle 13"/>
          <p:cNvSpPr/>
          <p:nvPr/>
        </p:nvSpPr>
        <p:spPr>
          <a:xfrm>
            <a:off x="6519672"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6519672"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976872"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SARIMAX</a:t>
            </a:r>
          </a:p>
          <a:p>
            <a:pPr algn="l">
              <a:lnSpc>
                <a:spcPct val="100000"/>
              </a:lnSpc>
              <a:spcBef>
                <a:spcPts val="0"/>
              </a:spcBef>
              <a:spcAft>
                <a:spcPts val="200"/>
              </a:spcAft>
            </a:pPr>
            <a:r>
              <a:rPr sz="3000" b="1" i="0">
                <a:solidFill>
                  <a:srgbClr val="005F91"/>
                </a:solidFill>
                <a:latin typeface="Open Sans"/>
              </a:rPr>
              <a:t>t = 13,19</a:t>
            </a:r>
          </a:p>
          <a:p>
            <a:pPr algn="l">
              <a:lnSpc>
                <a:spcPct val="116000"/>
              </a:lnSpc>
              <a:spcBef>
                <a:spcPts val="0"/>
              </a:spcBef>
              <a:spcAft>
                <a:spcPts val="0"/>
              </a:spcAft>
            </a:pPr>
            <a:r>
              <a:rPr sz="1500" b="1" i="0">
                <a:solidFill>
                  <a:srgbClr val="13161B"/>
                </a:solidFill>
                <a:latin typeface="Open Sans"/>
              </a:rPr>
              <a:t>p &lt; 0,0001</a:t>
            </a:r>
          </a:p>
        </p:txBody>
      </p:sp>
      <p:sp>
        <p:nvSpPr>
          <p:cNvPr id="17" name="Rounded Rectangle 16"/>
          <p:cNvSpPr/>
          <p:nvPr/>
        </p:nvSpPr>
        <p:spPr>
          <a:xfrm>
            <a:off x="12079224"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12079224"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12536424"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LSTM</a:t>
            </a:r>
          </a:p>
          <a:p>
            <a:pPr algn="l">
              <a:lnSpc>
                <a:spcPct val="100000"/>
              </a:lnSpc>
              <a:spcBef>
                <a:spcPts val="0"/>
              </a:spcBef>
              <a:spcAft>
                <a:spcPts val="200"/>
              </a:spcAft>
            </a:pPr>
            <a:r>
              <a:rPr sz="3000" b="1" i="0">
                <a:solidFill>
                  <a:srgbClr val="005F91"/>
                </a:solidFill>
                <a:latin typeface="Open Sans"/>
              </a:rPr>
              <a:t>t = 10,14</a:t>
            </a:r>
          </a:p>
          <a:p>
            <a:pPr algn="l">
              <a:lnSpc>
                <a:spcPct val="116000"/>
              </a:lnSpc>
              <a:spcBef>
                <a:spcPts val="0"/>
              </a:spcBef>
              <a:spcAft>
                <a:spcPts val="0"/>
              </a:spcAft>
            </a:pPr>
            <a:r>
              <a:rPr sz="1500" b="1" i="0">
                <a:solidFill>
                  <a:srgbClr val="13161B"/>
                </a:solidFill>
                <a:latin typeface="Open Sans"/>
              </a:rPr>
              <a:t>p = 0,0001</a:t>
            </a:r>
          </a:p>
        </p:txBody>
      </p:sp>
      <p:sp>
        <p:nvSpPr>
          <p:cNvPr id="20" name="Rounded Rectangle 19"/>
          <p:cNvSpPr/>
          <p:nvPr/>
        </p:nvSpPr>
        <p:spPr>
          <a:xfrm>
            <a:off x="960120" y="4581144"/>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960120" y="458114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417320" y="491032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contrasta el test</a:t>
            </a:r>
          </a:p>
          <a:p>
            <a:pPr algn="l" marL="274320" indent="-274320">
              <a:lnSpc>
                <a:spcPct val="118000"/>
              </a:lnSpc>
              <a:spcBef>
                <a:spcPts val="0"/>
              </a:spcBef>
              <a:spcAft>
                <a:spcPts val="700"/>
              </a:spcAft>
            </a:pPr>
            <a:r>
              <a:rPr sz="1340" b="0" i="0">
                <a:solidFill>
                  <a:srgbClr val="394049"/>
                </a:solidFill>
                <a:latin typeface="Open Sans"/>
              </a:rPr>
              <a:t>•	Compara la precisión predictiva de dos modelos sobre exactamente los mismos datos.</a:t>
            </a:r>
          </a:p>
          <a:p>
            <a:pPr algn="l" marL="274320" indent="-274320">
              <a:lnSpc>
                <a:spcPct val="118000"/>
              </a:lnSpc>
              <a:spcBef>
                <a:spcPts val="0"/>
              </a:spcBef>
              <a:spcAft>
                <a:spcPts val="0"/>
              </a:spcAft>
            </a:pPr>
            <a:r>
              <a:rPr sz="1340" b="0" i="0">
                <a:solidFill>
                  <a:srgbClr val="394049"/>
                </a:solidFill>
                <a:latin typeface="Open Sans"/>
              </a:rPr>
              <a:t>•	Se aplicó sobre errores transversales agrupados, con función de pérdida cuadrática y corrección HAC.</a:t>
            </a:r>
          </a:p>
        </p:txBody>
      </p:sp>
      <p:sp>
        <p:nvSpPr>
          <p:cNvPr id="23" name="Rounded Rectangle 22"/>
          <p:cNvSpPr/>
          <p:nvPr/>
        </p:nvSpPr>
        <p:spPr>
          <a:xfrm>
            <a:off x="9464040" y="4581144"/>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9464040" y="4581144"/>
            <a:ext cx="68580" cy="22860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921240" y="491032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declarado en la tesis</a:t>
            </a:r>
          </a:p>
          <a:p>
            <a:pPr algn="l" marL="274320" indent="-274320">
              <a:lnSpc>
                <a:spcPct val="118000"/>
              </a:lnSpc>
              <a:spcBef>
                <a:spcPts val="0"/>
              </a:spcBef>
              <a:spcAft>
                <a:spcPts val="700"/>
              </a:spcAft>
            </a:pPr>
            <a:r>
              <a:rPr sz="1340" b="0" i="0">
                <a:solidFill>
                  <a:srgbClr val="394049"/>
                </a:solidFill>
                <a:latin typeface="Open Sans"/>
              </a:rPr>
              <a:t>•	Evalúa diferencias bajo pérdida cuadrática: no es un contraste directo sobre el WAPE, sino un respaldo inferencial consistente.</a:t>
            </a:r>
          </a:p>
          <a:p>
            <a:pPr algn="l" marL="274320" indent="-274320">
              <a:lnSpc>
                <a:spcPct val="118000"/>
              </a:lnSpc>
              <a:spcBef>
                <a:spcPts val="0"/>
              </a:spcBef>
              <a:spcAft>
                <a:spcPts val="0"/>
              </a:spcAft>
            </a:pPr>
            <a:r>
              <a:rPr sz="1340" b="0" i="0">
                <a:solidFill>
                  <a:srgbClr val="394049"/>
                </a:solidFill>
                <a:latin typeface="Open Sans"/>
              </a:rPr>
              <a:t>•	Para Chronos-Bolt, Croston, SBA y Seasonal Naïve la comparación se mantiene descriptiva: el protocolo inferencial se delimitó a priori.</a:t>
            </a:r>
          </a:p>
        </p:txBody>
      </p:sp>
      <p:sp>
        <p:nvSpPr>
          <p:cNvPr id="26" name="Rounded Rectangle 25"/>
          <p:cNvSpPr/>
          <p:nvPr/>
        </p:nvSpPr>
        <p:spPr>
          <a:xfrm>
            <a:off x="960120" y="7004304"/>
            <a:ext cx="16367759" cy="1371600"/>
          </a:xfrm>
          <a:prstGeom prst="roundRect">
            <a:avLst>
              <a:gd name="adj" fmla="val 366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004304"/>
            <a:ext cx="68580" cy="13716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7333488"/>
            <a:ext cx="15526512" cy="7132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Advertencia metodológica reconocida</a:t>
            </a:r>
          </a:p>
          <a:p>
            <a:pPr algn="l">
              <a:lnSpc>
                <a:spcPct val="120000"/>
              </a:lnSpc>
              <a:spcBef>
                <a:spcPts val="0"/>
              </a:spcBef>
              <a:spcAft>
                <a:spcPts val="0"/>
              </a:spcAft>
            </a:pPr>
            <a:r>
              <a:rPr sz="1340" b="0" i="0">
                <a:solidFill>
                  <a:srgbClr val="394049"/>
                </a:solidFill>
                <a:latin typeface="Open Sans"/>
              </a:rPr>
              <a:t>La literatura econométrica advierte sobre aplicar Diebold-Mariano a paneles agrupados en horizontes cortos: por eso el test se presenta como evidencia complementaria y no como el argumento central.</a:t>
            </a:r>
          </a:p>
        </p:txBody>
      </p:sp>
      <p:sp>
        <p:nvSpPr>
          <p:cNvPr id="29" name="Rectangle 28"/>
          <p:cNvSpPr/>
          <p:nvPr/>
        </p:nvSpPr>
        <p:spPr>
          <a:xfrm>
            <a:off x="960120" y="8513063"/>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0120" y="8750807"/>
            <a:ext cx="16367759" cy="576072"/>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La ventaja del ES-GBM sobre los tres benchmarks primarios no se explica por azar muestral.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40</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41</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42</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43</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44</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45</a:t>
            </a:r>
          </a:p>
        </p:txBody>
      </p:sp>
      <p:sp>
        <p:nvSpPr>
          <p:cNvPr id="10" name="Rounded Rectangle 9"/>
          <p:cNvSpPr/>
          <p:nvPr/>
        </p:nvSpPr>
        <p:spPr>
          <a:xfrm>
            <a:off x="960120" y="2249424"/>
            <a:ext cx="8001000" cy="4617720"/>
          </a:xfrm>
          <a:prstGeom prst="roundRect">
            <a:avLst>
              <a:gd name="adj" fmla="val 108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6177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3959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617720"/>
          </a:xfrm>
          <a:prstGeom prst="roundRect">
            <a:avLst>
              <a:gd name="adj" fmla="val 108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6177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3959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ectangle 15"/>
          <p:cNvSpPr/>
          <p:nvPr/>
        </p:nvSpPr>
        <p:spPr>
          <a:xfrm>
            <a:off x="960120" y="7324344"/>
            <a:ext cx="566928" cy="685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60120" y="7562088"/>
            <a:ext cx="16367759" cy="1188720"/>
          </a:xfrm>
          <a:prstGeom prst="rect">
            <a:avLst/>
          </a:prstGeom>
          <a:noFill/>
        </p:spPr>
        <p:txBody>
          <a:bodyPr wrap="square" lIns="0" rIns="0" tIns="0" bIns="0" anchor="t">
            <a:spAutoFit/>
          </a:bodyPr>
          <a:lstStyle/>
          <a:p>
            <a:pPr algn="l">
              <a:lnSpc>
                <a:spcPct val="128000"/>
              </a:lnSpc>
              <a:spcBef>
                <a:spcPts val="0"/>
              </a:spcBef>
              <a:spcAft>
                <a:spcPts val="0"/>
              </a:spcAft>
            </a:pPr>
            <a:r>
              <a:rPr sz="1650" b="1" i="0">
                <a:solidFill>
                  <a:srgbClr val="13161B"/>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