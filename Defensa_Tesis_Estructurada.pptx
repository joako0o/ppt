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mi nombre es Joaquín Mondaca y presento la memoria «Pronóstico Jerárquico de Demanda Intermitente en el Retail de Moda Femenina», guiada por el profesor Villena y con la profesora Tapia como correferente. En 18 minutos: problema, arquitectura, evidencia e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Anunciar que el bloque 5, resultados, es el centro, y que hay siete anexos de respaldo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ciclos de 2 a 3 meses, demanda dirigida por el plan comercial y compromisos de compra con 3 a 6 meses de anticipación. El gráfico muestra la demanda agregada del núcleo comercial. Transición: en la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30,3 % de los pares SKU-mes no registran venta. El mapa de calor son 100 SKUs por 66 meses; las zonas claras son ceros. No es ruido, es estructura. Croston y SBA suponen intermitencia sin estacionalidad, SARIMA supone continuidad. Cerrar con el dilema: sobre-stock inmoviliza capital, quiebre destruye ingreso.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y luego H0/H1. La hipótesis se operacionaliza con WAPE. Benchmarks primarios: SARIMA, SARIMAX y LSTM; Croston, SBA, Seasonal Naïve y Chronos-Bolt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100 SKUs y 58 familias concentran 72 % del volumen y 78 % del margen. Punto crítico: el Top 100 se selecciona solo con datos previos al corte, no con el período de prueba.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clave: el plan comercial es ex-ante porque lo decide la empresa; todo lo demás va rezagado en t-1. Enlaza directo con la Fase 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los resultados: venta cero con inventario es demanda cero; el target son ventas observadas. Y declarar la asimetría metodológica de las líneas base.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del propio benchmark: SARIMA tiene sMAPE de 309,88 % y WAPE de 76,74 %. El WAPE pondera por volumen físico,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cronológica, calibración congelada en enero de 2025 y siete meses de prueba ciega. Recalcar: pesos congelados, sin reajustar durante el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LÁMINA IMPORTANTE: contar que esta fue la etapa donde más tiempo se invirtió. La demanda y las variables macro solo se conocen en t-1; la única señal del presente es el plan comercial, porque lo fija la empresa. Explicar que fueron decenas de iteraciones: al transformar variables (medias móviles, agregaciones) a veces se colaba señal del mes t sin darse cuenta, y cada corrección de rezago cambiaba el comportamiento del modelo. Cerrar con la frase del banner: un modelo que ve el futuro siempre gana en el papel.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30 s. LÁMINA CENTRAL. Recorrer el flujo de arriba hacia abajo: del panel auditado en Fase 0 salen dos tracks paralelos. La Capa 1 entrena XGBoost, LightGBM y CatBoost sobre la serie directa en escala arcsinh: reactiva, más volátil. La Capa 2 entrena LightGBM y CatBoost sobre la serie relativa al nivel que extrae el Holt amortiguado: más estable. Sumando TabPFN son seis predicciones candidatas por familia. Esas seis entran a validación, donde se fija el peso de cada una. Con esos pesos se obtiene la demanda de familia y recién ahí entra la Capa 3, que desagrega a SKU.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Explicar por qué se entrena dos veces: no es redundancia, es diversificación de errores. El track sin suavizar llega antes cuando el mercado gira; el suavizado no se deja arrastrar por el ruido. Como sus errores no están correlacionados, la combinación pondera mejor que cualquiera solo. Aclarar que el gráfico es un esquema ilustrativo del comportamiento, no datos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Aquí está el argumento de sostenibilidad. Los pesos salen de NNLS (no negativos y suman 1) y la calibración se hace con una búsqueda en grilla sobre validación: se recorre la grilla de umbrales de momentum entre 1,05 y 1,50 y para cada valor se reoptimizan los pesos, quedándose con la combinación que minimiza el WAPE. La consecuencia práctica: si la industria cambia de comportamiento, la recalibración reasigna peso a los modelos que capturan mejor el nuevo régimen,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La Capa 3 no predice demanda: predice la cuota de cada SKU dentro de su familia. Presentar las dos vías con seguridad. La vía A usa proporciones históricas y es la que entrega el resultado principal de 16,10 %, porque es el mismo esquema que usan todos los benchmarks y eso garantiza una comparación justa. La vía B es el motor supervisado que estima la cuota mes a mes con la historia que va surgiendo, con cuota rezagada, medias móviles, meses sin venta y precio relativo. Dio 24,35 %. El hallazgo es interesante: en catálogos muy intermitentes la estabilidad le gana a la sofisticación.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Chronos-Bolt 48,44 %, LSTM 45,75 % y ES-GBM 16,10 %. A nivel familia, 12,89 %. Pausa después del número.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R2 de 0,95 a nivel SKU y 0,96 a nivel familia; sesgo de -4,8 %, sub-predicción leve, sistemática y corregible.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Ablación: sin precios 38,25 %, con precio rezagado 26,42 %, con plan ex-ante 16,10 %. La demanda del fast fashion no es estocástica, la dirige el plan comercial. Matiz honesto: la importancia por ganancia del 67 % no es una estimación causal de elasticidad precio.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baja el stock de seguridad de 8.916 a 1.875 unidades. Son 7.041 unidades, 105,6 millones de capital liberado y 23,2 millones anuales de ahorro. Declarar de inmediato que es un ejercicio ilustrativo de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y con seguridad: horizonte de un mes, un solo retailer, ventana sin el peak de noviembre-diciembre, ejercicio financiero ilustrativo. Luego trabajo futuro.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Silencio y esperar preguntas. Los anexos A1 a A7 respaldan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Tabla 5.1 completa: WAPE, sMAPE, RMSE, MAE, sesgo, R2 y ranking en ambos niveles.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Residuos: Ljung-Box p = 0,751 y Shapiro-Wilk p = 0,184. Usar si preguntan por supuestos.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Sensibilidad financiera: 84,5 a 126,8 millones bajo gestión descentralizada y 8,5 a 12,7 millones con risk pooling. Usar si cuestionan el supuesto de agregación.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Contexto macro: el IPC de vestuario cae de forma sostenida. Estacionalidad repartida.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Protocolo de verificación y uso declarado de herramientas de 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03</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30,3 %</a:t>
            </a:r>
          </a:p>
          <a:p>
            <a:pPr algn="l">
              <a:lnSpc>
                <a:spcPct val="120000"/>
              </a:lnSpc>
              <a:spcBef>
                <a:spcPts val="0"/>
              </a:spcBef>
              <a:spcAft>
                <a:spcPts val="0"/>
              </a:spcAft>
            </a:pPr>
            <a:r>
              <a:rPr sz="1350" b="0" i="0">
                <a:solidFill>
                  <a:srgbClr val="394049"/>
                </a:solidFill>
                <a:latin typeface="Open Sans"/>
              </a:rPr>
              <a:t>de los pares SKU–mes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1783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Pregunta de investigación</a:t>
            </a:r>
          </a:p>
          <a:p>
            <a:pPr algn="l">
              <a:lnSpc>
                <a:spcPct val="126000"/>
              </a:lnSpc>
              <a:spcBef>
                <a:spcPts val="0"/>
              </a:spcBef>
              <a:spcAft>
                <a:spcPts val="0"/>
              </a:spcAft>
            </a:pPr>
            <a:r>
              <a:rPr sz="1450" b="0" i="0">
                <a:solidFill>
                  <a:srgbClr val="394049"/>
                </a:solidFill>
                <a:latin typeface="Open Sans"/>
              </a:rPr>
              <a:t>¿Cuál enfoque de modelado —clásicos univariados, causales, redes recurrentes, modelos fundacionales pre-entrenados o arquitecturas híbridas de ensamble jerárquico— alcanza la mayor capacidad predictiva y robustez metodológica para pronosticar la demanda de retail de moda en Chile, evaluado mediante WAPE en un horizonte mensual h = 1?</a:t>
            </a:r>
          </a:p>
        </p:txBody>
      </p:sp>
      <p:sp>
        <p:nvSpPr>
          <p:cNvPr id="13" name="Rounded Rectangle 12"/>
          <p:cNvSpPr/>
          <p:nvPr/>
        </p:nvSpPr>
        <p:spPr>
          <a:xfrm>
            <a:off x="960120" y="4261104"/>
            <a:ext cx="7955279" cy="1965960"/>
          </a:xfrm>
          <a:prstGeom prst="roundRect">
            <a:avLst>
              <a:gd name="adj" fmla="val 255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261104"/>
            <a:ext cx="68580" cy="19659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H₀  ·  hipótesis nula</a:t>
            </a:r>
          </a:p>
          <a:p>
            <a:pPr algn="l">
              <a:lnSpc>
                <a:spcPct val="126000"/>
              </a:lnSpc>
              <a:spcBef>
                <a:spcPts val="0"/>
              </a:spcBef>
              <a:spcAft>
                <a:spcPts val="0"/>
              </a:spcAft>
            </a:pPr>
            <a:r>
              <a:rPr sz="1450" b="0" i="0">
                <a:solidFill>
                  <a:srgbClr val="394049"/>
                </a:solidFill>
                <a:latin typeface="Open Sans"/>
              </a:rPr>
              <a:t>El WAPE esperado de la arquitectura ES-GBM no es inferior al de los benchmarks primarios (SARIMA, SARIMAX y LSTM).</a:t>
            </a:r>
          </a:p>
        </p:txBody>
      </p:sp>
      <p:sp>
        <p:nvSpPr>
          <p:cNvPr id="16" name="Rounded Rectangle 15"/>
          <p:cNvSpPr/>
          <p:nvPr/>
        </p:nvSpPr>
        <p:spPr>
          <a:xfrm>
            <a:off x="9372600" y="4261104"/>
            <a:ext cx="795527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372600" y="4261104"/>
            <a:ext cx="68580" cy="1965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2980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H₁  ·  hipótesis de trabajo</a:t>
            </a:r>
          </a:p>
          <a:p>
            <a:pPr algn="l">
              <a:lnSpc>
                <a:spcPct val="126000"/>
              </a:lnSpc>
              <a:spcBef>
                <a:spcPts val="0"/>
              </a:spcBef>
              <a:spcAft>
                <a:spcPts val="0"/>
              </a:spcAft>
            </a:pPr>
            <a:r>
              <a:rPr sz="1450" b="0" i="0">
                <a:solidFill>
                  <a:srgbClr val="394049"/>
                </a:solidFill>
                <a:latin typeface="Open Sans"/>
              </a:rPr>
              <a:t>El WAPE esperado de la arquitectura ES-GBM es inferior al de los benchmarks primarios de referencia.</a:t>
            </a:r>
          </a:p>
        </p:txBody>
      </p:sp>
      <p:sp>
        <p:nvSpPr>
          <p:cNvPr id="19" name="Rounded Rectangle 18"/>
          <p:cNvSpPr/>
          <p:nvPr/>
        </p:nvSpPr>
        <p:spPr>
          <a:xfrm>
            <a:off x="960120" y="645566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455664"/>
            <a:ext cx="68580" cy="17830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78484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Objetivo general</a:t>
            </a:r>
          </a:p>
          <a:p>
            <a:pPr algn="l">
              <a:lnSpc>
                <a:spcPct val="126000"/>
              </a:lnSpc>
              <a:spcBef>
                <a:spcPts val="0"/>
              </a:spcBef>
              <a:spcAft>
                <a:spcPts val="0"/>
              </a:spcAft>
            </a:pPr>
            <a:r>
              <a:rPr sz="1450" b="0" i="0">
                <a:solidFill>
                  <a:srgbClr val="394049"/>
                </a:solidFill>
                <a:latin typeface="Open Sans"/>
              </a:rPr>
              <a:t>Desarrollar y evaluar una arquitectura de pronóstico jerárquica de ensamble (ES-GBM con desacoplamiento jerárquico a nivel SKU) para el retail de moda femenina en Chile, que minimice el error de predicción integrando variables comerciales ex-ante y suavizamiento exponencial, con el fin de optimizar la eficiencia del capital de trabajo.</a:t>
            </a:r>
          </a:p>
        </p:txBody>
      </p:sp>
      <p:sp>
        <p:nvSpPr>
          <p:cNvPr id="22" name="Rounded Rectangle 21"/>
          <p:cNvSpPr/>
          <p:nvPr/>
        </p:nvSpPr>
        <p:spPr>
          <a:xfrm>
            <a:off x="960120" y="8513063"/>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513063"/>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Benchmarks primarios: SARIMA · SARIMAX · LSTM      |      Referencias de frontera: Croston · SBA · Seasonal Naïve · Chronos-Bolt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06</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ounded Rectangle 18"/>
          <p:cNvSpPr/>
          <p:nvPr/>
        </p:nvSpPr>
        <p:spPr>
          <a:xfrm>
            <a:off x="960120" y="6501384"/>
            <a:ext cx="16367759" cy="2011680"/>
          </a:xfrm>
          <a:prstGeom prst="roundRect">
            <a:avLst>
              <a:gd name="adj" fmla="val 2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6501384"/>
            <a:ext cx="15453359" cy="2011680"/>
          </a:xfrm>
          <a:prstGeom prst="rect">
            <a:avLst/>
          </a:prstGeom>
          <a:noFill/>
        </p:spPr>
        <p:txBody>
          <a:bodyPr wrap="square" lIns="0" rIns="0" tIns="0" bIns="0" anchor="ctr">
            <a:spAutoFit/>
          </a:bodyPr>
          <a:lstStyle/>
          <a:p>
            <a:pPr algn="ctr">
              <a:lnSpc>
                <a:spcPct val="118000"/>
              </a:lnSpc>
              <a:spcBef>
                <a:spcPts val="0"/>
              </a:spcBef>
              <a:spcAft>
                <a:spcPts val="0"/>
              </a:spcAft>
            </a:pPr>
            <a:r>
              <a:rPr sz="1700" b="1" i="0">
                <a:solidFill>
                  <a:srgbClr val="FFFFFF"/>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08</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787384"/>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78738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5961888"/>
            <a:ext cx="7022592"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Siete meses evaluados con pesos congelados: simula un despliegue real.</a:t>
            </a:r>
          </a:p>
        </p:txBody>
      </p:sp>
      <p:sp>
        <p:nvSpPr>
          <p:cNvPr id="30" name="Rounded Rectangle 29"/>
          <p:cNvSpPr/>
          <p:nvPr/>
        </p:nvSpPr>
        <p:spPr>
          <a:xfrm>
            <a:off x="960120" y="7452360"/>
            <a:ext cx="16367759" cy="1463040"/>
          </a:xfrm>
          <a:prstGeom prst="roundRect">
            <a:avLst>
              <a:gd name="adj" fmla="val 343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1417320" y="7452360"/>
            <a:ext cx="15453359" cy="146304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Fase 0 · La frontera de información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La etapa que consumió más tiempo del proyecto: garantizar que ninguna variable conozca el futuro.</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1" name="Rounded Rectangle 10"/>
          <p:cNvSpPr/>
          <p:nvPr/>
        </p:nvSpPr>
        <p:spPr>
          <a:xfrm>
            <a:off x="960120" y="2971800"/>
            <a:ext cx="11795760" cy="548640"/>
          </a:xfrm>
          <a:prstGeom prst="roundRect">
            <a:avLst>
              <a:gd name="adj" fmla="val 8333"/>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60120" y="2971800"/>
            <a:ext cx="1179576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INFORMACIÓN DISPONIBLE  ·  HASTA t−1</a:t>
            </a:r>
          </a:p>
        </p:txBody>
      </p:sp>
      <p:sp>
        <p:nvSpPr>
          <p:cNvPr id="13" name="Rounded Rectangle 12"/>
          <p:cNvSpPr/>
          <p:nvPr/>
        </p:nvSpPr>
        <p:spPr>
          <a:xfrm>
            <a:off x="13121640" y="2971800"/>
            <a:ext cx="4206240" cy="548640"/>
          </a:xfrm>
          <a:prstGeom prst="roundRect">
            <a:avLst>
              <a:gd name="adj" fmla="val 8333"/>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121640" y="2971800"/>
            <a:ext cx="420624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MES t  ·  POR PRONOSTICAR</a:t>
            </a:r>
          </a:p>
        </p:txBody>
      </p:sp>
      <p:cxnSp>
        <p:nvCxnSpPr>
          <p:cNvPr id="15" name="Connector 14"/>
          <p:cNvCxnSpPr/>
          <p:nvPr/>
        </p:nvCxnSpPr>
        <p:spPr>
          <a:xfrm>
            <a:off x="12938760" y="2880360"/>
            <a:ext cx="0" cy="2377440"/>
          </a:xfrm>
          <a:prstGeom prst="line">
            <a:avLst/>
          </a:prstGeom>
          <a:ln w="25400">
            <a:solidFill>
              <a:srgbClr val="D1012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143000"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Demanda rezagada</a:t>
            </a:r>
          </a:p>
          <a:p>
            <a:pPr algn="ctr">
              <a:lnSpc>
                <a:spcPct val="122000"/>
              </a:lnSpc>
              <a:spcBef>
                <a:spcPts val="0"/>
              </a:spcBef>
              <a:spcAft>
                <a:spcPts val="0"/>
              </a:spcAft>
            </a:pPr>
            <a:r>
              <a:rPr sz="1350" b="0" i="0">
                <a:solidFill>
                  <a:srgbClr val="394049"/>
                </a:solidFill>
                <a:latin typeface="Open Sans"/>
              </a:rPr>
              <a:t>t−1 y t−12</a:t>
            </a:r>
          </a:p>
        </p:txBody>
      </p:sp>
      <p:sp>
        <p:nvSpPr>
          <p:cNvPr id="18" name="Rounded Rectangle 17"/>
          <p:cNvSpPr/>
          <p:nvPr/>
        </p:nvSpPr>
        <p:spPr>
          <a:xfrm>
            <a:off x="3950208"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33088"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Medias móviles</a:t>
            </a:r>
          </a:p>
          <a:p>
            <a:pPr algn="ctr">
              <a:lnSpc>
                <a:spcPct val="122000"/>
              </a:lnSpc>
              <a:spcBef>
                <a:spcPts val="0"/>
              </a:spcBef>
              <a:spcAft>
                <a:spcPts val="0"/>
              </a:spcAft>
            </a:pPr>
            <a:r>
              <a:rPr sz="1350" b="0" i="0">
                <a:solidFill>
                  <a:srgbClr val="394049"/>
                </a:solidFill>
                <a:latin typeface="Open Sans"/>
              </a:rPr>
              <a:t>de 3 y 12 meses</a:t>
            </a:r>
          </a:p>
        </p:txBody>
      </p:sp>
      <p:sp>
        <p:nvSpPr>
          <p:cNvPr id="20" name="Rounded Rectangle 19"/>
          <p:cNvSpPr/>
          <p:nvPr/>
        </p:nvSpPr>
        <p:spPr>
          <a:xfrm>
            <a:off x="6940296"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123176"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IPC de vestuario</a:t>
            </a:r>
          </a:p>
          <a:p>
            <a:pPr algn="ctr">
              <a:lnSpc>
                <a:spcPct val="122000"/>
              </a:lnSpc>
              <a:spcBef>
                <a:spcPts val="0"/>
              </a:spcBef>
              <a:spcAft>
                <a:spcPts val="0"/>
              </a:spcAft>
            </a:pPr>
            <a:r>
              <a:rPr sz="1350" b="0" i="0">
                <a:solidFill>
                  <a:srgbClr val="394049"/>
                </a:solidFill>
                <a:latin typeface="Open Sans"/>
              </a:rPr>
              <a:t>y macro en t−1</a:t>
            </a:r>
          </a:p>
        </p:txBody>
      </p:sp>
      <p:sp>
        <p:nvSpPr>
          <p:cNvPr id="22" name="Rounded Rectangle 21"/>
          <p:cNvSpPr/>
          <p:nvPr/>
        </p:nvSpPr>
        <p:spPr>
          <a:xfrm>
            <a:off x="9930384"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113264"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Meses desde</a:t>
            </a:r>
          </a:p>
          <a:p>
            <a:pPr algn="ctr">
              <a:lnSpc>
                <a:spcPct val="122000"/>
              </a:lnSpc>
              <a:spcBef>
                <a:spcPts val="0"/>
              </a:spcBef>
              <a:spcAft>
                <a:spcPts val="0"/>
              </a:spcAft>
            </a:pPr>
            <a:r>
              <a:rPr sz="1350" b="0" i="0">
                <a:solidFill>
                  <a:srgbClr val="394049"/>
                </a:solidFill>
                <a:latin typeface="Open Sans"/>
              </a:rPr>
              <a:t>la última venta</a:t>
            </a:r>
          </a:p>
        </p:txBody>
      </p:sp>
      <p:sp>
        <p:nvSpPr>
          <p:cNvPr id="24" name="Rounded Rectangle 23"/>
          <p:cNvSpPr/>
          <p:nvPr/>
        </p:nvSpPr>
        <p:spPr>
          <a:xfrm>
            <a:off x="13121640" y="3703320"/>
            <a:ext cx="4206240" cy="1371600"/>
          </a:xfrm>
          <a:prstGeom prst="roundRect">
            <a:avLst>
              <a:gd name="adj" fmla="val 3333"/>
            </a:avLst>
          </a:prstGeom>
          <a:solidFill>
            <a:srgbClr val="FDECEF"/>
          </a:solidFill>
          <a:ln w="9525">
            <a:solidFill>
              <a:srgbClr val="D1012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3304520" y="3703320"/>
            <a:ext cx="3840480" cy="1371600"/>
          </a:xfrm>
          <a:prstGeom prst="rect">
            <a:avLst/>
          </a:prstGeom>
          <a:noFill/>
        </p:spPr>
        <p:txBody>
          <a:bodyPr wrap="square" lIns="0" rIns="0" tIns="0" bIns="0" anchor="ctr">
            <a:spAutoFit/>
          </a:bodyPr>
          <a:lstStyle/>
          <a:p>
            <a:pPr algn="ctr">
              <a:lnSpc>
                <a:spcPct val="116000"/>
              </a:lnSpc>
              <a:spcBef>
                <a:spcPts val="0"/>
              </a:spcBef>
              <a:spcAft>
                <a:spcPts val="400"/>
              </a:spcAft>
            </a:pPr>
            <a:r>
              <a:rPr sz="1400" b="1" i="0">
                <a:solidFill>
                  <a:srgbClr val="D10120"/>
                </a:solidFill>
                <a:latin typeface="Open Sans"/>
              </a:rPr>
              <a:t>Plan comercial ex-ante</a:t>
            </a:r>
          </a:p>
          <a:p>
            <a:pPr algn="ctr">
              <a:lnSpc>
                <a:spcPct val="120000"/>
              </a:lnSpc>
              <a:spcBef>
                <a:spcPts val="0"/>
              </a:spcBef>
              <a:spcAft>
                <a:spcPts val="0"/>
              </a:spcAft>
            </a:pPr>
            <a:r>
              <a:rPr sz="1250" b="0" i="0">
                <a:solidFill>
                  <a:srgbClr val="394049"/>
                </a:solidFill>
                <a:latin typeface="Open Sans"/>
              </a:rPr>
              <a:t>precio y descuento del mes t: única señal del presente, porque la decide la empresa</a:t>
            </a:r>
          </a:p>
        </p:txBody>
      </p:sp>
      <p:sp>
        <p:nvSpPr>
          <p:cNvPr id="26" name="Rounded Rectangle 25"/>
          <p:cNvSpPr/>
          <p:nvPr/>
        </p:nvSpPr>
        <p:spPr>
          <a:xfrm>
            <a:off x="960120"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5440680"/>
            <a:ext cx="68580" cy="2377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Auditoría variable por variable</a:t>
            </a:r>
          </a:p>
          <a:p>
            <a:pPr algn="l">
              <a:lnSpc>
                <a:spcPct val="124000"/>
              </a:lnSpc>
              <a:spcBef>
                <a:spcPts val="0"/>
              </a:spcBef>
              <a:spcAft>
                <a:spcPts val="0"/>
              </a:spcAft>
            </a:pPr>
            <a:r>
              <a:rPr sz="1380" b="0" i="0">
                <a:solidFill>
                  <a:srgbClr val="394049"/>
                </a:solidFill>
                <a:latin typeface="Open Sans"/>
              </a:rPr>
              <a:t>Se revisó una a una la disponibilidad temporal de cada variable y de cada transformación: medias móviles, agregaciones y escalados pueden arrastrar señal del mes t sin que se note.</a:t>
            </a:r>
          </a:p>
        </p:txBody>
      </p:sp>
      <p:sp>
        <p:nvSpPr>
          <p:cNvPr id="29" name="Rounded Rectangle 28"/>
          <p:cNvSpPr/>
          <p:nvPr/>
        </p:nvSpPr>
        <p:spPr>
          <a:xfrm>
            <a:off x="6519672"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6519672" y="5440680"/>
            <a:ext cx="68580" cy="2377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976872"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Decenas de iteraciones</a:t>
            </a:r>
          </a:p>
          <a:p>
            <a:pPr algn="l">
              <a:lnSpc>
                <a:spcPct val="124000"/>
              </a:lnSpc>
              <a:spcBef>
                <a:spcPts val="0"/>
              </a:spcBef>
              <a:spcAft>
                <a:spcPts val="0"/>
              </a:spcAft>
            </a:pPr>
            <a:r>
              <a:rPr sz="1380" b="0" i="0">
                <a:solidFill>
                  <a:srgbClr val="394049"/>
                </a:solidFill>
                <a:latin typeface="Open Sans"/>
              </a:rPr>
              <a:t>Cada corrección de rezago cambiaba el comportamiento del ensamble. La arquitectura final es el resultado de ese ciclo de revisión, reajuste y nueva medición.</a:t>
            </a:r>
          </a:p>
        </p:txBody>
      </p:sp>
      <p:sp>
        <p:nvSpPr>
          <p:cNvPr id="32" name="Rounded Rectangle 31"/>
          <p:cNvSpPr/>
          <p:nvPr/>
        </p:nvSpPr>
        <p:spPr>
          <a:xfrm>
            <a:off x="12079224"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12079224" y="5440680"/>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2536424"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Pruebas automatizadas de integridad</a:t>
            </a:r>
          </a:p>
          <a:p>
            <a:pPr algn="l">
              <a:lnSpc>
                <a:spcPct val="124000"/>
              </a:lnSpc>
              <a:spcBef>
                <a:spcPts val="0"/>
              </a:spcBef>
              <a:spcAft>
                <a:spcPts val="0"/>
              </a:spcAft>
            </a:pPr>
            <a:r>
              <a:rPr sz="1380" b="0" i="0">
                <a:solidFill>
                  <a:srgbClr val="394049"/>
                </a:solidFill>
                <a:latin typeface="Open Sans"/>
              </a:rPr>
              <a:t>Una batería de tests verifica los rezagos en cada corrida. Las variables identificadas como fuente de fuga se eliminaron o se rezagaron antes de volver a entrenar.</a:t>
            </a:r>
          </a:p>
        </p:txBody>
      </p:sp>
      <p:sp>
        <p:nvSpPr>
          <p:cNvPr id="35" name="Rounded Rectangle 34"/>
          <p:cNvSpPr/>
          <p:nvPr/>
        </p:nvSpPr>
        <p:spPr>
          <a:xfrm>
            <a:off x="960120" y="8001000"/>
            <a:ext cx="16367759" cy="1143000"/>
          </a:xfrm>
          <a:prstGeom prst="roundRect">
            <a:avLst>
              <a:gd name="adj" fmla="val 44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1417320" y="8001000"/>
            <a:ext cx="15453359" cy="114300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Sin esta fase, cualquier resultado sería un artefacto: un modelo que ve el futuro siempre gana en el papel y falla en producción. El 16,10 % vale porque se obtuvo bajo esta restricción.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 heurística estacional de 1970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12</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dos tracks en paralelo, un ensamble ponderado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3200400" y="2176272"/>
            <a:ext cx="11887200" cy="502920"/>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346704" y="2176272"/>
            <a:ext cx="11594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350" b="1" i="0">
                <a:solidFill>
                  <a:srgbClr val="FFFFFF"/>
                </a:solidFill>
                <a:latin typeface="Open Sans"/>
              </a:rPr>
              <a:t>Fase 0  ·  Panel Familia × Fecha con variables auditadas y rezagadas</a:t>
            </a:r>
          </a:p>
        </p:txBody>
      </p:sp>
      <p:sp>
        <p:nvSpPr>
          <p:cNvPr id="12" name="Rounded Rectangle 11"/>
          <p:cNvSpPr/>
          <p:nvPr/>
        </p:nvSpPr>
        <p:spPr>
          <a:xfrm>
            <a:off x="96012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2852928"/>
            <a:ext cx="6309360" cy="457200"/>
          </a:xfrm>
          <a:prstGeom prst="roundRect">
            <a:avLst>
              <a:gd name="adj" fmla="val 11000"/>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108960"/>
            <a:ext cx="6309360" cy="20116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1  ·  SIN SUAVIZAMIENTO</a:t>
            </a:r>
          </a:p>
        </p:txBody>
      </p:sp>
      <p:sp>
        <p:nvSpPr>
          <p:cNvPr id="16" name="TextBox 15"/>
          <p:cNvSpPr txBox="1"/>
          <p:nvPr/>
        </p:nvSpPr>
        <p:spPr>
          <a:xfrm>
            <a:off x="127101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directa</a:t>
            </a:r>
          </a:p>
        </p:txBody>
      </p:sp>
      <p:sp>
        <p:nvSpPr>
          <p:cNvPr id="17" name="TextBox 16"/>
          <p:cNvSpPr txBox="1"/>
          <p:nvPr/>
        </p:nvSpPr>
        <p:spPr>
          <a:xfrm>
            <a:off x="127101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XGBoost · LightGBM · CatBoost</a:t>
            </a:r>
          </a:p>
          <a:p>
            <a:pPr algn="l" marL="219456" indent="-219456">
              <a:lnSpc>
                <a:spcPct val="118000"/>
              </a:lnSpc>
              <a:spcBef>
                <a:spcPts val="0"/>
              </a:spcBef>
              <a:spcAft>
                <a:spcPts val="500"/>
              </a:spcAft>
            </a:pPr>
            <a:r>
              <a:rPr sz="1260" b="0" i="0">
                <a:solidFill>
                  <a:srgbClr val="394049"/>
                </a:solidFill>
                <a:latin typeface="Open Sans"/>
              </a:rPr>
              <a:t>•	Escala arcsinh con decay de 24 meses</a:t>
            </a:r>
          </a:p>
          <a:p>
            <a:pPr algn="l" marL="219456" indent="-219456">
              <a:lnSpc>
                <a:spcPct val="118000"/>
              </a:lnSpc>
              <a:spcBef>
                <a:spcPts val="0"/>
              </a:spcBef>
              <a:spcAft>
                <a:spcPts val="500"/>
              </a:spcAft>
            </a:pPr>
            <a:r>
              <a:rPr sz="1260" b="0" i="0">
                <a:solidFill>
                  <a:srgbClr val="394049"/>
                </a:solidFill>
                <a:latin typeface="Open Sans"/>
              </a:rPr>
              <a:t>•	Reactiva: sigue los giros bruscos</a:t>
            </a:r>
          </a:p>
          <a:p>
            <a:pPr algn="l" marL="219456" indent="-219456">
              <a:lnSpc>
                <a:spcPct val="118000"/>
              </a:lnSpc>
              <a:spcBef>
                <a:spcPts val="0"/>
              </a:spcBef>
              <a:spcAft>
                <a:spcPts val="500"/>
              </a:spcAft>
            </a:pPr>
            <a:r>
              <a:rPr sz="1260" b="0" i="0">
                <a:solidFill>
                  <a:srgbClr val="394049"/>
                </a:solidFill>
                <a:latin typeface="Open Sans"/>
              </a:rPr>
              <a:t>•	3 predicciones</a:t>
            </a:r>
          </a:p>
        </p:txBody>
      </p:sp>
      <p:sp>
        <p:nvSpPr>
          <p:cNvPr id="18" name="Rounded Rectangle 17"/>
          <p:cNvSpPr/>
          <p:nvPr/>
        </p:nvSpPr>
        <p:spPr>
          <a:xfrm>
            <a:off x="754380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7543800" y="2852928"/>
            <a:ext cx="6309360" cy="457200"/>
          </a:xfrm>
          <a:prstGeom prst="roundRect">
            <a:avLst>
              <a:gd name="adj" fmla="val 11000"/>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7543800" y="3108960"/>
            <a:ext cx="6309360" cy="20116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54380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2  ·  CON SUAVIZAMIENTO</a:t>
            </a:r>
          </a:p>
        </p:txBody>
      </p:sp>
      <p:sp>
        <p:nvSpPr>
          <p:cNvPr id="22" name="TextBox 21"/>
          <p:cNvSpPr txBox="1"/>
          <p:nvPr/>
        </p:nvSpPr>
        <p:spPr>
          <a:xfrm>
            <a:off x="785469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relativa al nivel</a:t>
            </a:r>
          </a:p>
        </p:txBody>
      </p:sp>
      <p:sp>
        <p:nvSpPr>
          <p:cNvPr id="23" name="TextBox 22"/>
          <p:cNvSpPr txBox="1"/>
          <p:nvPr/>
        </p:nvSpPr>
        <p:spPr>
          <a:xfrm>
            <a:off x="785469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LightGBM · CatBoost</a:t>
            </a:r>
          </a:p>
          <a:p>
            <a:pPr algn="l" marL="219456" indent="-219456">
              <a:lnSpc>
                <a:spcPct val="118000"/>
              </a:lnSpc>
              <a:spcBef>
                <a:spcPts val="0"/>
              </a:spcBef>
              <a:spcAft>
                <a:spcPts val="500"/>
              </a:spcAft>
            </a:pPr>
            <a:r>
              <a:rPr sz="1260" b="0" i="0">
                <a:solidFill>
                  <a:srgbClr val="394049"/>
                </a:solidFill>
                <a:latin typeface="Open Sans"/>
              </a:rPr>
              <a:t>•	Escala log(1 + unidades / nivel)</a:t>
            </a:r>
          </a:p>
          <a:p>
            <a:pPr algn="l" marL="219456" indent="-219456">
              <a:lnSpc>
                <a:spcPct val="118000"/>
              </a:lnSpc>
              <a:spcBef>
                <a:spcPts val="0"/>
              </a:spcBef>
              <a:spcAft>
                <a:spcPts val="500"/>
              </a:spcAft>
            </a:pPr>
            <a:r>
              <a:rPr sz="1260" b="0" i="0">
                <a:solidFill>
                  <a:srgbClr val="394049"/>
                </a:solidFill>
                <a:latin typeface="Open Sans"/>
              </a:rPr>
              <a:t>•	Nivel base extraído por Holt amortiguado</a:t>
            </a:r>
          </a:p>
          <a:p>
            <a:pPr algn="l" marL="219456" indent="-219456">
              <a:lnSpc>
                <a:spcPct val="118000"/>
              </a:lnSpc>
              <a:spcBef>
                <a:spcPts val="0"/>
              </a:spcBef>
              <a:spcAft>
                <a:spcPts val="500"/>
              </a:spcAft>
            </a:pPr>
            <a:r>
              <a:rPr sz="1260" b="0" i="0">
                <a:solidFill>
                  <a:srgbClr val="394049"/>
                </a:solidFill>
                <a:latin typeface="Open Sans"/>
              </a:rPr>
              <a:t>•	2 predicciones</a:t>
            </a:r>
          </a:p>
        </p:txBody>
      </p:sp>
      <p:sp>
        <p:nvSpPr>
          <p:cNvPr id="24" name="Rounded Rectangle 23"/>
          <p:cNvSpPr/>
          <p:nvPr/>
        </p:nvSpPr>
        <p:spPr>
          <a:xfrm>
            <a:off x="14127480" y="2852928"/>
            <a:ext cx="320040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14127480" y="2852928"/>
            <a:ext cx="3200400" cy="457200"/>
          </a:xfrm>
          <a:prstGeom prst="roundRect">
            <a:avLst>
              <a:gd name="adj" fmla="val 11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14127480" y="3108960"/>
            <a:ext cx="3200400" cy="2011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27480" y="2852928"/>
            <a:ext cx="320040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EN PARALELO</a:t>
            </a:r>
          </a:p>
        </p:txBody>
      </p:sp>
      <p:sp>
        <p:nvSpPr>
          <p:cNvPr id="28" name="TextBox 27"/>
          <p:cNvSpPr txBox="1"/>
          <p:nvPr/>
        </p:nvSpPr>
        <p:spPr>
          <a:xfrm>
            <a:off x="14438376" y="3419856"/>
            <a:ext cx="257860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TabPFN</a:t>
            </a:r>
          </a:p>
        </p:txBody>
      </p:sp>
      <p:sp>
        <p:nvSpPr>
          <p:cNvPr id="29" name="TextBox 28"/>
          <p:cNvSpPr txBox="1"/>
          <p:nvPr/>
        </p:nvSpPr>
        <p:spPr>
          <a:xfrm>
            <a:off x="14438376" y="3877056"/>
            <a:ext cx="257860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Modelo fundacional tabular</a:t>
            </a:r>
          </a:p>
          <a:p>
            <a:pPr algn="l" marL="219456" indent="-219456">
              <a:lnSpc>
                <a:spcPct val="118000"/>
              </a:lnSpc>
              <a:spcBef>
                <a:spcPts val="0"/>
              </a:spcBef>
              <a:spcAft>
                <a:spcPts val="500"/>
              </a:spcAft>
            </a:pPr>
            <a:r>
              <a:rPr sz="1260" b="0" i="0">
                <a:solidFill>
                  <a:srgbClr val="394049"/>
                </a:solidFill>
                <a:latin typeface="Open Sans"/>
              </a:rPr>
              <a:t>•	Inferencia zero-shot</a:t>
            </a:r>
          </a:p>
          <a:p>
            <a:pPr algn="l" marL="219456" indent="-219456">
              <a:lnSpc>
                <a:spcPct val="118000"/>
              </a:lnSpc>
              <a:spcBef>
                <a:spcPts val="0"/>
              </a:spcBef>
              <a:spcAft>
                <a:spcPts val="500"/>
              </a:spcAft>
            </a:pPr>
            <a:r>
              <a:rPr sz="1260" b="0" i="0">
                <a:solidFill>
                  <a:srgbClr val="394049"/>
                </a:solidFill>
                <a:latin typeface="Open Sans"/>
              </a:rPr>
              <a:t>•	1 predicción</a:t>
            </a:r>
          </a:p>
        </p:txBody>
      </p:sp>
      <p:cxnSp>
        <p:nvCxnSpPr>
          <p:cNvPr id="30" name="Connector 29"/>
          <p:cNvCxnSpPr/>
          <p:nvPr/>
        </p:nvCxnSpPr>
        <p:spPr>
          <a:xfrm>
            <a:off x="411480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6984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7276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14800" y="5431536"/>
            <a:ext cx="11612880" cy="0"/>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5431536"/>
            <a:ext cx="0" cy="109728"/>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03520" y="5577840"/>
            <a:ext cx="7680960" cy="502920"/>
          </a:xfrm>
          <a:prstGeom prst="roundRect">
            <a:avLst>
              <a:gd name="adj" fmla="val 5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5449824" y="5577840"/>
            <a:ext cx="738835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13161B"/>
                </a:solidFill>
                <a:latin typeface="Open Sans"/>
              </a:rPr>
              <a:t>6 predicciones candidatas por familia</a:t>
            </a:r>
          </a:p>
        </p:txBody>
      </p:sp>
      <p:cxnSp>
        <p:nvCxnSpPr>
          <p:cNvPr id="37" name="Connector 36"/>
          <p:cNvCxnSpPr/>
          <p:nvPr/>
        </p:nvCxnSpPr>
        <p:spPr>
          <a:xfrm>
            <a:off x="9144000" y="6108192"/>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60120" y="6355080"/>
            <a:ext cx="16367759" cy="749808"/>
          </a:xfrm>
          <a:prstGeom prst="roundRect">
            <a:avLst>
              <a:gd name="adj" fmla="val 670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1417320" y="6355080"/>
            <a:ext cx="15453359" cy="749808"/>
          </a:xfrm>
          <a:prstGeom prst="rect">
            <a:avLst/>
          </a:prstGeom>
          <a:noFill/>
        </p:spPr>
        <p:txBody>
          <a:bodyPr wrap="square" lIns="0" rIns="0" tIns="0" bIns="0" anchor="ctr">
            <a:spAutoFit/>
          </a:bodyPr>
          <a:lstStyle/>
          <a:p>
            <a:pPr algn="ctr">
              <a:lnSpc>
                <a:spcPct val="118000"/>
              </a:lnSpc>
              <a:spcBef>
                <a:spcPts val="0"/>
              </a:spcBef>
              <a:spcAft>
                <a:spcPts val="0"/>
              </a:spcAft>
            </a:pPr>
            <a:r>
              <a:rPr sz="1450" b="1" i="0">
                <a:solidFill>
                  <a:srgbClr val="FFFFFF"/>
                </a:solidFill>
                <a:latin typeface="Open Sans"/>
              </a:rPr>
              <a:t>VALIDACIÓN  ·  Ponderación NNLS y búsqueda en grilla: se fija el peso de cada modelo y el umbral de ruteo minimizando el WAPE</a:t>
            </a:r>
          </a:p>
        </p:txBody>
      </p:sp>
      <p:cxnSp>
        <p:nvCxnSpPr>
          <p:cNvPr id="40" name="Connector 39"/>
          <p:cNvCxnSpPr/>
          <p:nvPr/>
        </p:nvCxnSpPr>
        <p:spPr>
          <a:xfrm>
            <a:off x="9144000" y="7178040"/>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343400" y="7406640"/>
            <a:ext cx="9601200" cy="502920"/>
          </a:xfrm>
          <a:prstGeom prst="roundRect">
            <a:avLst>
              <a:gd name="adj" fmla="val 50000"/>
            </a:avLst>
          </a:prstGeom>
          <a:solidFill>
            <a:srgbClr val="E8EE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4489704" y="7406640"/>
            <a:ext cx="9308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003F62"/>
                </a:solidFill>
                <a:latin typeface="Open Sans"/>
              </a:rPr>
              <a:t>Demanda proyectada por familia  ·  WAPE 12,89 %</a:t>
            </a:r>
          </a:p>
        </p:txBody>
      </p:sp>
      <p:cxnSp>
        <p:nvCxnSpPr>
          <p:cNvPr id="43" name="Connector 42"/>
          <p:cNvCxnSpPr/>
          <p:nvPr/>
        </p:nvCxnSpPr>
        <p:spPr>
          <a:xfrm>
            <a:off x="9144000" y="7973568"/>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60120" y="8202168"/>
            <a:ext cx="16367759" cy="566928"/>
          </a:xfrm>
          <a:prstGeom prst="roundRect">
            <a:avLst>
              <a:gd name="adj" fmla="val 8064"/>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1325880" y="8202168"/>
            <a:ext cx="15636239"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a:solidFill>
                  <a:srgbClr val="13161B"/>
                </a:solidFill>
                <a:latin typeface="Open Sans"/>
              </a:rPr>
              <a:t>CAPA 3  ·  los mismos modelos estiman la cuota de cada SKU dentro de su familia → desagregación top-down</a:t>
            </a:r>
          </a:p>
        </p:txBody>
      </p:sp>
      <p:cxnSp>
        <p:nvCxnSpPr>
          <p:cNvPr id="46" name="Connector 45"/>
          <p:cNvCxnSpPr/>
          <p:nvPr/>
        </p:nvCxnSpPr>
        <p:spPr>
          <a:xfrm>
            <a:off x="9144000" y="8814816"/>
            <a:ext cx="0" cy="164592"/>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90068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500" b="1" i="0">
                <a:solidFill>
                  <a:srgbClr val="005F91"/>
                </a:solidFill>
                <a:latin typeface="Open Sans"/>
              </a:rPr>
              <a:t>Pronóstico por SKU  ·  Top 100  ·  WAPE 16,10 %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Capas 1 y 2 · Por qué entrenar dos veces lo mismo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2249424"/>
            <a:ext cx="859536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tracks.png"/>
          <p:cNvPicPr>
            <a:picLocks noChangeAspect="1"/>
          </p:cNvPicPr>
          <p:nvPr/>
        </p:nvPicPr>
        <p:blipFill>
          <a:blip r:embed="rId2"/>
          <a:stretch>
            <a:fillRect/>
          </a:stretch>
        </p:blipFill>
        <p:spPr>
          <a:xfrm>
            <a:off x="1234440" y="2532694"/>
            <a:ext cx="8046720" cy="4005458"/>
          </a:xfrm>
          <a:prstGeom prst="rect">
            <a:avLst/>
          </a:prstGeom>
        </p:spPr>
      </p:pic>
      <p:sp>
        <p:nvSpPr>
          <p:cNvPr id="12" name="TextBox 11"/>
          <p:cNvSpPr txBox="1"/>
          <p:nvPr/>
        </p:nvSpPr>
        <p:spPr>
          <a:xfrm>
            <a:off x="960120" y="6958584"/>
            <a:ext cx="85953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Comportamiento esperado de cada track frente a la demanda real.</a:t>
            </a:r>
          </a:p>
        </p:txBody>
      </p:sp>
      <p:sp>
        <p:nvSpPr>
          <p:cNvPr id="13" name="Rounded Rectangle 12"/>
          <p:cNvSpPr/>
          <p:nvPr/>
        </p:nvSpPr>
        <p:spPr>
          <a:xfrm>
            <a:off x="10104120" y="2249424"/>
            <a:ext cx="7223760"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10104120" y="2249424"/>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561320" y="2578608"/>
            <a:ext cx="6382512" cy="15361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1 · sin suavizamiento</a:t>
            </a:r>
          </a:p>
          <a:p>
            <a:pPr algn="l" marL="274320" indent="-274320">
              <a:lnSpc>
                <a:spcPct val="118000"/>
              </a:lnSpc>
              <a:spcBef>
                <a:spcPts val="0"/>
              </a:spcBef>
              <a:spcAft>
                <a:spcPts val="700"/>
              </a:spcAft>
            </a:pPr>
            <a:r>
              <a:rPr sz="1360" b="0" i="0">
                <a:solidFill>
                  <a:srgbClr val="394049"/>
                </a:solidFill>
                <a:latin typeface="Open Sans"/>
              </a:rPr>
              <a:t>•	Los modelos ven la serie tal cual, en escala arcsinh.</a:t>
            </a:r>
          </a:p>
          <a:p>
            <a:pPr algn="l" marL="274320" indent="-274320">
              <a:lnSpc>
                <a:spcPct val="118000"/>
              </a:lnSpc>
              <a:spcBef>
                <a:spcPts val="0"/>
              </a:spcBef>
              <a:spcAft>
                <a:spcPts val="0"/>
              </a:spcAft>
            </a:pPr>
            <a:r>
              <a:rPr sz="1360" b="0" i="0">
                <a:solidFill>
                  <a:srgbClr val="394049"/>
                </a:solidFill>
                <a:latin typeface="Open Sans"/>
              </a:rPr>
              <a:t>•	Reacciona rápido a shocks comerciales, pero hereda el ruido: mayor varianza.</a:t>
            </a:r>
          </a:p>
        </p:txBody>
      </p:sp>
      <p:sp>
        <p:nvSpPr>
          <p:cNvPr id="16" name="Rounded Rectangle 15"/>
          <p:cNvSpPr/>
          <p:nvPr/>
        </p:nvSpPr>
        <p:spPr>
          <a:xfrm>
            <a:off x="10104120" y="4718304"/>
            <a:ext cx="7223760" cy="2240280"/>
          </a:xfrm>
          <a:prstGeom prst="roundRect">
            <a:avLst>
              <a:gd name="adj" fmla="val 224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104120" y="4718304"/>
            <a:ext cx="68580" cy="22402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561320" y="5047488"/>
            <a:ext cx="6382512" cy="15819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2 · con suavizamiento</a:t>
            </a:r>
          </a:p>
          <a:p>
            <a:pPr algn="l" marL="274320" indent="-274320">
              <a:lnSpc>
                <a:spcPct val="118000"/>
              </a:lnSpc>
              <a:spcBef>
                <a:spcPts val="0"/>
              </a:spcBef>
              <a:spcAft>
                <a:spcPts val="700"/>
              </a:spcAft>
            </a:pPr>
            <a:r>
              <a:rPr sz="1360" b="0" i="0">
                <a:solidFill>
                  <a:srgbClr val="394049"/>
                </a:solidFill>
                <a:latin typeface="Open Sans"/>
              </a:rPr>
              <a:t>•	Holt amortiguado extrae el nivel base y los modelos trabajan en escala relativa a ese nivel.</a:t>
            </a:r>
          </a:p>
          <a:p>
            <a:pPr algn="l" marL="274320" indent="-274320">
              <a:lnSpc>
                <a:spcPct val="118000"/>
              </a:lnSpc>
              <a:spcBef>
                <a:spcPts val="0"/>
              </a:spcBef>
              <a:spcAft>
                <a:spcPts val="0"/>
              </a:spcAft>
            </a:pPr>
            <a:r>
              <a:rPr sz="1360" b="0" i="0">
                <a:solidFill>
                  <a:srgbClr val="394049"/>
                </a:solidFill>
                <a:latin typeface="Open Sans"/>
              </a:rPr>
              <a:t>•	Filtra ruido y conserva estacionalidad: menor varianza, pero reacciona más tarde.</a:t>
            </a:r>
          </a:p>
        </p:txBody>
      </p:sp>
      <p:sp>
        <p:nvSpPr>
          <p:cNvPr id="19" name="Rounded Rectangle 18"/>
          <p:cNvSpPr/>
          <p:nvPr/>
        </p:nvSpPr>
        <p:spPr>
          <a:xfrm>
            <a:off x="960120" y="7461504"/>
            <a:ext cx="16367759" cy="1691640"/>
          </a:xfrm>
          <a:prstGeom prst="roundRect">
            <a:avLst>
              <a:gd name="adj" fmla="val 2972"/>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7461504"/>
            <a:ext cx="15453359" cy="169164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clave es la diversificación de errores: cuando el mercado gira, la Capa 1 llega antes; cuando hay ruido, la Capa 2 no se deja arrastrar. Sus errores no están correlacionados, y por eso la combinación pondera mejor que cualquiera de los dos por separado.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combinan: pesos calibrados en validación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0" name="Rounded Rectangle 9"/>
          <p:cNvSpPr/>
          <p:nvPr/>
        </p:nvSpPr>
        <p:spPr>
          <a:xfrm>
            <a:off x="960120"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2004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Ponderación NNLS</a:t>
            </a:r>
          </a:p>
          <a:p>
            <a:pPr algn="l" marL="274320" indent="-274320">
              <a:lnSpc>
                <a:spcPct val="118000"/>
              </a:lnSpc>
              <a:spcBef>
                <a:spcPts val="0"/>
              </a:spcBef>
              <a:spcAft>
                <a:spcPts val="700"/>
              </a:spcAft>
            </a:pPr>
            <a:r>
              <a:rPr sz="1360" b="0" i="0">
                <a:solidFill>
                  <a:srgbClr val="394049"/>
                </a:solidFill>
                <a:latin typeface="Open Sans"/>
              </a:rPr>
              <a:t>•	Mínimos cuadrados no negativos: pesos mayores o iguales a cero que suman exactamente 1.</a:t>
            </a:r>
          </a:p>
          <a:p>
            <a:pPr algn="l" marL="274320" indent="-274320">
              <a:lnSpc>
                <a:spcPct val="118000"/>
              </a:lnSpc>
              <a:spcBef>
                <a:spcPts val="0"/>
              </a:spcBef>
              <a:spcAft>
                <a:spcPts val="0"/>
              </a:spcAft>
            </a:pPr>
            <a:r>
              <a:rPr sz="1360" b="0" i="0">
                <a:solidFill>
                  <a:srgbClr val="394049"/>
                </a:solidFill>
                <a:latin typeface="Open Sans"/>
              </a:rPr>
              <a:t>•	Ningún modelo puede entrar con signo invertido ni dominar por construcción.</a:t>
            </a:r>
          </a:p>
        </p:txBody>
      </p:sp>
      <p:sp>
        <p:nvSpPr>
          <p:cNvPr id="13" name="Rounded Rectangle 12"/>
          <p:cNvSpPr/>
          <p:nvPr/>
        </p:nvSpPr>
        <p:spPr>
          <a:xfrm>
            <a:off x="6519672"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2004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Búsqueda en grilla</a:t>
            </a:r>
          </a:p>
          <a:p>
            <a:pPr algn="l" marL="274320" indent="-274320">
              <a:lnSpc>
                <a:spcPct val="118000"/>
              </a:lnSpc>
              <a:spcBef>
                <a:spcPts val="0"/>
              </a:spcBef>
              <a:spcAft>
                <a:spcPts val="700"/>
              </a:spcAft>
            </a:pPr>
            <a:r>
              <a:rPr sz="1360" b="0" i="0">
                <a:solidFill>
                  <a:srgbClr val="394049"/>
                </a:solidFill>
                <a:latin typeface="Open Sans"/>
              </a:rPr>
              <a:t>•	Se evalúa una grilla de umbrales de momentum entre 1,05 y 1,50.</a:t>
            </a:r>
          </a:p>
          <a:p>
            <a:pPr algn="l" marL="274320" indent="-274320">
              <a:lnSpc>
                <a:spcPct val="118000"/>
              </a:lnSpc>
              <a:spcBef>
                <a:spcPts val="0"/>
              </a:spcBef>
              <a:spcAft>
                <a:spcPts val="0"/>
              </a:spcAft>
            </a:pPr>
            <a:r>
              <a:rPr sz="1360" b="0" i="0">
                <a:solidFill>
                  <a:srgbClr val="394049"/>
                </a:solidFill>
                <a:latin typeface="Open Sans"/>
              </a:rPr>
              <a:t>•	Para cada valor se reoptimizan los pesos de ruteo y se elige la combinación que minimiza el WAPE en validación.</a:t>
            </a:r>
          </a:p>
        </p:txBody>
      </p:sp>
      <p:sp>
        <p:nvSpPr>
          <p:cNvPr id="16" name="Rounded Rectangle 15"/>
          <p:cNvSpPr/>
          <p:nvPr/>
        </p:nvSpPr>
        <p:spPr>
          <a:xfrm>
            <a:off x="12088368"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88368" y="2249424"/>
            <a:ext cx="68580" cy="32004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45568"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por régimen</a:t>
            </a:r>
          </a:p>
          <a:p>
            <a:pPr algn="l" marL="274320" indent="-274320">
              <a:lnSpc>
                <a:spcPct val="118000"/>
              </a:lnSpc>
              <a:spcBef>
                <a:spcPts val="0"/>
              </a:spcBef>
              <a:spcAft>
                <a:spcPts val="700"/>
              </a:spcAft>
            </a:pPr>
            <a:r>
              <a:rPr sz="1360" b="0" i="0">
                <a:solidFill>
                  <a:srgbClr val="394049"/>
                </a:solidFill>
                <a:latin typeface="Open Sans"/>
              </a:rPr>
              <a:t>•	Indicador de momentum: media móvil de 3 meses sobre media móvil de 12.</a:t>
            </a:r>
          </a:p>
          <a:p>
            <a:pPr algn="l" marL="274320" indent="-274320">
              <a:lnSpc>
                <a:spcPct val="118000"/>
              </a:lnSpc>
              <a:spcBef>
                <a:spcPts val="0"/>
              </a:spcBef>
              <a:spcAft>
                <a:spcPts val="0"/>
              </a:spcAft>
            </a:pPr>
            <a:r>
              <a:rPr sz="1360" b="0" i="0">
                <a:solidFill>
                  <a:srgbClr val="394049"/>
                </a:solidFill>
                <a:latin typeface="Open Sans"/>
              </a:rPr>
              <a:t>•	Si la familia acelera, pesa más el componente de nivel dinámico; si está madura, la señal conservadora.</a:t>
            </a:r>
          </a:p>
        </p:txBody>
      </p:sp>
      <p:sp>
        <p:nvSpPr>
          <p:cNvPr id="19" name="TextBox 18"/>
          <p:cNvSpPr txBox="1"/>
          <p:nvPr/>
        </p:nvSpPr>
        <p:spPr>
          <a:xfrm>
            <a:off x="960120" y="576986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200">
                <a:solidFill>
                  <a:srgbClr val="6E6E6E"/>
                </a:solidFill>
                <a:latin typeface="Open Sans"/>
              </a:rPr>
              <a:t>GRILLA DE UMBRALES EVALUADA EN VALIDACIÓN</a:t>
            </a:r>
          </a:p>
        </p:txBody>
      </p:sp>
      <p:sp>
        <p:nvSpPr>
          <p:cNvPr id="20" name="Rounded Rectangle 19"/>
          <p:cNvSpPr/>
          <p:nvPr/>
        </p:nvSpPr>
        <p:spPr>
          <a:xfrm>
            <a:off x="96012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012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1,05</a:t>
            </a:r>
          </a:p>
        </p:txBody>
      </p:sp>
      <p:sp>
        <p:nvSpPr>
          <p:cNvPr id="22" name="Rounded Rectangle 21"/>
          <p:cNvSpPr/>
          <p:nvPr/>
        </p:nvSpPr>
        <p:spPr>
          <a:xfrm>
            <a:off x="365760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365760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1,15</a:t>
            </a:r>
          </a:p>
        </p:txBody>
      </p:sp>
      <p:sp>
        <p:nvSpPr>
          <p:cNvPr id="24" name="Rounded Rectangle 23"/>
          <p:cNvSpPr/>
          <p:nvPr/>
        </p:nvSpPr>
        <p:spPr>
          <a:xfrm>
            <a:off x="6355080" y="6227064"/>
            <a:ext cx="2377440" cy="914400"/>
          </a:xfrm>
          <a:prstGeom prst="roundRect">
            <a:avLst>
              <a:gd name="adj" fmla="val 5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35508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FFFFFF"/>
                </a:solidFill>
                <a:latin typeface="Open Sans"/>
              </a:rPr>
              <a:t>1,25</a:t>
            </a:r>
          </a:p>
        </p:txBody>
      </p:sp>
      <p:sp>
        <p:nvSpPr>
          <p:cNvPr id="26" name="Rounded Rectangle 25"/>
          <p:cNvSpPr/>
          <p:nvPr/>
        </p:nvSpPr>
        <p:spPr>
          <a:xfrm>
            <a:off x="905256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05256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1,35</a:t>
            </a:r>
          </a:p>
        </p:txBody>
      </p:sp>
      <p:sp>
        <p:nvSpPr>
          <p:cNvPr id="28" name="Rounded Rectangle 27"/>
          <p:cNvSpPr/>
          <p:nvPr/>
        </p:nvSpPr>
        <p:spPr>
          <a:xfrm>
            <a:off x="1175004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175004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1,50</a:t>
            </a:r>
          </a:p>
        </p:txBody>
      </p:sp>
      <p:sp>
        <p:nvSpPr>
          <p:cNvPr id="30" name="TextBox 29"/>
          <p:cNvSpPr txBox="1"/>
          <p:nvPr/>
        </p:nvSpPr>
        <p:spPr>
          <a:xfrm>
            <a:off x="6355080" y="7232904"/>
            <a:ext cx="2377440" cy="320040"/>
          </a:xfrm>
          <a:prstGeom prst="rect">
            <a:avLst/>
          </a:prstGeom>
          <a:noFill/>
        </p:spPr>
        <p:txBody>
          <a:bodyPr wrap="square" lIns="0" rIns="0" tIns="0" bIns="0" anchor="t">
            <a:spAutoFit/>
          </a:bodyPr>
          <a:lstStyle/>
          <a:p>
            <a:pPr algn="ctr">
              <a:lnSpc>
                <a:spcPct val="116000"/>
              </a:lnSpc>
              <a:spcBef>
                <a:spcPts val="0"/>
              </a:spcBef>
              <a:spcAft>
                <a:spcPts val="0"/>
              </a:spcAft>
            </a:pPr>
            <a:r>
              <a:rPr sz="1200" b="1" i="0">
                <a:solidFill>
                  <a:srgbClr val="005F91"/>
                </a:solidFill>
                <a:latin typeface="Open Sans"/>
              </a:rPr>
              <a:t>τ* seleccionado</a:t>
            </a:r>
          </a:p>
        </p:txBody>
      </p:sp>
      <p:sp>
        <p:nvSpPr>
          <p:cNvPr id="31" name="TextBox 30"/>
          <p:cNvSpPr txBox="1"/>
          <p:nvPr/>
        </p:nvSpPr>
        <p:spPr>
          <a:xfrm>
            <a:off x="14676120" y="6227064"/>
            <a:ext cx="2651760" cy="914400"/>
          </a:xfrm>
          <a:prstGeom prst="rect">
            <a:avLst/>
          </a:prstGeom>
          <a:noFill/>
        </p:spPr>
        <p:txBody>
          <a:bodyPr wrap="square" lIns="0" rIns="0" tIns="0" bIns="0" anchor="ctr">
            <a:spAutoFit/>
          </a:bodyPr>
          <a:lstStyle/>
          <a:p>
            <a:pPr algn="l">
              <a:lnSpc>
                <a:spcPct val="120000"/>
              </a:lnSpc>
              <a:spcBef>
                <a:spcPts val="0"/>
              </a:spcBef>
              <a:spcAft>
                <a:spcPts val="0"/>
              </a:spcAft>
            </a:pPr>
            <a:r>
              <a:rPr sz="1250" b="0" i="0">
                <a:solidFill>
                  <a:srgbClr val="9AA1A9"/>
                </a:solidFill>
                <a:latin typeface="Open Sans"/>
              </a:rPr>
              <a:t>...para cada umbral se reoptimizan los pesos</a:t>
            </a:r>
          </a:p>
        </p:txBody>
      </p:sp>
      <p:sp>
        <p:nvSpPr>
          <p:cNvPr id="32" name="Rounded Rectangle 31"/>
          <p:cNvSpPr/>
          <p:nvPr/>
        </p:nvSpPr>
        <p:spPr>
          <a:xfrm>
            <a:off x="960120" y="7735824"/>
            <a:ext cx="16367759" cy="1417320"/>
          </a:xfrm>
          <a:prstGeom prst="roundRect">
            <a:avLst>
              <a:gd name="adj" fmla="val 3548"/>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417320" y="7735824"/>
            <a:ext cx="15453359" cy="14173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Esto es lo que da sostenibilidad en el tiempo: los pesos no son una constante del modelo, son un parámetro recalibrable. Si cambia la estructura del mercado, la recalibración reasigna peso hacia los modelos que mejor capturan el nuevo régimen, sin rediseñar la arquitectura.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De la familia al SKU: desagregación top-down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0" name="Rounded Rectangle 9"/>
          <p:cNvSpPr/>
          <p:nvPr/>
        </p:nvSpPr>
        <p:spPr>
          <a:xfrm>
            <a:off x="960120" y="2249424"/>
            <a:ext cx="7863840" cy="2880360"/>
          </a:xfrm>
          <a:prstGeom prst="roundRect">
            <a:avLst>
              <a:gd name="adj" fmla="val 190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ounded Rectangle 10"/>
          <p:cNvSpPr/>
          <p:nvPr/>
        </p:nvSpPr>
        <p:spPr>
          <a:xfrm>
            <a:off x="1371600" y="3209544"/>
            <a:ext cx="2286000" cy="868680"/>
          </a:xfrm>
          <a:prstGeom prst="roundRect">
            <a:avLst>
              <a:gd name="adj" fmla="val 631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3209544"/>
            <a:ext cx="2286000" cy="868680"/>
          </a:xfrm>
          <a:prstGeom prst="rect">
            <a:avLst/>
          </a:prstGeom>
          <a:noFill/>
        </p:spPr>
        <p:txBody>
          <a:bodyPr wrap="square" lIns="0" rIns="0" tIns="0" bIns="0" anchor="ctr">
            <a:spAutoFit/>
          </a:bodyPr>
          <a:lstStyle/>
          <a:p>
            <a:pPr algn="ctr">
              <a:lnSpc>
                <a:spcPct val="116000"/>
              </a:lnSpc>
              <a:spcBef>
                <a:spcPts val="0"/>
              </a:spcBef>
              <a:spcAft>
                <a:spcPts val="200"/>
              </a:spcAft>
            </a:pPr>
            <a:r>
              <a:rPr sz="1500" b="1" i="0">
                <a:solidFill>
                  <a:srgbClr val="FFFFFF"/>
                </a:solidFill>
                <a:latin typeface="Open Sans"/>
              </a:rPr>
              <a:t>Familia</a:t>
            </a:r>
          </a:p>
          <a:p>
            <a:pPr algn="ctr">
              <a:lnSpc>
                <a:spcPct val="116000"/>
              </a:lnSpc>
              <a:spcBef>
                <a:spcPts val="0"/>
              </a:spcBef>
              <a:spcAft>
                <a:spcPts val="0"/>
              </a:spcAft>
            </a:pPr>
            <a:r>
              <a:rPr sz="1100" b="0" i="0">
                <a:solidFill>
                  <a:srgbClr val="CBDCE7"/>
                </a:solidFill>
                <a:latin typeface="Open Sans"/>
              </a:rPr>
              <a:t>demanda proyectada</a:t>
            </a:r>
          </a:p>
        </p:txBody>
      </p:sp>
      <p:sp>
        <p:nvSpPr>
          <p:cNvPr id="13" name="Rounded Rectangle 12"/>
          <p:cNvSpPr/>
          <p:nvPr/>
        </p:nvSpPr>
        <p:spPr>
          <a:xfrm>
            <a:off x="5166359" y="2523744"/>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94959" y="2523744"/>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A</a:t>
            </a:r>
          </a:p>
        </p:txBody>
      </p:sp>
      <p:sp>
        <p:nvSpPr>
          <p:cNvPr id="15" name="TextBox 14"/>
          <p:cNvSpPr txBox="1"/>
          <p:nvPr/>
        </p:nvSpPr>
        <p:spPr>
          <a:xfrm>
            <a:off x="6720840" y="2523744"/>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41 %</a:t>
            </a:r>
          </a:p>
        </p:txBody>
      </p:sp>
      <p:cxnSp>
        <p:nvCxnSpPr>
          <p:cNvPr id="16" name="Connector 15"/>
          <p:cNvCxnSpPr/>
          <p:nvPr/>
        </p:nvCxnSpPr>
        <p:spPr>
          <a:xfrm flipV="1">
            <a:off x="3749039" y="2770632"/>
            <a:ext cx="1325881" cy="86868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66359" y="3072384"/>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394959" y="3072384"/>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B</a:t>
            </a:r>
          </a:p>
        </p:txBody>
      </p:sp>
      <p:sp>
        <p:nvSpPr>
          <p:cNvPr id="19" name="TextBox 18"/>
          <p:cNvSpPr txBox="1"/>
          <p:nvPr/>
        </p:nvSpPr>
        <p:spPr>
          <a:xfrm>
            <a:off x="6720840" y="3072384"/>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27 %</a:t>
            </a:r>
          </a:p>
        </p:txBody>
      </p:sp>
      <p:cxnSp>
        <p:nvCxnSpPr>
          <p:cNvPr id="20" name="Connector 19"/>
          <p:cNvCxnSpPr/>
          <p:nvPr/>
        </p:nvCxnSpPr>
        <p:spPr>
          <a:xfrm flipV="1">
            <a:off x="3749039" y="3319272"/>
            <a:ext cx="1325881" cy="32004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66359" y="3621024"/>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394959" y="3621024"/>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C</a:t>
            </a:r>
          </a:p>
        </p:txBody>
      </p:sp>
      <p:sp>
        <p:nvSpPr>
          <p:cNvPr id="23" name="TextBox 22"/>
          <p:cNvSpPr txBox="1"/>
          <p:nvPr/>
        </p:nvSpPr>
        <p:spPr>
          <a:xfrm>
            <a:off x="6720840" y="3621024"/>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19 %</a:t>
            </a:r>
          </a:p>
        </p:txBody>
      </p:sp>
      <p:cxnSp>
        <p:nvCxnSpPr>
          <p:cNvPr id="24" name="Connector 23"/>
          <p:cNvCxnSpPr/>
          <p:nvPr/>
        </p:nvCxnSpPr>
        <p:spPr>
          <a:xfrm>
            <a:off x="3749039" y="3639312"/>
            <a:ext cx="1325881" cy="22860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66359" y="4169663"/>
            <a:ext cx="3200400" cy="502920"/>
          </a:xfrm>
          <a:prstGeom prst="roundRect">
            <a:avLst>
              <a:gd name="adj" fmla="val 909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94959" y="4169663"/>
            <a:ext cx="1463040" cy="502920"/>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13161B"/>
                </a:solidFill>
                <a:latin typeface="Open Sans"/>
              </a:rPr>
              <a:t>SKU D</a:t>
            </a:r>
          </a:p>
        </p:txBody>
      </p:sp>
      <p:sp>
        <p:nvSpPr>
          <p:cNvPr id="27" name="TextBox 26"/>
          <p:cNvSpPr txBox="1"/>
          <p:nvPr/>
        </p:nvSpPr>
        <p:spPr>
          <a:xfrm>
            <a:off x="6720840" y="4169663"/>
            <a:ext cx="1463040" cy="502920"/>
          </a:xfrm>
          <a:prstGeom prst="rect">
            <a:avLst/>
          </a:prstGeom>
          <a:noFill/>
        </p:spPr>
        <p:txBody>
          <a:bodyPr wrap="square" lIns="0" rIns="0" tIns="0" bIns="0" anchor="ctr">
            <a:spAutoFit/>
          </a:bodyPr>
          <a:lstStyle/>
          <a:p>
            <a:pPr algn="r">
              <a:lnSpc>
                <a:spcPct val="116000"/>
              </a:lnSpc>
              <a:spcBef>
                <a:spcPts val="0"/>
              </a:spcBef>
              <a:spcAft>
                <a:spcPts val="0"/>
              </a:spcAft>
            </a:pPr>
            <a:r>
              <a:rPr sz="1300" b="1" i="0">
                <a:solidFill>
                  <a:srgbClr val="005F91"/>
                </a:solidFill>
                <a:latin typeface="Open Sans"/>
              </a:rPr>
              <a:t>13 %</a:t>
            </a:r>
          </a:p>
        </p:txBody>
      </p:sp>
      <p:cxnSp>
        <p:nvCxnSpPr>
          <p:cNvPr id="28" name="Connector 27"/>
          <p:cNvCxnSpPr/>
          <p:nvPr/>
        </p:nvCxnSpPr>
        <p:spPr>
          <a:xfrm>
            <a:off x="3749039" y="3639312"/>
            <a:ext cx="1325881" cy="77724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700016"/>
            <a:ext cx="70408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cuota de cada SKU reparte la demanda de su familia; las cuotas suman exactamente 100 %.</a:t>
            </a:r>
          </a:p>
        </p:txBody>
      </p:sp>
      <p:sp>
        <p:nvSpPr>
          <p:cNvPr id="30" name="Rounded Rectangle 29"/>
          <p:cNvSpPr/>
          <p:nvPr/>
        </p:nvSpPr>
        <p:spPr>
          <a:xfrm>
            <a:off x="9464040" y="2249424"/>
            <a:ext cx="7863840" cy="2880360"/>
          </a:xfrm>
          <a:prstGeom prst="roundRect">
            <a:avLst>
              <a:gd name="adj" fmla="val 174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464040" y="2249424"/>
            <a:ext cx="68580" cy="28803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921240" y="2578608"/>
            <a:ext cx="7022592" cy="222199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Qué predice esta capa</a:t>
            </a:r>
          </a:p>
          <a:p>
            <a:pPr algn="l" marL="274320" indent="-274320">
              <a:lnSpc>
                <a:spcPct val="118000"/>
              </a:lnSpc>
              <a:spcBef>
                <a:spcPts val="0"/>
              </a:spcBef>
              <a:spcAft>
                <a:spcPts val="700"/>
              </a:spcAft>
            </a:pPr>
            <a:r>
              <a:rPr sz="1380" b="0" i="0">
                <a:solidFill>
                  <a:srgbClr val="394049"/>
                </a:solidFill>
                <a:latin typeface="Open Sans"/>
              </a:rPr>
              <a:t>•	No la demanda del SKU, sino su participación dentro de la familia.</a:t>
            </a:r>
          </a:p>
          <a:p>
            <a:pPr algn="l" marL="274320" indent="-274320">
              <a:lnSpc>
                <a:spcPct val="118000"/>
              </a:lnSpc>
              <a:spcBef>
                <a:spcPts val="0"/>
              </a:spcBef>
              <a:spcAft>
                <a:spcPts val="700"/>
              </a:spcAft>
            </a:pPr>
            <a:r>
              <a:rPr sz="1380" b="0" i="0">
                <a:solidFill>
                  <a:srgbClr val="394049"/>
                </a:solidFill>
                <a:latin typeface="Open Sans"/>
              </a:rPr>
              <a:t>•	La demanda familiar se multiplica por esa cuota y se obtiene el pronóstico del producto.</a:t>
            </a:r>
          </a:p>
          <a:p>
            <a:pPr algn="l" marL="274320" indent="-274320">
              <a:lnSpc>
                <a:spcPct val="118000"/>
              </a:lnSpc>
              <a:spcBef>
                <a:spcPts val="0"/>
              </a:spcBef>
              <a:spcAft>
                <a:spcPts val="0"/>
              </a:spcAft>
            </a:pPr>
            <a:r>
              <a:rPr sz="1380" b="0" i="0">
                <a:solidFill>
                  <a:srgbClr val="394049"/>
                </a:solidFill>
                <a:latin typeface="Open Sans"/>
              </a:rPr>
              <a:t>•	Restringido al catálogo estratégico: las cuotas se normalizan sobre el Top 100 de cada familia.</a:t>
            </a:r>
          </a:p>
        </p:txBody>
      </p:sp>
      <p:sp>
        <p:nvSpPr>
          <p:cNvPr id="33" name="Rounded Rectangle 32"/>
          <p:cNvSpPr/>
          <p:nvPr/>
        </p:nvSpPr>
        <p:spPr>
          <a:xfrm>
            <a:off x="960120" y="5404104"/>
            <a:ext cx="7863840" cy="2743200"/>
          </a:xfrm>
          <a:prstGeom prst="roundRect">
            <a:avLst>
              <a:gd name="adj" fmla="val 18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960120" y="5404104"/>
            <a:ext cx="68580" cy="27432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417320" y="5733288"/>
            <a:ext cx="7022592" cy="2084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A · proporciones históricas</a:t>
            </a:r>
          </a:p>
          <a:p>
            <a:pPr algn="l" marL="274320" indent="-274320">
              <a:lnSpc>
                <a:spcPct val="118000"/>
              </a:lnSpc>
              <a:spcBef>
                <a:spcPts val="0"/>
              </a:spcBef>
              <a:spcAft>
                <a:spcPts val="700"/>
              </a:spcAft>
            </a:pPr>
            <a:r>
              <a:rPr sz="1360" b="0" i="0">
                <a:solidFill>
                  <a:srgbClr val="394049"/>
                </a:solidFill>
                <a:latin typeface="Open Sans"/>
              </a:rPr>
              <a:t>•	La cuota se calcula con las ventas del período de entrenamiento y se mantiene fija en el test.</a:t>
            </a:r>
          </a:p>
          <a:p>
            <a:pPr algn="l" marL="274320" indent="-274320">
              <a:lnSpc>
                <a:spcPct val="118000"/>
              </a:lnSpc>
              <a:spcBef>
                <a:spcPts val="0"/>
              </a:spcBef>
              <a:spcAft>
                <a:spcPts val="700"/>
              </a:spcAft>
            </a:pPr>
            <a:r>
              <a:rPr sz="1360" b="0" i="0">
                <a:solidFill>
                  <a:srgbClr val="394049"/>
                </a:solidFill>
                <a:latin typeface="Open Sans"/>
              </a:rPr>
              <a:t>•	Es el esquema que usan todos los modelos comparados: garantiza una comparación justa.</a:t>
            </a:r>
          </a:p>
          <a:p>
            <a:pPr algn="l" marL="274320" indent="-274320">
              <a:lnSpc>
                <a:spcPct val="118000"/>
              </a:lnSpc>
              <a:spcBef>
                <a:spcPts val="0"/>
              </a:spcBef>
              <a:spcAft>
                <a:spcPts val="0"/>
              </a:spcAft>
            </a:pPr>
            <a:r>
              <a:rPr sz="1360" b="1" i="0">
                <a:solidFill>
                  <a:srgbClr val="394049"/>
                </a:solidFill>
                <a:latin typeface="Open Sans"/>
              </a:rPr>
              <a:t>•	Resultado principal de la tesis: WAPE 16,10 %.</a:t>
            </a:r>
          </a:p>
        </p:txBody>
      </p:sp>
      <p:sp>
        <p:nvSpPr>
          <p:cNvPr id="36" name="Rounded Rectangle 35"/>
          <p:cNvSpPr/>
          <p:nvPr/>
        </p:nvSpPr>
        <p:spPr>
          <a:xfrm>
            <a:off x="9464040" y="5404104"/>
            <a:ext cx="7863840" cy="2743200"/>
          </a:xfrm>
          <a:prstGeom prst="roundRect">
            <a:avLst>
              <a:gd name="adj" fmla="val 18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464040" y="5404104"/>
            <a:ext cx="68580" cy="2743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9921240" y="5733288"/>
            <a:ext cx="7022592" cy="2084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B · cuotas supervisadas (dinámicas)</a:t>
            </a:r>
          </a:p>
          <a:p>
            <a:pPr algn="l" marL="274320" indent="-274320">
              <a:lnSpc>
                <a:spcPct val="118000"/>
              </a:lnSpc>
              <a:spcBef>
                <a:spcPts val="0"/>
              </a:spcBef>
              <a:spcAft>
                <a:spcPts val="700"/>
              </a:spcAft>
            </a:pPr>
            <a:r>
              <a:rPr sz="1360" b="0" i="0">
                <a:solidFill>
                  <a:srgbClr val="394049"/>
                </a:solidFill>
                <a:latin typeface="Open Sans"/>
              </a:rPr>
              <a:t>•	LightGBM, XGBoost y CatBoost predicen la cuota mes a mes con la historia que va surgiendo.</a:t>
            </a:r>
          </a:p>
          <a:p>
            <a:pPr algn="l" marL="274320" indent="-274320">
              <a:lnSpc>
                <a:spcPct val="118000"/>
              </a:lnSpc>
              <a:spcBef>
                <a:spcPts val="0"/>
              </a:spcBef>
              <a:spcAft>
                <a:spcPts val="700"/>
              </a:spcAft>
            </a:pPr>
            <a:r>
              <a:rPr sz="1360" b="0" i="0">
                <a:solidFill>
                  <a:srgbClr val="394049"/>
                </a:solidFill>
                <a:latin typeface="Open Sans"/>
              </a:rPr>
              <a:t>•	Variables: cuota rezagada en t−1 y t−12, medias móviles de 3 y 12 meses, meses desde la última venta y precio relativo del SKU frente a su familia.</a:t>
            </a:r>
          </a:p>
          <a:p>
            <a:pPr algn="l" marL="274320" indent="-274320">
              <a:lnSpc>
                <a:spcPct val="118000"/>
              </a:lnSpc>
              <a:spcBef>
                <a:spcPts val="0"/>
              </a:spcBef>
              <a:spcAft>
                <a:spcPts val="0"/>
              </a:spcAft>
            </a:pPr>
            <a:r>
              <a:rPr sz="1360" b="1" i="0">
                <a:solidFill>
                  <a:srgbClr val="394049"/>
                </a:solidFill>
                <a:latin typeface="Open Sans"/>
              </a:rPr>
              <a:t>•	Extensión metodológica evaluada: WAPE 24,35 %.</a:t>
            </a:r>
          </a:p>
        </p:txBody>
      </p:sp>
      <p:sp>
        <p:nvSpPr>
          <p:cNvPr id="39" name="Rounded Rectangle 38"/>
          <p:cNvSpPr/>
          <p:nvPr/>
        </p:nvSpPr>
        <p:spPr>
          <a:xfrm>
            <a:off x="960120" y="8421624"/>
            <a:ext cx="16367759" cy="731520"/>
          </a:xfrm>
          <a:prstGeom prst="roundRect">
            <a:avLst>
              <a:gd name="adj" fmla="val 6874"/>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1417320" y="8421624"/>
            <a:ext cx="15453359" cy="731520"/>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Hallazgo: en catálogos con alta intermitencia, la estabilidad de las proporciones históricas venció a la sofisticación de las cuotas aprendidas.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Detalle completo de métricas en el anexo A1.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la demanda no es estocástica, la dirige el plan comercial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7863840" cy="5577840"/>
          </a:xfrm>
          <a:prstGeom prst="roundRect">
            <a:avLst>
              <a:gd name="adj" fmla="val 98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234440" y="2639917"/>
            <a:ext cx="7315200" cy="4796852"/>
          </a:xfrm>
          <a:prstGeom prst="rect">
            <a:avLst/>
          </a:prstGeom>
        </p:spPr>
      </p:pic>
      <p:sp>
        <p:nvSpPr>
          <p:cNvPr id="12" name="TextBox 11"/>
          <p:cNvSpPr txBox="1"/>
          <p:nvPr/>
        </p:nvSpPr>
        <p:spPr>
          <a:xfrm>
            <a:off x="960120" y="796442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a:t>
            </a:r>
          </a:p>
        </p:txBody>
      </p:sp>
      <p:sp>
        <p:nvSpPr>
          <p:cNvPr id="13" name="Rounded Rectangle 12"/>
          <p:cNvSpPr/>
          <p:nvPr/>
        </p:nvSpPr>
        <p:spPr>
          <a:xfrm>
            <a:off x="9464040" y="2249424"/>
            <a:ext cx="7863840" cy="3840480"/>
          </a:xfrm>
          <a:prstGeom prst="roundRect">
            <a:avLst>
              <a:gd name="adj" fmla="val 142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5_4.png"/>
          <p:cNvPicPr>
            <a:picLocks noChangeAspect="1"/>
          </p:cNvPicPr>
          <p:nvPr/>
        </p:nvPicPr>
        <p:blipFill>
          <a:blip r:embed="rId3"/>
          <a:stretch>
            <a:fillRect/>
          </a:stretch>
        </p:blipFill>
        <p:spPr>
          <a:xfrm>
            <a:off x="10113074" y="2478024"/>
            <a:ext cx="6565771" cy="3383280"/>
          </a:xfrm>
          <a:prstGeom prst="rect">
            <a:avLst/>
          </a:prstGeom>
        </p:spPr>
      </p:pic>
      <p:sp>
        <p:nvSpPr>
          <p:cNvPr id="15" name="TextBox 14"/>
          <p:cNvSpPr txBox="1"/>
          <p:nvPr/>
        </p:nvSpPr>
        <p:spPr>
          <a:xfrm>
            <a:off x="9464040" y="622706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a:t>
            </a:r>
          </a:p>
        </p:txBody>
      </p:sp>
      <p:sp>
        <p:nvSpPr>
          <p:cNvPr id="16" name="Rounded Rectangle 15"/>
          <p:cNvSpPr/>
          <p:nvPr/>
        </p:nvSpPr>
        <p:spPr>
          <a:xfrm>
            <a:off x="9464040" y="6684264"/>
            <a:ext cx="7863840" cy="2468880"/>
          </a:xfrm>
          <a:prstGeom prst="roundRect">
            <a:avLst>
              <a:gd name="adj" fmla="val 2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464040" y="6684264"/>
            <a:ext cx="68580" cy="24688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921240" y="7013448"/>
            <a:ext cx="7022592" cy="18105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Dos lecturas, una advertencia</a:t>
            </a:r>
          </a:p>
          <a:p>
            <a:pPr algn="l" marL="274320" indent="-274320">
              <a:lnSpc>
                <a:spcPct val="118000"/>
              </a:lnSpc>
              <a:spcBef>
                <a:spcPts val="0"/>
              </a:spcBef>
              <a:spcAft>
                <a:spcPts val="700"/>
              </a:spcAft>
            </a:pPr>
            <a:r>
              <a:rPr sz="1380" b="0" i="0">
                <a:solidFill>
                  <a:srgbClr val="394049"/>
                </a:solidFill>
                <a:latin typeface="Open Sans"/>
              </a:rPr>
              <a:t>•	El precio ex-ante concentra el 67,0 % de la ganancia total del submodelo GBDT.</a:t>
            </a:r>
          </a:p>
          <a:p>
            <a:pPr algn="l" marL="274320" indent="-274320">
              <a:lnSpc>
                <a:spcPct val="118000"/>
              </a:lnSpc>
              <a:spcBef>
                <a:spcPts val="0"/>
              </a:spcBef>
              <a:spcAft>
                <a:spcPts val="700"/>
              </a:spcAft>
            </a:pPr>
            <a:r>
              <a:rPr sz="1380" b="0" i="0">
                <a:solidFill>
                  <a:srgbClr val="394049"/>
                </a:solidFill>
                <a:latin typeface="Open Sans"/>
              </a:rPr>
              <a:t>•	Aun sin precios (38,25 %), la arquitectura supera a SARIMA (76,74 %) y SBA (83,42 %): la base estructural aporta por sí sola.</a:t>
            </a:r>
          </a:p>
          <a:p>
            <a:pPr algn="l" marL="274320" indent="-274320">
              <a:lnSpc>
                <a:spcPct val="118000"/>
              </a:lnSpc>
              <a:spcBef>
                <a:spcPts val="0"/>
              </a:spcBef>
              <a:spcAft>
                <a:spcPts val="0"/>
              </a:spcAft>
            </a:pPr>
            <a:r>
              <a:rPr sz="1380" b="0" i="0">
                <a:solidFill>
                  <a:srgbClr val="394049"/>
                </a:solidFill>
                <a:latin typeface="Open Sans"/>
              </a:rPr>
              <a:t>•	La importancia por ganancia no es una estimación causal de la elasticidad precio.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21</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22</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ounded Rectangle 15"/>
          <p:cNvSpPr/>
          <p:nvPr/>
        </p:nvSpPr>
        <p:spPr>
          <a:xfrm>
            <a:off x="960120" y="7598663"/>
            <a:ext cx="16367759" cy="1554480"/>
          </a:xfrm>
          <a:prstGeom prst="roundRect">
            <a:avLst>
              <a:gd name="adj" fmla="val 323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98663"/>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650" b="1" i="0">
                <a:solidFill>
                  <a:srgbClr val="FFFFFF"/>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sp>
        <p:nvSpPr>
          <p:cNvPr id="10" name="Rounded Rectangle 9"/>
          <p:cNvSpPr/>
          <p:nvPr/>
        </p:nvSpPr>
        <p:spPr>
          <a:xfrm>
            <a:off x="960120" y="2249424"/>
            <a:ext cx="16367759"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7.png"/>
          <p:cNvPicPr>
            <a:picLocks noChangeAspect="1"/>
          </p:cNvPicPr>
          <p:nvPr/>
        </p:nvPicPr>
        <p:blipFill>
          <a:blip r:embed="rId2"/>
          <a:stretch>
            <a:fillRect/>
          </a:stretch>
        </p:blipFill>
        <p:spPr>
          <a:xfrm>
            <a:off x="3887281" y="2523744"/>
            <a:ext cx="10513436" cy="5577840"/>
          </a:xfrm>
          <a:prstGeom prst="rect">
            <a:avLst/>
          </a:prstGeom>
        </p:spPr>
      </p:pic>
      <p:sp>
        <p:nvSpPr>
          <p:cNvPr id="12" name="TextBox 11"/>
          <p:cNvSpPr txBox="1"/>
          <p:nvPr/>
        </p:nvSpPr>
        <p:spPr>
          <a:xfrm>
            <a:off x="960120" y="851306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Métricas completas fuera de muestra (feb–ago 2025) para los diez modelos evaluados, en los niveles SKU y familia.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25</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29</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30</a:t>
            </a:r>
          </a:p>
        </p:txBody>
      </p:sp>
      <p:sp>
        <p:nvSpPr>
          <p:cNvPr id="10" name="Rounded Rectangle 9"/>
          <p:cNvSpPr/>
          <p:nvPr/>
        </p:nvSpPr>
        <p:spPr>
          <a:xfrm>
            <a:off x="96012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9377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9377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ounded Rectangle 15"/>
          <p:cNvSpPr/>
          <p:nvPr/>
        </p:nvSpPr>
        <p:spPr>
          <a:xfrm>
            <a:off x="960120" y="7507224"/>
            <a:ext cx="16367759" cy="1554480"/>
          </a:xfrm>
          <a:prstGeom prst="roundRect">
            <a:avLst>
              <a:gd name="adj" fmla="val 3235"/>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07224"/>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550" b="0" i="0">
                <a:solidFill>
                  <a:srgbClr val="394049"/>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