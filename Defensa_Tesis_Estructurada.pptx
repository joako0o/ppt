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</p:sldIdLst>
  <p:sldSz cx="18288000" cy="10287000"/>
  <p:notesSz cx="6858000" cy="9144000"/>
  <p:embeddedFontLst>
    <p:embeddedFont>
      <p:font typeface="Open Sans Bold" charset="1" panose="020B0806030504020204"/>
      <p:regular r:id="rId26"/>
    </p:embeddedFont>
    <p:embeddedFont>
      <p:font typeface="Open Sans" charset="1" panose="020B0606030504020204"/>
      <p:regular r:id="rId2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font" Target="fonts/font26.fntdata"/><Relationship Id="rId27" Type="http://schemas.openxmlformats.org/officeDocument/2006/relationships/font" Target="fonts/font27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6675778" y="1012213"/>
            <a:ext cx="5198075" cy="2391115"/>
          </a:xfrm>
          <a:custGeom>
            <a:avLst/>
            <a:gdLst/>
            <a:ahLst/>
            <a:cxnLst/>
            <a:rect r="r" b="b" t="t" l="l"/>
            <a:pathLst>
              <a:path h="2391115" w="5198075">
                <a:moveTo>
                  <a:pt x="0" y="0"/>
                </a:moveTo>
                <a:lnTo>
                  <a:pt x="5198075" y="0"/>
                </a:lnTo>
                <a:lnTo>
                  <a:pt x="5198075" y="2391115"/>
                </a:lnTo>
                <a:lnTo>
                  <a:pt x="0" y="239111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2307857" y="4127228"/>
            <a:ext cx="13679129" cy="1384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“Pronóstico Jerárquico de Dem</a:t>
            </a:r>
            <a:r>
              <a:rPr lang="en-US" b="true" sz="3999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anda Intermitente en el Retail de Moda Femenina”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2307857" y="5586818"/>
            <a:ext cx="13679129" cy="422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b="true" sz="2499">
                <a:solidFill>
                  <a:srgbClr val="6E6E6E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Un Ens</a:t>
            </a:r>
            <a:r>
              <a:rPr lang="en-US" b="true" sz="2499">
                <a:solidFill>
                  <a:srgbClr val="6E6E6E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amble Híbrido de Machine Learning con Desacoplamiento Jerárquico 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2304435" y="3565253"/>
            <a:ext cx="13679129" cy="5143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</a:pPr>
            <a:r>
              <a:rPr lang="en-US" sz="3000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Memoria p</a:t>
            </a:r>
            <a:r>
              <a:rPr lang="en-US" b="true" sz="300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ara optar al título de Ingeniero Comercial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1963767" y="6463245"/>
            <a:ext cx="14131119" cy="92342"/>
            <a:chOff x="0" y="0"/>
            <a:chExt cx="18841492" cy="123123"/>
          </a:xfrm>
        </p:grpSpPr>
        <p:grpSp>
          <p:nvGrpSpPr>
            <p:cNvPr name="Group 7" id="7"/>
            <p:cNvGrpSpPr/>
            <p:nvPr/>
          </p:nvGrpSpPr>
          <p:grpSpPr>
            <a:xfrm rot="0">
              <a:off x="0" y="0"/>
              <a:ext cx="6280497" cy="123123"/>
              <a:chOff x="0" y="0"/>
              <a:chExt cx="1240592" cy="24321"/>
            </a:xfrm>
          </p:grpSpPr>
          <p:sp>
            <p:nvSpPr>
              <p:cNvPr name="Freeform 8" id="8"/>
              <p:cNvSpPr/>
              <p:nvPr/>
            </p:nvSpPr>
            <p:spPr>
              <a:xfrm flipH="false" flipV="false" rot="0">
                <a:off x="0" y="0"/>
                <a:ext cx="1240592" cy="24321"/>
              </a:xfrm>
              <a:custGeom>
                <a:avLst/>
                <a:gdLst/>
                <a:ahLst/>
                <a:cxnLst/>
                <a:rect r="r" b="b" t="t" l="l"/>
                <a:pathLst>
                  <a:path h="24321" w="1240592">
                    <a:moveTo>
                      <a:pt x="0" y="0"/>
                    </a:moveTo>
                    <a:lnTo>
                      <a:pt x="1240592" y="0"/>
                    </a:lnTo>
                    <a:lnTo>
                      <a:pt x="1240592" y="24321"/>
                    </a:lnTo>
                    <a:lnTo>
                      <a:pt x="0" y="24321"/>
                    </a:lnTo>
                    <a:close/>
                  </a:path>
                </a:pathLst>
              </a:custGeom>
              <a:solidFill>
                <a:srgbClr val="D10120"/>
              </a:solidFill>
            </p:spPr>
          </p:sp>
          <p:sp>
            <p:nvSpPr>
              <p:cNvPr name="TextBox 9" id="9"/>
              <p:cNvSpPr txBox="true"/>
              <p:nvPr/>
            </p:nvSpPr>
            <p:spPr>
              <a:xfrm>
                <a:off x="0" y="-47625"/>
                <a:ext cx="1240592" cy="7194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499"/>
                  </a:lnSpc>
                </a:pPr>
              </a:p>
            </p:txBody>
          </p:sp>
        </p:grpSp>
        <p:grpSp>
          <p:nvGrpSpPr>
            <p:cNvPr name="Group 10" id="10"/>
            <p:cNvGrpSpPr/>
            <p:nvPr/>
          </p:nvGrpSpPr>
          <p:grpSpPr>
            <a:xfrm rot="0">
              <a:off x="12560995" y="0"/>
              <a:ext cx="6280497" cy="123123"/>
              <a:chOff x="0" y="0"/>
              <a:chExt cx="1240592" cy="24321"/>
            </a:xfrm>
          </p:grpSpPr>
          <p:sp>
            <p:nvSpPr>
              <p:cNvPr name="Freeform 11" id="11"/>
              <p:cNvSpPr/>
              <p:nvPr/>
            </p:nvSpPr>
            <p:spPr>
              <a:xfrm flipH="false" flipV="false" rot="0">
                <a:off x="0" y="0"/>
                <a:ext cx="1240592" cy="24321"/>
              </a:xfrm>
              <a:custGeom>
                <a:avLst/>
                <a:gdLst/>
                <a:ahLst/>
                <a:cxnLst/>
                <a:rect r="r" b="b" t="t" l="l"/>
                <a:pathLst>
                  <a:path h="24321" w="1240592">
                    <a:moveTo>
                      <a:pt x="0" y="0"/>
                    </a:moveTo>
                    <a:lnTo>
                      <a:pt x="1240592" y="0"/>
                    </a:lnTo>
                    <a:lnTo>
                      <a:pt x="1240592" y="24321"/>
                    </a:lnTo>
                    <a:lnTo>
                      <a:pt x="0" y="24321"/>
                    </a:lnTo>
                    <a:close/>
                  </a:path>
                </a:pathLst>
              </a:custGeom>
              <a:solidFill>
                <a:srgbClr val="005F91"/>
              </a:solidFill>
            </p:spPr>
          </p:sp>
          <p:sp>
            <p:nvSpPr>
              <p:cNvPr name="TextBox 12" id="12"/>
              <p:cNvSpPr txBox="true"/>
              <p:nvPr/>
            </p:nvSpPr>
            <p:spPr>
              <a:xfrm>
                <a:off x="0" y="-47625"/>
                <a:ext cx="1240592" cy="7194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499"/>
                  </a:lnSpc>
                </a:pPr>
              </a:p>
            </p:txBody>
          </p:sp>
        </p:grpSp>
        <p:grpSp>
          <p:nvGrpSpPr>
            <p:cNvPr name="Group 13" id="13"/>
            <p:cNvGrpSpPr/>
            <p:nvPr/>
          </p:nvGrpSpPr>
          <p:grpSpPr>
            <a:xfrm rot="0">
              <a:off x="6280497" y="0"/>
              <a:ext cx="6280497" cy="123123"/>
              <a:chOff x="0" y="0"/>
              <a:chExt cx="1240592" cy="24321"/>
            </a:xfrm>
          </p:grpSpPr>
          <p:sp>
            <p:nvSpPr>
              <p:cNvPr name="Freeform 14" id="14"/>
              <p:cNvSpPr/>
              <p:nvPr/>
            </p:nvSpPr>
            <p:spPr>
              <a:xfrm flipH="false" flipV="false" rot="0">
                <a:off x="0" y="0"/>
                <a:ext cx="1240592" cy="24321"/>
              </a:xfrm>
              <a:custGeom>
                <a:avLst/>
                <a:gdLst/>
                <a:ahLst/>
                <a:cxnLst/>
                <a:rect r="r" b="b" t="t" l="l"/>
                <a:pathLst>
                  <a:path h="24321" w="1240592">
                    <a:moveTo>
                      <a:pt x="0" y="0"/>
                    </a:moveTo>
                    <a:lnTo>
                      <a:pt x="1240592" y="0"/>
                    </a:lnTo>
                    <a:lnTo>
                      <a:pt x="1240592" y="24321"/>
                    </a:lnTo>
                    <a:lnTo>
                      <a:pt x="0" y="24321"/>
                    </a:lnTo>
                    <a:close/>
                  </a:path>
                </a:pathLst>
              </a:custGeom>
              <a:solidFill>
                <a:srgbClr val="F7B006"/>
              </a:solidFill>
            </p:spPr>
          </p:sp>
          <p:sp>
            <p:nvSpPr>
              <p:cNvPr name="TextBox 15" id="15"/>
              <p:cNvSpPr txBox="true"/>
              <p:nvPr/>
            </p:nvSpPr>
            <p:spPr>
              <a:xfrm>
                <a:off x="0" y="-47625"/>
                <a:ext cx="1240592" cy="7194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499"/>
                  </a:lnSpc>
                </a:pPr>
              </a:p>
            </p:txBody>
          </p:sp>
        </p:grpSp>
      </p:grpSp>
      <p:sp>
        <p:nvSpPr>
          <p:cNvPr name="TextBox 16" id="16"/>
          <p:cNvSpPr txBox="true"/>
          <p:nvPr/>
        </p:nvSpPr>
        <p:spPr>
          <a:xfrm rot="0">
            <a:off x="2209256" y="7072767"/>
            <a:ext cx="3894053" cy="701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800"/>
              </a:lnSpc>
            </a:pPr>
            <a:r>
              <a:rPr lang="en-US" sz="2000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Profesor Guia</a:t>
            </a:r>
          </a:p>
          <a:p>
            <a:pPr algn="just">
              <a:lnSpc>
                <a:spcPts val="2800"/>
              </a:lnSpc>
            </a:pPr>
            <a:r>
              <a:rPr lang="en-US" sz="20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Marcelo Julián Villena Chamorro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7351084" y="7072767"/>
            <a:ext cx="4076809" cy="701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00"/>
              </a:lnSpc>
            </a:pPr>
            <a:r>
              <a:rPr lang="en-US" sz="2000" b="true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Autor</a:t>
            </a:r>
          </a:p>
          <a:p>
            <a:pPr algn="ctr">
              <a:lnSpc>
                <a:spcPts val="2800"/>
              </a:lnSpc>
            </a:pPr>
            <a:r>
              <a:rPr lang="en-US" sz="20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Joaquín Ignacio Mondaca Parada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2679500" y="7072767"/>
            <a:ext cx="3660874" cy="701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800"/>
              </a:lnSpc>
              <a:spcBef>
                <a:spcPct val="0"/>
              </a:spcBef>
            </a:pPr>
            <a:r>
              <a:rPr lang="en-US" b="true" sz="200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Profesora Correferente</a:t>
            </a:r>
          </a:p>
          <a:p>
            <a:pPr algn="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Jocelyn Andrea Tapia Stefanoni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Contexto y Problema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000"/>
            </a:pPr>
            <a:r>
              <a:t>Dinámica del Retail de Moda Femenina:</a:t>
            </a:r>
          </a:p>
          <a:p>
            <a:pPr>
              <a:defRPr sz="2000"/>
            </a:pPr>
            <a:r>
              <a:t>  • Ciclos de vida extremadamente cortos (2-3 meses por colección).</a:t>
            </a:r>
          </a:p>
          <a:p>
            <a:pPr>
              <a:defRPr sz="2000"/>
            </a:pPr>
            <a:r>
              <a:t>  • Alta sensibilidad a señales comerciales (precios, liquidaciones).</a:t>
            </a:r>
          </a:p>
          <a:p>
            <a:pPr>
              <a:defRPr sz="2000"/>
            </a:pPr>
            <a:r>
              <a:t>  • Desfase de abastecimiento: órdenes a 3-6 meses.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El Problema Estructural:</a:t>
            </a:r>
          </a:p>
          <a:p>
            <a:pPr>
              <a:defRPr sz="2000"/>
            </a:pPr>
            <a:r>
              <a:t>  • Alta intermitencia: 30,3% de ceros a nivel SKU.</a:t>
            </a:r>
          </a:p>
          <a:p>
            <a:pPr>
              <a:defRPr sz="2000"/>
            </a:pPr>
            <a:r>
              <a:t>  • Sobre-stock: inmoviliza capital y fuerza liquidaciones.</a:t>
            </a:r>
          </a:p>
          <a:p>
            <a:pPr>
              <a:defRPr sz="2000"/>
            </a:pPr>
            <a:r>
              <a:t>  • Quiebre de stock: pérdida de ingresos y deterioro de la fidelidad.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Solución Propuesta y Spoiler de Resultados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000"/>
            </a:pPr>
            <a:r>
              <a:t>¿Qué proponemos?</a:t>
            </a:r>
          </a:p>
          <a:p>
            <a:pPr>
              <a:defRPr sz="2000"/>
            </a:pPr>
            <a:r>
              <a:t>  • Arquitectura jerárquica de ensamble híbrido (ES-GBM).</a:t>
            </a:r>
          </a:p>
          <a:p>
            <a:pPr>
              <a:defRPr sz="2000"/>
            </a:pPr>
            <a:r>
              <a:t>  • Integra series de tiempo (estadística) con ML (modelos no lineales).</a:t>
            </a:r>
          </a:p>
          <a:p>
            <a:pPr>
              <a:defRPr sz="2000"/>
            </a:pPr>
            <a:r>
              <a:t>  • Pronostica arriba (Familia) y desagrega abajo (SKU).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Spoiler de Resultados:</a:t>
            </a:r>
          </a:p>
          <a:p>
            <a:pPr>
              <a:defRPr sz="2000"/>
            </a:pPr>
            <a:r>
              <a:t>  • Hubo un extenso benchmark (SARIMA, Croston, LSTM, Chronos).</a:t>
            </a:r>
          </a:p>
          <a:p>
            <a:pPr>
              <a:defRPr sz="2000"/>
            </a:pPr>
            <a:r>
              <a:t>  • Nos enfocaremos en el ES-GBM, el claro ganador.</a:t>
            </a:r>
          </a:p>
          <a:p>
            <a:pPr>
              <a:defRPr sz="2000"/>
            </a:pPr>
            <a:r>
              <a:t>  • Redujo el error WAPE a un extraordinario 16,10% (R² de 0,95) frente a &gt;70% de las bases clásicas.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Supuestos y Consideraciones Relevantes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000"/>
            </a:pPr>
            <a:r>
              <a:t>Supuestos Base:</a:t>
            </a:r>
          </a:p>
          <a:p>
            <a:pPr>
              <a:defRPr sz="2000"/>
            </a:pPr>
            <a:r>
              <a:t>  • Ventas en cero: Si hay inventario y venta 0, se asume demanda 0.</a:t>
            </a:r>
          </a:p>
          <a:p>
            <a:pPr>
              <a:defRPr sz="2000"/>
            </a:pPr>
            <a:r>
              <a:t>  • Planificación Comercial: Precio y descuento son conocidos ex-ante por la empresa.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Foco Estratégico (Núcleo Comercial):</a:t>
            </a:r>
          </a:p>
          <a:p>
            <a:pPr>
              <a:defRPr sz="2000"/>
            </a:pPr>
            <a:r>
              <a:t>  • Se evalúa el Top 100 SKUs de mayor rotación y 58 Familias.</a:t>
            </a:r>
          </a:p>
          <a:p>
            <a:pPr>
              <a:defRPr sz="2000"/>
            </a:pPr>
            <a:r>
              <a:t>  • Concentran el 72% del volumen y el 78% del margen de contribución, maximizando el impacto financiero.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Variables del Modelo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000"/>
            </a:pPr>
            <a:r>
              <a:t>Target y de Identificación:</a:t>
            </a:r>
          </a:p>
          <a:p>
            <a:pPr>
              <a:defRPr sz="2000"/>
            </a:pPr>
            <a:r>
              <a:t>  • Venta Cantidad (Target principal).</a:t>
            </a:r>
          </a:p>
          <a:p>
            <a:pPr>
              <a:defRPr sz="2000"/>
            </a:pPr>
            <a:r>
              <a:t>  • Venta Monto Neto (Ponderación financiera).</a:t>
            </a:r>
          </a:p>
          <a:p>
            <a:pPr>
              <a:defRPr sz="2000"/>
            </a:pPr>
            <a:r>
              <a:t>  • Jerarquía: Departamento, Familia, Sub-familia, SKU.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Exógenas (Planificación Comercial Ex-Ante):</a:t>
            </a:r>
          </a:p>
          <a:p>
            <a:pPr>
              <a:defRPr sz="2000"/>
            </a:pPr>
            <a:r>
              <a:t>  • Precio Promedio Proyectado.</a:t>
            </a:r>
          </a:p>
          <a:p>
            <a:pPr>
              <a:defRPr sz="2000"/>
            </a:pPr>
            <a:r>
              <a:t>  • Descuento Comercial Promedio.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Temporales y de Rezago:</a:t>
            </a:r>
          </a:p>
          <a:p>
            <a:pPr>
              <a:defRPr sz="2000"/>
            </a:pPr>
            <a:r>
              <a:t>  • Demanda histórica rezagada (12 meses móviles).</a:t>
            </a:r>
          </a:p>
          <a:p>
            <a:pPr>
              <a:defRPr sz="2000"/>
            </a:pPr>
            <a:r>
              <a:t>  • Componentes estacionales armónicos (seno/coseno del mes).</a:t>
            </a:r>
          </a:p>
          <a:p>
            <a:pPr>
              <a:defRPr sz="2000"/>
            </a:pPr>
            <a:r>
              <a:t>  • Días de venta efectiva (para ajustar intermitencia).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Metodología de Entrenamiento (80-10-10)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000"/>
            </a:pPr>
            <a:r>
              <a:t>Partición Cronológica (Rolling-Origin):</a:t>
            </a:r>
          </a:p>
          <a:p>
            <a:pPr>
              <a:defRPr sz="2000"/>
            </a:pPr>
            <a:r>
              <a:t>  • 80% Entrenamiento: Para aprender los patrones históricos.</a:t>
            </a:r>
          </a:p>
          <a:p>
            <a:pPr>
              <a:defRPr sz="2000"/>
            </a:pPr>
            <a:r>
              <a:t>  • 10% Validación: Para calibrar pesos y umbrales hiperparamétricos sin mirar el futuro.</a:t>
            </a:r>
          </a:p>
          <a:p>
            <a:pPr>
              <a:defRPr sz="2000"/>
            </a:pPr>
            <a:r>
              <a:t>  • 10% Prueba (Test): Evaluación fuera de muestra (febrero a agosto de 2025).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¿Por qué esta partición temporal estricta?</a:t>
            </a:r>
          </a:p>
          <a:p>
            <a:pPr>
              <a:defRPr sz="2000"/>
            </a:pPr>
            <a:r>
              <a:t>  • En series de tiempo es vital respetar el orden temporal para evitar 'Data Leakage' (filtrar información del futuro al pasado).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Arquitectura del Modelo (ES-GBM)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000"/>
            </a:pPr>
            <a:r>
              <a:t>Enfoque Top-Down con Desacoplamiento Jerárquico:</a:t>
            </a:r>
          </a:p>
          <a:p>
            <a:pPr>
              <a:defRPr sz="2000"/>
            </a:pPr>
            <a:r>
              <a:t>Se procesa en tres etapas para abordar la complejidad de la serie: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  1. Capa 1: Desacoplamiento Estructural (Componente Inercial).</a:t>
            </a:r>
          </a:p>
          <a:p>
            <a:pPr>
              <a:defRPr sz="2000"/>
            </a:pPr>
            <a:r>
              <a:t>  2. Capa 2: Proyección de Residuos Comerciales (Impacto vía ML).</a:t>
            </a:r>
          </a:p>
          <a:p>
            <a:pPr>
              <a:defRPr sz="2000"/>
            </a:pPr>
            <a:r>
              <a:t>  3. Capa 3: Desagregación Jerárquica y Ruteo Dinámico (Top-Down).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Primero se captura la señal fuerte a nivel Familia, luego se modelan los precios, y finalmente se reparte al SKU.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Capa 1: Desacoplamiento Estructural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000"/>
            </a:pPr>
            <a:r>
              <a:t>Objetivo:</a:t>
            </a:r>
          </a:p>
          <a:p>
            <a:pPr>
              <a:defRPr sz="2000"/>
            </a:pPr>
            <a:r>
              <a:t>  • Capturar la inercia, tendencia base y estacionalidad estructural a nivel de Familia.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Método:</a:t>
            </a:r>
          </a:p>
          <a:p>
            <a:pPr>
              <a:defRPr sz="2000"/>
            </a:pPr>
            <a:r>
              <a:t>  • Suavizamiento Exponencial (Holt amortiguado u Holt-Winters).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Impacto en la Arquitectura:</a:t>
            </a:r>
          </a:p>
          <a:p>
            <a:pPr>
              <a:defRPr sz="2000"/>
            </a:pPr>
            <a:r>
              <a:t>  • Extrae la señal 'fuerte' y continua de la serie.</a:t>
            </a:r>
          </a:p>
          <a:p>
            <a:pPr>
              <a:defRPr sz="2000"/>
            </a:pPr>
            <a:r>
              <a:t>  • Delega el modelado de eventos disruptivos (promociones) a la siguiente capa.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Capa 2: Proyección de Residuos Comerciales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000"/>
            </a:pPr>
            <a:r>
              <a:t>Objetivo:</a:t>
            </a:r>
          </a:p>
          <a:p>
            <a:pPr>
              <a:defRPr sz="2000"/>
            </a:pPr>
            <a:r>
              <a:t>  • Modelar los errores o residuos (lo que la Capa 1 no logró predecir).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Método (Machine Learning):</a:t>
            </a:r>
          </a:p>
          <a:p>
            <a:pPr>
              <a:defRPr sz="2000"/>
            </a:pPr>
            <a:r>
              <a:t>  • Ensamble de algoritmos Gradient Boosting (XGBoost, LightGBM, CatBoost) y fundacional (TabPFN).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Impacto en la Arquitectura:</a:t>
            </a:r>
          </a:p>
          <a:p>
            <a:pPr>
              <a:defRPr sz="2000"/>
            </a:pPr>
            <a:r>
              <a:t>  • Incorpora variables exógenas (precio, descuentos).</a:t>
            </a:r>
          </a:p>
          <a:p>
            <a:pPr>
              <a:defRPr sz="2000"/>
            </a:pPr>
            <a:r>
              <a:t>  • Captura la alta sensibilidad promocional del fast-fashion.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Capa 3: Desagregación Jerárquica (Top-Down)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000"/>
            </a:pPr>
            <a:r>
              <a:t>Integración (Blend):</a:t>
            </a:r>
          </a:p>
          <a:p>
            <a:pPr>
              <a:defRPr sz="2000"/>
            </a:pPr>
            <a:r>
              <a:t>  • Combina predicciones de Capa 1 y Capa 2 mediante ruteo dinámico por momentum (τ* ∈ [1.05; 1.50]).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Desagregación (Learned Shares):</a:t>
            </a:r>
          </a:p>
          <a:p>
            <a:pPr>
              <a:defRPr sz="2000"/>
            </a:pPr>
            <a:r>
              <a:t>  • La demanda familiar se reparte a SKUs individuales con proporciones históricas.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Beneficio Clave:</a:t>
            </a:r>
          </a:p>
          <a:p>
            <a:pPr>
              <a:defRPr sz="2000"/>
            </a:pPr>
            <a:r>
              <a:t>  • Resuelve el 30,3% de ceros (intermitencia). Pronosticar arriba da una señal limpia que se distribuye eficientemente abajo.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Resultados y Benchmark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000"/>
            </a:pPr>
            <a:r>
              <a:t>Desempeño en Prueba Fuera de Muestra (WAPE a nivel SKU):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  • Croston (Clásico intermitencia): 84,87%</a:t>
            </a:r>
          </a:p>
          <a:p>
            <a:pPr>
              <a:defRPr sz="2000"/>
            </a:pPr>
            <a:r>
              <a:t>  • SARIMA: 76,74%</a:t>
            </a:r>
          </a:p>
          <a:p>
            <a:pPr>
              <a:defRPr sz="2000"/>
            </a:pPr>
            <a:r>
              <a:t>  • SARIMAX: 73,24%</a:t>
            </a:r>
          </a:p>
          <a:p>
            <a:pPr>
              <a:defRPr sz="2000"/>
            </a:pPr>
            <a:r>
              <a:t>  • Seasonal Naïve: 69,89%</a:t>
            </a:r>
          </a:p>
          <a:p>
            <a:pPr>
              <a:defRPr sz="2000"/>
            </a:pPr>
            <a:r>
              <a:t>  • Redes LSTM (Top-Down): 45,75%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  ► ES-GBM (Propuesto y ganador): 16,10%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El modelo propuesto arrasa con las líneas base (R² de 0,95).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Impacto Financiero y Operacional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000"/>
            </a:pPr>
            <a:r>
              <a:t>¿Qué significa pasar de un error &gt;70% a un 16.10%?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1. Optimización del Inventario de Seguridad:</a:t>
            </a:r>
          </a:p>
          <a:p>
            <a:pPr>
              <a:defRPr sz="2000"/>
            </a:pPr>
            <a:r>
              <a:t>  • Liberación de inventario amortiguador: 7.041 unidades inmovilizadas.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2. Capital de Trabajo:</a:t>
            </a:r>
          </a:p>
          <a:p>
            <a:pPr>
              <a:defRPr sz="2000"/>
            </a:pPr>
            <a:r>
              <a:t>  • Inyección de liquidez inmediata por $105,6 millones CLP.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3. Ahorro Operativo (Holding Costs):</a:t>
            </a:r>
          </a:p>
          <a:p>
            <a:pPr>
              <a:defRPr sz="2000"/>
            </a:pPr>
            <a:r>
              <a:t>  • Ahorro recurrente de $23,2 millones CLP anuales en mantención y almacenamiento.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Conclusiones y Trabajo Futuro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000"/>
            </a:pPr>
            <a:r>
              <a:t>Conclusiones Clave:</a:t>
            </a:r>
          </a:p>
          <a:p>
            <a:pPr>
              <a:defRPr sz="2000"/>
            </a:pPr>
            <a:r>
              <a:t>  • La demanda no es estocástica: un experimento de ablación sin precios subió el error de 16,1% a 38,2%. ¡Las señales comerciales dirigen la demanda!</a:t>
            </a:r>
          </a:p>
          <a:p>
            <a:pPr>
              <a:defRPr sz="2000"/>
            </a:pPr>
            <a:r>
              <a:t>  • El desacoplamiento jerárquico es la solución óptima para intermitencia en fast fashion.</a:t>
            </a:r>
          </a:p>
          <a:p>
            <a:pPr>
              <a:defRPr sz="2000"/>
            </a:pPr>
            <a:r>
              <a:t>  • Los ensambles híbridos superan ampliamente a enfoques puros.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Trabajos Futuros:</a:t>
            </a:r>
          </a:p>
          <a:p>
            <a:pPr>
              <a:defRPr sz="2000"/>
            </a:pPr>
            <a:r>
              <a:t>  • Modelos Multi-Target (MIMO) para capturar canibalización/sustitución.</a:t>
            </a:r>
          </a:p>
          <a:p>
            <a:pPr>
              <a:defRPr sz="2000"/>
            </a:pPr>
            <a:r>
              <a:t>  • Inclusión de variables climáticas geolocalizadas.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Anexos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4592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2000"/>
            </a:pPr>
            <a:r>
              <a:t>Material de Respaldo Adicional (ver documento de tesis):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  • Mapa de Calor de Intermitencia</a:t>
            </a:r>
          </a:p>
          <a:p>
            <a:pPr>
              <a:defRPr sz="2000"/>
            </a:pPr>
            <a:r>
              <a:t>  • Evolución Histórica de Ventas (IPC Vestuario)</a:t>
            </a:r>
          </a:p>
          <a:p>
            <a:pPr>
              <a:defRPr sz="2000"/>
            </a:pPr>
            <a:r>
              <a:t>  • Fórmulas Matemáticas (SARIMAX, LSTM)</a:t>
            </a:r>
          </a:p>
          <a:p>
            <a:pPr>
              <a:defRPr sz="2000"/>
            </a:pPr>
            <a:r>
              <a:t>  • Evaluación y Diagnóstico de Residuos</a:t>
            </a:r>
          </a:p>
          <a:p>
            <a:pPr>
              <a:defRPr sz="2000"/>
            </a:pPr>
            <a:r>
              <a:t>  • Configuración del Blend Dinámico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0" y="27432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[Diapositiva en blanco - Puede eliminarla]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0" y="27432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[Diapositiva en blanco - Puede eliminarla]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0" y="27432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[Diapositiva en blanco - Puede eliminarla]</a:t>
            </a: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0" y="27432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[Diapositiva en blanco - Puede eliminarla]</a:t>
            </a:r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0" y="27432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[Diapositiva en blanco - Puede eliminarla]</a:t>
            </a:r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0" y="2743200"/>
            <a:ext cx="3657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[Diapositiva en blanco - Puede eliminarla]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DAHTm-uVfMo</dc:identifier>
  <dcterms:modified xsi:type="dcterms:W3CDTF">2011-08-01T06:04:30Z</dcterms:modified>
  <cp:revision>1</cp:revision>
  <dc:title>Añadir un título</dc:title>
</cp:coreProperties>
</file>