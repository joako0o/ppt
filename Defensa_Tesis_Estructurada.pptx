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buenos días, mi nombre es Joaquín Mondaca y presento la memoria «Pronóstico Jerárquico de Demanda Intermitente en el Retail de Moda Femenina», guiada por el profesor Villena y con la profesora Tapia como correferente. En 18 minutos voy a mostrar el problema, la arquitectura que propongo, la evidencia y el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No leer la lámina: anunciar que el bloque 5, resultados, es el centro de la presentación y que hay anexos de respaldo al final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que definen el problema: ciclos de 2 a 3 meses, demanda dirigida por el plan comercial y compromisos de compra con 3 a 6 meses de anticipación. El gráfico muestra la demanda agregada del núcleo comercial: alta volatilidad y caída estructural post-2021. Transición: sobre esta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Dato clave: 30,3 % de los pares SKU-mes no registran venta. El mapa de calor muestra 100 SKUs por 66 meses; las zonas claras son ceros. No es ruido, es estructura. Croston y SBA fueron diseñados para intermitencia sin estacionalidad; SARIMA supone continuidad. Cerrar con el dilema: sobre-stock inmoviliza capital, quiebre destruye ingreso y fidelidad.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de investigación en voz alta y luego H0/H1. Enfatizar que la hipótesis se operacionaliza con WAPE y que los benchmarks primarios son SARIMA, SARIMAX y LSTM; Croston, SBA, Seasonal Naïve y Chronos-Bolt entran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Justificar el foco: Top 100 SKUs y 58 familias concentran 72 % del volumen y 78 % del margen. Punto crítico anti-leakage: el Top 100 se selecciona solo con datos previos al corte, no con el período de prueba. Mostrar la jerarquía de agregación de departamento a SKU.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importante: el plan comercial (precio y descuento) es ex-ante porque lo decide la empresa antes del mes; el resto de la información va rezagada en t-1. Si el jurado pregunta por leakage, esta es la lámina para volver.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mostrar resultados: venta cero con inventario = demanda cero; target son ventas observadas, no demanda latente. Y declarar la asimetría metodológica: las líneas base usan parametrización parsimoniosa estándar, sin auto-ARIMA por SKU.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concreto del propio benchmark: SARIMA tiene sMAPE de 309,88 % y WAPE de 76,74 %. El WAPE pondera por volumen físico, que es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estrictamente cronológica; calibración congelada en enero de 2025 y siete meses de prueba ciega (febrero a agosto de 2025). Recalcar: pesos congelados, sin reajustar durante el test. Esto es lo que hace creíble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evaluados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central. Recorrer el flujo: la serie agregada de familia entra a la Capa 1 (Holt amortiguado, inercia); lo que queda son residuos que la Capa 2 explica con el ensamble GBDT más TabPFN y las señales de precio; la Capa 3 integra ambas con ruteo por momentum y desagrega top-down a SKU. Frase de cierre: cada capa resuelve un problema distinto.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Capa 1. La idea de fondo: no gastar capacidad del modelo de árboles en aprender el nivel, que una ecuación de suavizamiento estima mejor y con menos varianza.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Capa 2. El ensamble modela el residuo. Cuatro modelos porque fallan de forma distinta y el promedio ponderado por NNLS reduce el error. Escala arcsinh y decay de 24 meses para privilegiar el comportamiento comercial reciente.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Capa 3. Ruteo por momentum: si la categoría acelera, pesa más el aprendizaje automático. Desagregación con proporciones históricas. Mencionar la honestidad experimental: las cuotas aprendidas dieron 24,35 %, peor que el reparto estático de 16,10 %.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LSTM 45,75 %, Chronos-Bolt 48,44 % y ES-GBM 16,10 %. A nivel familia, 12,89 %. Pausa después del número: es el corazón de la defensa.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R² de 0,95 a nivel SKU y 0,96 a nivel familia; sesgo de −4,8 %, es decir, sub-predicción leve y sistemática, que es corregible y operacionalmente preferible a sobre-predecir.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Ablación: sin precios el error sube a 38,25 %; con precio rezagado, 26,42 %; con plan ex-ante, 16,10 %. Conclusión conceptual: la demanda del fast fashion no es estocástica, la dirige el plan comercial. Matiz honesto: la importancia por ganancia del 67 % no es una estimación causal de elasticidad precio.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reduce el stock de seguridad de 8.916 a 1.875 unidades. Eso son 7.041 unidades, 105,6 millones de pesos de capital liberado y 23,2 millones anuales de ahorro en holding. Declarar de inmediato que es un ejercicio ilustrativo de orden de magnitud con MAE como proxy.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con seguridad: horizonte de un mes, un solo retailer, ventana de prueba sin el peak de noviembre-diciembre, ejercicio financiero ilustrativo. Luego trabajo futuro: fine-tuning de modelos fundacionales, desagregación con deep learning y cola larga del catálogo.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Quedar en silencio y esperar preguntas. Los anexos A1 a A7 están listos para respaldar respuestas.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Tabla 5.1 completa: WAPE, sMAPE, RMSE, MAE, sesgo, R²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Residuos: Ljung-Box con p = 0,751 y Shapiro-Wilk con p = 0,184. Usar si preguntan por supuestos estadísticos.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Matriz de sensibilidad financiera: rango de 84,5 a 126,8 millones bajo gestión descentralizada y de 8,5 a 12,7 millones con risk pooling. Usar si cuestionan el supuesto de agregación.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Contexto macro: el IPC de vestuario cae de forma sostenida. Estacionalidad repartida entre las cuatro estaciones.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Protocolo de verificación y uso declarado de herramientas de IA. Tenerlo presente: es una pregunta cada vez más frecuente en defensas.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30,3 %</a:t>
            </a:r>
          </a:p>
          <a:p>
            <a:pPr algn="l">
              <a:lnSpc>
                <a:spcPct val="120000"/>
              </a:lnSpc>
              <a:spcBef>
                <a:spcPts val="0"/>
              </a:spcBef>
              <a:spcAft>
                <a:spcPts val="0"/>
              </a:spcAft>
            </a:pPr>
            <a:r>
              <a:rPr sz="1350" b="0" i="0">
                <a:solidFill>
                  <a:srgbClr val="394049"/>
                </a:solidFill>
                <a:latin typeface="Open Sans"/>
              </a:rPr>
              <a:t>de los pares SKU–mes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787384"/>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78738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Siete meses evaluados con pesos congelados: simula un despliegue real.</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 heurística estacional de 1970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tres capas, tres problemas distintos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0" name="Rounded Rectangle 9"/>
          <p:cNvSpPr/>
          <p:nvPr/>
        </p:nvSpPr>
        <p:spPr>
          <a:xfrm>
            <a:off x="4343400" y="2249424"/>
            <a:ext cx="9601200" cy="658368"/>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489704" y="2249424"/>
            <a:ext cx="9308592" cy="658368"/>
          </a:xfrm>
          <a:prstGeom prst="rect">
            <a:avLst/>
          </a:prstGeom>
          <a:noFill/>
        </p:spPr>
        <p:txBody>
          <a:bodyPr wrap="square" lIns="0" rIns="0" tIns="0" bIns="0" anchor="ctr">
            <a:spAutoFit/>
          </a:bodyPr>
          <a:lstStyle/>
          <a:p>
            <a:pPr algn="ctr">
              <a:lnSpc>
                <a:spcPct val="110000"/>
              </a:lnSpc>
              <a:spcBef>
                <a:spcPts val="0"/>
              </a:spcBef>
              <a:spcAft>
                <a:spcPts val="0"/>
              </a:spcAft>
            </a:pPr>
            <a:r>
              <a:rPr sz="1500" b="1" i="0">
                <a:solidFill>
                  <a:srgbClr val="FFFFFF"/>
                </a:solidFill>
                <a:latin typeface="Open Sans"/>
              </a:rPr>
              <a:t>Demanda mensual agregada  ·  58 familias comerciales (2020–2025)</a:t>
            </a:r>
          </a:p>
        </p:txBody>
      </p:sp>
      <p:sp>
        <p:nvSpPr>
          <p:cNvPr id="12" name="Rounded Rectangle 11"/>
          <p:cNvSpPr/>
          <p:nvPr/>
        </p:nvSpPr>
        <p:spPr>
          <a:xfrm>
            <a:off x="960120" y="3310128"/>
            <a:ext cx="5120640" cy="4114800"/>
          </a:xfrm>
          <a:prstGeom prst="roundRect">
            <a:avLst>
              <a:gd name="adj" fmla="val 1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3310128"/>
            <a:ext cx="5120640" cy="566928"/>
          </a:xfrm>
          <a:prstGeom prst="roundRect">
            <a:avLst>
              <a:gd name="adj" fmla="val 9677"/>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630168"/>
            <a:ext cx="5120640" cy="24688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3310128"/>
            <a:ext cx="5120640"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spc="200">
                <a:solidFill>
                  <a:srgbClr val="FFFFFF"/>
                </a:solidFill>
                <a:latin typeface="Open Sans"/>
              </a:rPr>
              <a:t>CAPA 1</a:t>
            </a:r>
          </a:p>
        </p:txBody>
      </p:sp>
      <p:sp>
        <p:nvSpPr>
          <p:cNvPr id="16" name="TextBox 15"/>
          <p:cNvSpPr txBox="1"/>
          <p:nvPr/>
        </p:nvSpPr>
        <p:spPr>
          <a:xfrm>
            <a:off x="1344168" y="4087368"/>
            <a:ext cx="4352544" cy="548640"/>
          </a:xfrm>
          <a:prstGeom prst="rect">
            <a:avLst/>
          </a:prstGeom>
          <a:noFill/>
        </p:spPr>
        <p:txBody>
          <a:bodyPr wrap="square" lIns="0" rIns="0" tIns="0" bIns="0" anchor="t">
            <a:spAutoFit/>
          </a:bodyPr>
          <a:lstStyle/>
          <a:p>
            <a:pPr algn="l">
              <a:lnSpc>
                <a:spcPct val="110000"/>
              </a:lnSpc>
              <a:spcBef>
                <a:spcPts val="0"/>
              </a:spcBef>
              <a:spcAft>
                <a:spcPts val="0"/>
              </a:spcAft>
            </a:pPr>
            <a:r>
              <a:rPr sz="1750" b="1" i="0">
                <a:solidFill>
                  <a:srgbClr val="13161B"/>
                </a:solidFill>
                <a:latin typeface="Open Sans"/>
              </a:rPr>
              <a:t>Desacoplamiento estructural</a:t>
            </a:r>
          </a:p>
        </p:txBody>
      </p:sp>
      <p:sp>
        <p:nvSpPr>
          <p:cNvPr id="17" name="TextBox 16"/>
          <p:cNvSpPr txBox="1"/>
          <p:nvPr/>
        </p:nvSpPr>
        <p:spPr>
          <a:xfrm>
            <a:off x="1344168" y="4791456"/>
            <a:ext cx="4352544" cy="2286000"/>
          </a:xfrm>
          <a:prstGeom prst="rect">
            <a:avLst/>
          </a:prstGeom>
          <a:noFill/>
        </p:spPr>
        <p:txBody>
          <a:bodyPr wrap="square" lIns="0" rIns="0" tIns="0" bIns="0" anchor="t">
            <a:spAutoFit/>
          </a:bodyPr>
          <a:lstStyle/>
          <a:p>
            <a:pPr algn="l" marL="274320" indent="-274320">
              <a:lnSpc>
                <a:spcPct val="118000"/>
              </a:lnSpc>
              <a:spcBef>
                <a:spcPts val="0"/>
              </a:spcBef>
              <a:spcAft>
                <a:spcPts val="800"/>
              </a:spcAft>
            </a:pPr>
            <a:r>
              <a:rPr sz="1360" b="0" i="0">
                <a:solidFill>
                  <a:srgbClr val="394049"/>
                </a:solidFill>
                <a:latin typeface="Open Sans"/>
              </a:rPr>
              <a:t>•	Holt amortiguado sobre la serie de familia</a:t>
            </a:r>
          </a:p>
          <a:p>
            <a:pPr algn="l" marL="274320" indent="-274320">
              <a:lnSpc>
                <a:spcPct val="118000"/>
              </a:lnSpc>
              <a:spcBef>
                <a:spcPts val="0"/>
              </a:spcBef>
              <a:spcAft>
                <a:spcPts val="800"/>
              </a:spcAft>
            </a:pPr>
            <a:r>
              <a:rPr sz="1360" b="0" i="0">
                <a:solidFill>
                  <a:srgbClr val="394049"/>
                </a:solidFill>
                <a:latin typeface="Open Sans"/>
              </a:rPr>
              <a:t>•	Extrae nivel, tendencia e inercia estacional</a:t>
            </a:r>
          </a:p>
          <a:p>
            <a:pPr algn="l" marL="274320" indent="-274320">
              <a:lnSpc>
                <a:spcPct val="118000"/>
              </a:lnSpc>
              <a:spcBef>
                <a:spcPts val="0"/>
              </a:spcBef>
              <a:spcAft>
                <a:spcPts val="800"/>
              </a:spcAft>
            </a:pPr>
            <a:r>
              <a:rPr sz="1360" b="0" i="0">
                <a:solidFill>
                  <a:srgbClr val="394049"/>
                </a:solidFill>
                <a:latin typeface="Open Sans"/>
              </a:rPr>
              <a:t>•	La señal continua y predecible de la categoría</a:t>
            </a:r>
          </a:p>
        </p:txBody>
      </p:sp>
      <p:cxnSp>
        <p:nvCxnSpPr>
          <p:cNvPr id="18" name="Connector 17"/>
          <p:cNvCxnSpPr/>
          <p:nvPr/>
        </p:nvCxnSpPr>
        <p:spPr>
          <a:xfrm>
            <a:off x="6153912" y="5367528"/>
            <a:ext cx="356615" cy="0"/>
          </a:xfrm>
          <a:prstGeom prst="line">
            <a:avLst/>
          </a:prstGeom>
          <a:ln w="2540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583679" y="3310128"/>
            <a:ext cx="5120640" cy="4114800"/>
          </a:xfrm>
          <a:prstGeom prst="roundRect">
            <a:avLst>
              <a:gd name="adj" fmla="val 1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ounded Rectangle 19"/>
          <p:cNvSpPr/>
          <p:nvPr/>
        </p:nvSpPr>
        <p:spPr>
          <a:xfrm>
            <a:off x="6583679" y="3310128"/>
            <a:ext cx="5120640" cy="566928"/>
          </a:xfrm>
          <a:prstGeom prst="roundRect">
            <a:avLst>
              <a:gd name="adj" fmla="val 9677"/>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6583679" y="3630168"/>
            <a:ext cx="5120640" cy="24688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583679" y="3310128"/>
            <a:ext cx="5120640"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spc="200">
                <a:solidFill>
                  <a:srgbClr val="FFFFFF"/>
                </a:solidFill>
                <a:latin typeface="Open Sans"/>
              </a:rPr>
              <a:t>CAPA 2</a:t>
            </a:r>
          </a:p>
        </p:txBody>
      </p:sp>
      <p:sp>
        <p:nvSpPr>
          <p:cNvPr id="23" name="TextBox 22"/>
          <p:cNvSpPr txBox="1"/>
          <p:nvPr/>
        </p:nvSpPr>
        <p:spPr>
          <a:xfrm>
            <a:off x="6967727" y="4087368"/>
            <a:ext cx="4352544" cy="548640"/>
          </a:xfrm>
          <a:prstGeom prst="rect">
            <a:avLst/>
          </a:prstGeom>
          <a:noFill/>
        </p:spPr>
        <p:txBody>
          <a:bodyPr wrap="square" lIns="0" rIns="0" tIns="0" bIns="0" anchor="t">
            <a:spAutoFit/>
          </a:bodyPr>
          <a:lstStyle/>
          <a:p>
            <a:pPr algn="l">
              <a:lnSpc>
                <a:spcPct val="110000"/>
              </a:lnSpc>
              <a:spcBef>
                <a:spcPts val="0"/>
              </a:spcBef>
              <a:spcAft>
                <a:spcPts val="0"/>
              </a:spcAft>
            </a:pPr>
            <a:r>
              <a:rPr sz="1750" b="1" i="0">
                <a:solidFill>
                  <a:srgbClr val="13161B"/>
                </a:solidFill>
                <a:latin typeface="Open Sans"/>
              </a:rPr>
              <a:t>Residuos comerciales</a:t>
            </a:r>
          </a:p>
        </p:txBody>
      </p:sp>
      <p:sp>
        <p:nvSpPr>
          <p:cNvPr id="24" name="TextBox 23"/>
          <p:cNvSpPr txBox="1"/>
          <p:nvPr/>
        </p:nvSpPr>
        <p:spPr>
          <a:xfrm>
            <a:off x="6967727" y="4791456"/>
            <a:ext cx="4352544" cy="2286000"/>
          </a:xfrm>
          <a:prstGeom prst="rect">
            <a:avLst/>
          </a:prstGeom>
          <a:noFill/>
        </p:spPr>
        <p:txBody>
          <a:bodyPr wrap="square" lIns="0" rIns="0" tIns="0" bIns="0" anchor="t">
            <a:spAutoFit/>
          </a:bodyPr>
          <a:lstStyle/>
          <a:p>
            <a:pPr algn="l" marL="274320" indent="-274320">
              <a:lnSpc>
                <a:spcPct val="118000"/>
              </a:lnSpc>
              <a:spcBef>
                <a:spcPts val="0"/>
              </a:spcBef>
              <a:spcAft>
                <a:spcPts val="800"/>
              </a:spcAft>
            </a:pPr>
            <a:r>
              <a:rPr sz="1360" b="0" i="0">
                <a:solidFill>
                  <a:srgbClr val="394049"/>
                </a:solidFill>
                <a:latin typeface="Open Sans"/>
              </a:rPr>
              <a:t>•	Ensamble GBDT: XGBoost · LightGBM · CatBoost</a:t>
            </a:r>
          </a:p>
          <a:p>
            <a:pPr algn="l" marL="274320" indent="-274320">
              <a:lnSpc>
                <a:spcPct val="118000"/>
              </a:lnSpc>
              <a:spcBef>
                <a:spcPts val="0"/>
              </a:spcBef>
              <a:spcAft>
                <a:spcPts val="800"/>
              </a:spcAft>
            </a:pPr>
            <a:r>
              <a:rPr sz="1360" b="0" i="0">
                <a:solidFill>
                  <a:srgbClr val="394049"/>
                </a:solidFill>
                <a:latin typeface="Open Sans"/>
              </a:rPr>
              <a:t>•	Modelo fundacional tabular TabPFN</a:t>
            </a:r>
          </a:p>
          <a:p>
            <a:pPr algn="l" marL="274320" indent="-274320">
              <a:lnSpc>
                <a:spcPct val="118000"/>
              </a:lnSpc>
              <a:spcBef>
                <a:spcPts val="0"/>
              </a:spcBef>
              <a:spcAft>
                <a:spcPts val="800"/>
              </a:spcAft>
            </a:pPr>
            <a:r>
              <a:rPr sz="1360" b="0" i="0">
                <a:solidFill>
                  <a:srgbClr val="394049"/>
                </a:solidFill>
                <a:latin typeface="Open Sans"/>
              </a:rPr>
              <a:t>•	Escala arcsinh y ponderación con decay de 24 meses</a:t>
            </a:r>
          </a:p>
          <a:p>
            <a:pPr algn="l" marL="274320" indent="-274320">
              <a:lnSpc>
                <a:spcPct val="118000"/>
              </a:lnSpc>
              <a:spcBef>
                <a:spcPts val="0"/>
              </a:spcBef>
              <a:spcAft>
                <a:spcPts val="800"/>
              </a:spcAft>
            </a:pPr>
            <a:r>
              <a:rPr sz="1360" b="0" i="0">
                <a:solidFill>
                  <a:srgbClr val="394049"/>
                </a:solidFill>
                <a:latin typeface="Open Sans"/>
              </a:rPr>
              <a:t>•	Aquí entran precio y descuento ex-ante</a:t>
            </a:r>
          </a:p>
        </p:txBody>
      </p:sp>
      <p:cxnSp>
        <p:nvCxnSpPr>
          <p:cNvPr id="25" name="Connector 24"/>
          <p:cNvCxnSpPr/>
          <p:nvPr/>
        </p:nvCxnSpPr>
        <p:spPr>
          <a:xfrm>
            <a:off x="11777472" y="5367528"/>
            <a:ext cx="356616" cy="0"/>
          </a:xfrm>
          <a:prstGeom prst="line">
            <a:avLst/>
          </a:prstGeom>
          <a:ln w="2540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2207240" y="3310128"/>
            <a:ext cx="5120640" cy="4114800"/>
          </a:xfrm>
          <a:prstGeom prst="roundRect">
            <a:avLst>
              <a:gd name="adj" fmla="val 1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ounded Rectangle 26"/>
          <p:cNvSpPr/>
          <p:nvPr/>
        </p:nvSpPr>
        <p:spPr>
          <a:xfrm>
            <a:off x="12207240" y="3310128"/>
            <a:ext cx="5120640" cy="566928"/>
          </a:xfrm>
          <a:prstGeom prst="roundRect">
            <a:avLst>
              <a:gd name="adj" fmla="val 967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207240" y="3630168"/>
            <a:ext cx="5120640" cy="24688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207240" y="3310128"/>
            <a:ext cx="5120640"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spc="200">
                <a:solidFill>
                  <a:srgbClr val="FFFFFF"/>
                </a:solidFill>
                <a:latin typeface="Open Sans"/>
              </a:rPr>
              <a:t>CAPA 3</a:t>
            </a:r>
          </a:p>
        </p:txBody>
      </p:sp>
      <p:sp>
        <p:nvSpPr>
          <p:cNvPr id="30" name="TextBox 29"/>
          <p:cNvSpPr txBox="1"/>
          <p:nvPr/>
        </p:nvSpPr>
        <p:spPr>
          <a:xfrm>
            <a:off x="12591288" y="4087368"/>
            <a:ext cx="4352544" cy="548640"/>
          </a:xfrm>
          <a:prstGeom prst="rect">
            <a:avLst/>
          </a:prstGeom>
          <a:noFill/>
        </p:spPr>
        <p:txBody>
          <a:bodyPr wrap="square" lIns="0" rIns="0" tIns="0" bIns="0" anchor="t">
            <a:spAutoFit/>
          </a:bodyPr>
          <a:lstStyle/>
          <a:p>
            <a:pPr algn="l">
              <a:lnSpc>
                <a:spcPct val="110000"/>
              </a:lnSpc>
              <a:spcBef>
                <a:spcPts val="0"/>
              </a:spcBef>
              <a:spcAft>
                <a:spcPts val="0"/>
              </a:spcAft>
            </a:pPr>
            <a:r>
              <a:rPr sz="1750" b="1" i="0">
                <a:solidFill>
                  <a:srgbClr val="13161B"/>
                </a:solidFill>
                <a:latin typeface="Open Sans"/>
              </a:rPr>
              <a:t>Integración y desagregación</a:t>
            </a:r>
          </a:p>
        </p:txBody>
      </p:sp>
      <p:sp>
        <p:nvSpPr>
          <p:cNvPr id="31" name="TextBox 30"/>
          <p:cNvSpPr txBox="1"/>
          <p:nvPr/>
        </p:nvSpPr>
        <p:spPr>
          <a:xfrm>
            <a:off x="12591288" y="4791456"/>
            <a:ext cx="4352544" cy="2286000"/>
          </a:xfrm>
          <a:prstGeom prst="rect">
            <a:avLst/>
          </a:prstGeom>
          <a:noFill/>
        </p:spPr>
        <p:txBody>
          <a:bodyPr wrap="square" lIns="0" rIns="0" tIns="0" bIns="0" anchor="t">
            <a:spAutoFit/>
          </a:bodyPr>
          <a:lstStyle/>
          <a:p>
            <a:pPr algn="l" marL="274320" indent="-274320">
              <a:lnSpc>
                <a:spcPct val="118000"/>
              </a:lnSpc>
              <a:spcBef>
                <a:spcPts val="0"/>
              </a:spcBef>
              <a:spcAft>
                <a:spcPts val="800"/>
              </a:spcAft>
            </a:pPr>
            <a:r>
              <a:rPr sz="1360" b="0" i="0">
                <a:solidFill>
                  <a:srgbClr val="394049"/>
                </a:solidFill>
                <a:latin typeface="Open Sans"/>
              </a:rPr>
              <a:t>•	Ponderación NNLS + ruteo por momentum: umbral τ* entre 1,05 y 1,50</a:t>
            </a:r>
          </a:p>
          <a:p>
            <a:pPr algn="l" marL="274320" indent="-274320">
              <a:lnSpc>
                <a:spcPct val="118000"/>
              </a:lnSpc>
              <a:spcBef>
                <a:spcPts val="0"/>
              </a:spcBef>
              <a:spcAft>
                <a:spcPts val="800"/>
              </a:spcAft>
            </a:pPr>
            <a:r>
              <a:rPr sz="1360" b="0" i="0">
                <a:solidFill>
                  <a:srgbClr val="394049"/>
                </a:solidFill>
                <a:latin typeface="Open Sans"/>
              </a:rPr>
              <a:t>•	Desagregación top-down con proporciones históricas</a:t>
            </a:r>
          </a:p>
          <a:p>
            <a:pPr algn="l" marL="274320" indent="-274320">
              <a:lnSpc>
                <a:spcPct val="118000"/>
              </a:lnSpc>
              <a:spcBef>
                <a:spcPts val="0"/>
              </a:spcBef>
              <a:spcAft>
                <a:spcPts val="800"/>
              </a:spcAft>
            </a:pPr>
            <a:r>
              <a:rPr sz="1360" b="0" i="0">
                <a:solidFill>
                  <a:srgbClr val="394049"/>
                </a:solidFill>
                <a:latin typeface="Open Sans"/>
              </a:rPr>
              <a:t>•	Coherencia jerárquica exacta: las cuotas suman 1</a:t>
            </a:r>
          </a:p>
        </p:txBody>
      </p:sp>
      <p:sp>
        <p:nvSpPr>
          <p:cNvPr id="32" name="TextBox 31"/>
          <p:cNvSpPr txBox="1"/>
          <p:nvPr/>
        </p:nvSpPr>
        <p:spPr>
          <a:xfrm>
            <a:off x="6099047" y="7543800"/>
            <a:ext cx="594360" cy="274320"/>
          </a:xfrm>
          <a:prstGeom prst="rect">
            <a:avLst/>
          </a:prstGeom>
          <a:noFill/>
        </p:spPr>
        <p:txBody>
          <a:bodyPr wrap="square" lIns="0" rIns="0" tIns="0" bIns="0" anchor="t">
            <a:spAutoFit/>
          </a:bodyPr>
          <a:lstStyle/>
          <a:p>
            <a:pPr algn="ctr">
              <a:lnSpc>
                <a:spcPct val="116000"/>
              </a:lnSpc>
              <a:spcBef>
                <a:spcPts val="0"/>
              </a:spcBef>
              <a:spcAft>
                <a:spcPts val="0"/>
              </a:spcAft>
            </a:pPr>
            <a:r>
              <a:rPr sz="1100" b="0" i="0">
                <a:solidFill>
                  <a:srgbClr val="9AA1A9"/>
                </a:solidFill>
                <a:latin typeface="Open Sans"/>
              </a:rPr>
              <a:t>residuos</a:t>
            </a:r>
          </a:p>
        </p:txBody>
      </p:sp>
      <p:sp>
        <p:nvSpPr>
          <p:cNvPr id="33" name="TextBox 32"/>
          <p:cNvSpPr txBox="1"/>
          <p:nvPr/>
        </p:nvSpPr>
        <p:spPr>
          <a:xfrm>
            <a:off x="11722608" y="7543800"/>
            <a:ext cx="594360" cy="274320"/>
          </a:xfrm>
          <a:prstGeom prst="rect">
            <a:avLst/>
          </a:prstGeom>
          <a:noFill/>
        </p:spPr>
        <p:txBody>
          <a:bodyPr wrap="square" lIns="0" rIns="0" tIns="0" bIns="0" anchor="t">
            <a:spAutoFit/>
          </a:bodyPr>
          <a:lstStyle/>
          <a:p>
            <a:pPr algn="ctr">
              <a:lnSpc>
                <a:spcPct val="116000"/>
              </a:lnSpc>
              <a:spcBef>
                <a:spcPts val="0"/>
              </a:spcBef>
              <a:spcAft>
                <a:spcPts val="0"/>
              </a:spcAft>
            </a:pPr>
            <a:r>
              <a:rPr sz="1100" b="0" i="0">
                <a:solidFill>
                  <a:srgbClr val="9AA1A9"/>
                </a:solidFill>
                <a:latin typeface="Open Sans"/>
              </a:rPr>
              <a:t>blend</a:t>
            </a:r>
          </a:p>
        </p:txBody>
      </p:sp>
      <p:sp>
        <p:nvSpPr>
          <p:cNvPr id="34" name="Rounded Rectangle 33"/>
          <p:cNvSpPr/>
          <p:nvPr/>
        </p:nvSpPr>
        <p:spPr>
          <a:xfrm>
            <a:off x="3657600" y="7882127"/>
            <a:ext cx="10972800" cy="676656"/>
          </a:xfrm>
          <a:prstGeom prst="roundRect">
            <a:avLst>
              <a:gd name="adj" fmla="val 50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3803904" y="7882127"/>
            <a:ext cx="10680192" cy="676656"/>
          </a:xfrm>
          <a:prstGeom prst="rect">
            <a:avLst/>
          </a:prstGeom>
          <a:noFill/>
        </p:spPr>
        <p:txBody>
          <a:bodyPr wrap="square" lIns="0" rIns="0" tIns="0" bIns="0" anchor="ctr">
            <a:spAutoFit/>
          </a:bodyPr>
          <a:lstStyle/>
          <a:p>
            <a:pPr algn="ctr">
              <a:lnSpc>
                <a:spcPct val="110000"/>
              </a:lnSpc>
              <a:spcBef>
                <a:spcPts val="0"/>
              </a:spcBef>
              <a:spcAft>
                <a:spcPts val="0"/>
              </a:spcAft>
            </a:pPr>
            <a:r>
              <a:rPr sz="1550" b="1" i="0">
                <a:solidFill>
                  <a:srgbClr val="FFFFFF"/>
                </a:solidFill>
                <a:latin typeface="Open Sans"/>
              </a:rPr>
              <a:t>Pronóstico mensual por SKU  ·  Top 100 productos  ·  WAPE 16,10 %</a:t>
            </a:r>
          </a:p>
        </p:txBody>
      </p:sp>
      <p:sp>
        <p:nvSpPr>
          <p:cNvPr id="36" name="TextBox 35"/>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400" b="0" i="1">
                <a:solidFill>
                  <a:srgbClr val="6E6E6E"/>
                </a:solidFill>
                <a:latin typeface="Open Sans"/>
              </a:rPr>
              <a:t>Cada capa resuelve un problema distinto: inercia → comercialidad → intermitencia.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1  ·  Desacoplamiento estructural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960120" y="2249424"/>
            <a:ext cx="5239512" cy="2697480"/>
          </a:xfrm>
          <a:prstGeom prst="roundRect">
            <a:avLst>
              <a:gd name="adj" fmla="val 186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6974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039112"/>
          </a:xfrm>
          <a:prstGeom prst="rect">
            <a:avLst/>
          </a:prstGeom>
          <a:noFill/>
        </p:spPr>
        <p:txBody>
          <a:bodyPr wrap="square" lIns="0" rIns="0" tIns="0" bIns="0" anchor="t">
            <a:spAutoFit/>
          </a:bodyPr>
          <a:lstStyle/>
          <a:p>
            <a:pPr algn="l">
              <a:lnSpc>
                <a:spcPct val="112000"/>
              </a:lnSpc>
              <a:spcBef>
                <a:spcPts val="0"/>
              </a:spcBef>
              <a:spcAft>
                <a:spcPts val="800"/>
              </a:spcAft>
            </a:pPr>
            <a:r>
              <a:rPr sz="1800" b="1" i="0">
                <a:solidFill>
                  <a:srgbClr val="13161B"/>
                </a:solidFill>
                <a:latin typeface="Open Sans"/>
              </a:rPr>
              <a:t>Objetivo</a:t>
            </a:r>
          </a:p>
          <a:p>
            <a:pPr algn="l">
              <a:lnSpc>
                <a:spcPct val="126000"/>
              </a:lnSpc>
              <a:spcBef>
                <a:spcPts val="0"/>
              </a:spcBef>
              <a:spcAft>
                <a:spcPts val="0"/>
              </a:spcAft>
            </a:pPr>
            <a:r>
              <a:rPr sz="1450" b="0" i="0">
                <a:solidFill>
                  <a:srgbClr val="394049"/>
                </a:solidFill>
                <a:latin typeface="Open Sans"/>
              </a:rPr>
              <a:t>Capturar la inercia, el nivel base y la estacionalidad estructural de cada una de las 58 familias comerciales, donde la serie es continua y tiene señal.</a:t>
            </a:r>
          </a:p>
        </p:txBody>
      </p:sp>
      <p:sp>
        <p:nvSpPr>
          <p:cNvPr id="13" name="Rounded Rectangle 12"/>
          <p:cNvSpPr/>
          <p:nvPr/>
        </p:nvSpPr>
        <p:spPr>
          <a:xfrm>
            <a:off x="6519672" y="2249424"/>
            <a:ext cx="5239512" cy="2697480"/>
          </a:xfrm>
          <a:prstGeom prst="roundRect">
            <a:avLst>
              <a:gd name="adj" fmla="val 186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26974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039112"/>
          </a:xfrm>
          <a:prstGeom prst="rect">
            <a:avLst/>
          </a:prstGeom>
          <a:noFill/>
        </p:spPr>
        <p:txBody>
          <a:bodyPr wrap="square" lIns="0" rIns="0" tIns="0" bIns="0" anchor="t">
            <a:spAutoFit/>
          </a:bodyPr>
          <a:lstStyle/>
          <a:p>
            <a:pPr algn="l">
              <a:lnSpc>
                <a:spcPct val="112000"/>
              </a:lnSpc>
              <a:spcBef>
                <a:spcPts val="0"/>
              </a:spcBef>
              <a:spcAft>
                <a:spcPts val="800"/>
              </a:spcAft>
            </a:pPr>
            <a:r>
              <a:rPr sz="1800" b="1" i="0">
                <a:solidFill>
                  <a:srgbClr val="13161B"/>
                </a:solidFill>
                <a:latin typeface="Open Sans"/>
              </a:rPr>
              <a:t>Método</a:t>
            </a:r>
          </a:p>
          <a:p>
            <a:pPr algn="l">
              <a:lnSpc>
                <a:spcPct val="126000"/>
              </a:lnSpc>
              <a:spcBef>
                <a:spcPts val="0"/>
              </a:spcBef>
              <a:spcAft>
                <a:spcPts val="0"/>
              </a:spcAft>
            </a:pPr>
            <a:r>
              <a:rPr sz="1450" b="0" i="0">
                <a:solidFill>
                  <a:srgbClr val="394049"/>
                </a:solidFill>
                <a:latin typeface="Open Sans"/>
              </a:rPr>
              <a:t>Suavizamiento exponencial Holt amortiguado. El amortiguamiento frena la extrapolación de la tendencia y evita proyecciones explosivas en horizontes largos.</a:t>
            </a:r>
          </a:p>
        </p:txBody>
      </p:sp>
      <p:sp>
        <p:nvSpPr>
          <p:cNvPr id="16" name="Rounded Rectangle 15"/>
          <p:cNvSpPr/>
          <p:nvPr/>
        </p:nvSpPr>
        <p:spPr>
          <a:xfrm>
            <a:off x="12079224" y="2249424"/>
            <a:ext cx="5239512" cy="2697480"/>
          </a:xfrm>
          <a:prstGeom prst="roundRect">
            <a:avLst>
              <a:gd name="adj" fmla="val 186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26974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2039112"/>
          </a:xfrm>
          <a:prstGeom prst="rect">
            <a:avLst/>
          </a:prstGeom>
          <a:noFill/>
        </p:spPr>
        <p:txBody>
          <a:bodyPr wrap="square" lIns="0" rIns="0" tIns="0" bIns="0" anchor="t">
            <a:spAutoFit/>
          </a:bodyPr>
          <a:lstStyle/>
          <a:p>
            <a:pPr algn="l">
              <a:lnSpc>
                <a:spcPct val="112000"/>
              </a:lnSpc>
              <a:spcBef>
                <a:spcPts val="0"/>
              </a:spcBef>
              <a:spcAft>
                <a:spcPts val="800"/>
              </a:spcAft>
            </a:pPr>
            <a:r>
              <a:rPr sz="1800" b="1" i="0">
                <a:solidFill>
                  <a:srgbClr val="13161B"/>
                </a:solidFill>
                <a:latin typeface="Open Sans"/>
              </a:rPr>
              <a:t>Qué delega</a:t>
            </a:r>
          </a:p>
          <a:p>
            <a:pPr algn="l">
              <a:lnSpc>
                <a:spcPct val="126000"/>
              </a:lnSpc>
              <a:spcBef>
                <a:spcPts val="0"/>
              </a:spcBef>
              <a:spcAft>
                <a:spcPts val="0"/>
              </a:spcAft>
            </a:pPr>
            <a:r>
              <a:rPr sz="1450" b="0" i="0">
                <a:solidFill>
                  <a:srgbClr val="394049"/>
                </a:solidFill>
                <a:latin typeface="Open Sans"/>
              </a:rPr>
              <a:t>Todo evento disruptivo —promociones, liquidaciones, campañas— queda deliberadamente en el residuo, para que lo explique la Capa 2 con información comercial.</a:t>
            </a:r>
          </a:p>
        </p:txBody>
      </p:sp>
      <p:sp>
        <p:nvSpPr>
          <p:cNvPr id="19" name="Rounded Rectangle 18"/>
          <p:cNvSpPr/>
          <p:nvPr/>
        </p:nvSpPr>
        <p:spPr>
          <a:xfrm>
            <a:off x="960120" y="5221224"/>
            <a:ext cx="1636775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522122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5550408"/>
            <a:ext cx="1552651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empezar por aquí</a:t>
            </a:r>
          </a:p>
          <a:p>
            <a:pPr algn="l">
              <a:lnSpc>
                <a:spcPct val="128000"/>
              </a:lnSpc>
              <a:spcBef>
                <a:spcPts val="0"/>
              </a:spcBef>
              <a:spcAft>
                <a:spcPts val="0"/>
              </a:spcAft>
            </a:pPr>
            <a:r>
              <a:rPr sz="1500" b="0" i="0">
                <a:solidFill>
                  <a:srgbClr val="394049"/>
                </a:solidFill>
                <a:latin typeface="Open Sans"/>
              </a:rPr>
              <a:t>Pedirle a un árbol de decisión que aprenda el nivel de una serie es gastar capacidad de modelo en algo que una ecuación de suavizamiento hace mejor y con menos varianza. Al retirar el nivel, el problema que queda —el residuo— es justamente donde la información comercial es decisiva.</a:t>
            </a:r>
          </a:p>
        </p:txBody>
      </p:sp>
      <p:sp>
        <p:nvSpPr>
          <p:cNvPr id="22" name="Rounded Rectangle 21"/>
          <p:cNvSpPr/>
          <p:nvPr/>
        </p:nvSpPr>
        <p:spPr>
          <a:xfrm>
            <a:off x="960120" y="7507224"/>
            <a:ext cx="16367759" cy="1051560"/>
          </a:xfrm>
          <a:prstGeom prst="roundRect">
            <a:avLst>
              <a:gd name="adj" fmla="val 4782"/>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7507224"/>
            <a:ext cx="15453359" cy="1051560"/>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Resultado de la capa: una señal base estable sobre la que el aprendizaje automático solo tiene que explicar desviaciones.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2  ·  Proyección de residuos comerciales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objetivo</a:t>
            </a:r>
          </a:p>
          <a:p>
            <a:pPr algn="l">
              <a:lnSpc>
                <a:spcPct val="126000"/>
              </a:lnSpc>
              <a:spcBef>
                <a:spcPts val="0"/>
              </a:spcBef>
              <a:spcAft>
                <a:spcPts val="0"/>
              </a:spcAft>
            </a:pPr>
            <a:r>
              <a:rPr sz="1450" b="0" i="0">
                <a:solidFill>
                  <a:srgbClr val="394049"/>
                </a:solidFill>
                <a:latin typeface="Open Sans"/>
              </a:rPr>
              <a:t>Modelar el residuo de la Capa 1: la parte de la demanda que la inercia no explica. Ahí es donde vive el efecto de las palancas comerciales sobre la venta.</a:t>
            </a:r>
          </a:p>
        </p:txBody>
      </p:sp>
      <p:sp>
        <p:nvSpPr>
          <p:cNvPr id="13" name="Rounded Rectangle 12"/>
          <p:cNvSpPr/>
          <p:nvPr/>
        </p:nvSpPr>
        <p:spPr>
          <a:xfrm>
            <a:off x="9464040" y="2249424"/>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464040" y="2249424"/>
            <a:ext cx="68580" cy="22860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921240" y="257860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Las palancas que entran al modelo</a:t>
            </a:r>
          </a:p>
          <a:p>
            <a:pPr algn="l" marL="274320" indent="-274320">
              <a:lnSpc>
                <a:spcPct val="118000"/>
              </a:lnSpc>
              <a:spcBef>
                <a:spcPts val="0"/>
              </a:spcBef>
              <a:spcAft>
                <a:spcPts val="700"/>
              </a:spcAft>
            </a:pPr>
            <a:r>
              <a:rPr sz="1420" b="0" i="0">
                <a:solidFill>
                  <a:srgbClr val="394049"/>
                </a:solidFill>
                <a:latin typeface="Open Sans"/>
              </a:rPr>
              <a:t>•	Precio promedio proyectado ex-ante del mes t</a:t>
            </a:r>
          </a:p>
          <a:p>
            <a:pPr algn="l" marL="274320" indent="-274320">
              <a:lnSpc>
                <a:spcPct val="118000"/>
              </a:lnSpc>
              <a:spcBef>
                <a:spcPts val="0"/>
              </a:spcBef>
              <a:spcAft>
                <a:spcPts val="700"/>
              </a:spcAft>
            </a:pPr>
            <a:r>
              <a:rPr sz="1420" b="0" i="0">
                <a:solidFill>
                  <a:srgbClr val="394049"/>
                </a:solidFill>
                <a:latin typeface="Open Sans"/>
              </a:rPr>
              <a:t>•	Descuento comercial planificado</a:t>
            </a:r>
          </a:p>
          <a:p>
            <a:pPr algn="l" marL="274320" indent="-274320">
              <a:lnSpc>
                <a:spcPct val="118000"/>
              </a:lnSpc>
              <a:spcBef>
                <a:spcPts val="0"/>
              </a:spcBef>
              <a:spcAft>
                <a:spcPts val="0"/>
              </a:spcAft>
            </a:pPr>
            <a:r>
              <a:rPr sz="1420" b="0" i="0">
                <a:solidFill>
                  <a:srgbClr val="394049"/>
                </a:solidFill>
                <a:latin typeface="Open Sans"/>
              </a:rPr>
              <a:t>•	Rezagos, ventanas móviles y estacionalidad armónica</a:t>
            </a:r>
          </a:p>
        </p:txBody>
      </p:sp>
      <p:sp>
        <p:nvSpPr>
          <p:cNvPr id="16" name="TextBox 15"/>
          <p:cNvSpPr txBox="1"/>
          <p:nvPr/>
        </p:nvSpPr>
        <p:spPr>
          <a:xfrm>
            <a:off x="960120" y="4855464"/>
            <a:ext cx="16367759" cy="384048"/>
          </a:xfrm>
          <a:prstGeom prst="rect">
            <a:avLst/>
          </a:prstGeom>
          <a:noFill/>
        </p:spPr>
        <p:txBody>
          <a:bodyPr wrap="square" lIns="0" rIns="0" tIns="0" bIns="0" anchor="t">
            <a:spAutoFit/>
          </a:bodyPr>
          <a:lstStyle/>
          <a:p>
            <a:pPr algn="l">
              <a:lnSpc>
                <a:spcPct val="116000"/>
              </a:lnSpc>
              <a:spcBef>
                <a:spcPts val="0"/>
              </a:spcBef>
              <a:spcAft>
                <a:spcPts val="0"/>
              </a:spcAft>
            </a:pPr>
            <a:r>
              <a:rPr sz="1300" b="1" i="0" spc="220">
                <a:solidFill>
                  <a:srgbClr val="6E6E6E"/>
                </a:solidFill>
                <a:latin typeface="Open Sans"/>
              </a:rPr>
              <a:t>BANCO DE MODELOS DEL ENSAMBLE</a:t>
            </a:r>
          </a:p>
        </p:txBody>
      </p:sp>
      <p:sp>
        <p:nvSpPr>
          <p:cNvPr id="17" name="Rounded Rectangle 16"/>
          <p:cNvSpPr/>
          <p:nvPr/>
        </p:nvSpPr>
        <p:spPr>
          <a:xfrm>
            <a:off x="960120" y="5312664"/>
            <a:ext cx="3913632" cy="1463040"/>
          </a:xfrm>
          <a:prstGeom prst="roundRect">
            <a:avLst>
              <a:gd name="adj" fmla="val 375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0120" y="5312664"/>
            <a:ext cx="3913632" cy="1463040"/>
          </a:xfrm>
          <a:prstGeom prst="rect">
            <a:avLst/>
          </a:prstGeom>
          <a:noFill/>
        </p:spPr>
        <p:txBody>
          <a:bodyPr wrap="square" lIns="0" rIns="0" tIns="0" bIns="0" anchor="ctr">
            <a:spAutoFit/>
          </a:bodyPr>
          <a:lstStyle/>
          <a:p>
            <a:pPr algn="ctr">
              <a:lnSpc>
                <a:spcPct val="116000"/>
              </a:lnSpc>
              <a:spcBef>
                <a:spcPts val="0"/>
              </a:spcBef>
              <a:spcAft>
                <a:spcPts val="300"/>
              </a:spcAft>
            </a:pPr>
            <a:r>
              <a:rPr sz="1800" b="1" i="0">
                <a:solidFill>
                  <a:srgbClr val="005F91"/>
                </a:solidFill>
                <a:latin typeface="Open Sans"/>
              </a:rPr>
              <a:t>XGBoost</a:t>
            </a:r>
          </a:p>
          <a:p>
            <a:pPr algn="ctr">
              <a:lnSpc>
                <a:spcPct val="116000"/>
              </a:lnSpc>
              <a:spcBef>
                <a:spcPts val="0"/>
              </a:spcBef>
              <a:spcAft>
                <a:spcPts val="0"/>
              </a:spcAft>
            </a:pPr>
            <a:r>
              <a:rPr sz="1250" b="0" i="0">
                <a:solidFill>
                  <a:srgbClr val="6E6E6E"/>
                </a:solidFill>
                <a:latin typeface="Open Sans"/>
              </a:rPr>
              <a:t>boosting por gradiente</a:t>
            </a:r>
          </a:p>
        </p:txBody>
      </p:sp>
      <p:sp>
        <p:nvSpPr>
          <p:cNvPr id="19" name="Rounded Rectangle 18"/>
          <p:cNvSpPr/>
          <p:nvPr/>
        </p:nvSpPr>
        <p:spPr>
          <a:xfrm>
            <a:off x="5102352" y="5312664"/>
            <a:ext cx="3913632" cy="1463040"/>
          </a:xfrm>
          <a:prstGeom prst="roundRect">
            <a:avLst>
              <a:gd name="adj" fmla="val 375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5102352" y="5312664"/>
            <a:ext cx="3913632" cy="1463040"/>
          </a:xfrm>
          <a:prstGeom prst="rect">
            <a:avLst/>
          </a:prstGeom>
          <a:noFill/>
        </p:spPr>
        <p:txBody>
          <a:bodyPr wrap="square" lIns="0" rIns="0" tIns="0" bIns="0" anchor="ctr">
            <a:spAutoFit/>
          </a:bodyPr>
          <a:lstStyle/>
          <a:p>
            <a:pPr algn="ctr">
              <a:lnSpc>
                <a:spcPct val="116000"/>
              </a:lnSpc>
              <a:spcBef>
                <a:spcPts val="0"/>
              </a:spcBef>
              <a:spcAft>
                <a:spcPts val="300"/>
              </a:spcAft>
            </a:pPr>
            <a:r>
              <a:rPr sz="1800" b="1" i="0">
                <a:solidFill>
                  <a:srgbClr val="005F91"/>
                </a:solidFill>
                <a:latin typeface="Open Sans"/>
              </a:rPr>
              <a:t>LightGBM</a:t>
            </a:r>
          </a:p>
          <a:p>
            <a:pPr algn="ctr">
              <a:lnSpc>
                <a:spcPct val="116000"/>
              </a:lnSpc>
              <a:spcBef>
                <a:spcPts val="0"/>
              </a:spcBef>
              <a:spcAft>
                <a:spcPts val="0"/>
              </a:spcAft>
            </a:pPr>
            <a:r>
              <a:rPr sz="1250" b="0" i="0">
                <a:solidFill>
                  <a:srgbClr val="6E6E6E"/>
                </a:solidFill>
                <a:latin typeface="Open Sans"/>
              </a:rPr>
              <a:t>boosting histogramado</a:t>
            </a:r>
          </a:p>
        </p:txBody>
      </p:sp>
      <p:sp>
        <p:nvSpPr>
          <p:cNvPr id="21" name="Rounded Rectangle 20"/>
          <p:cNvSpPr/>
          <p:nvPr/>
        </p:nvSpPr>
        <p:spPr>
          <a:xfrm>
            <a:off x="9244584" y="5312664"/>
            <a:ext cx="3913632" cy="1463040"/>
          </a:xfrm>
          <a:prstGeom prst="roundRect">
            <a:avLst>
              <a:gd name="adj" fmla="val 375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244584" y="5312664"/>
            <a:ext cx="3913632" cy="1463040"/>
          </a:xfrm>
          <a:prstGeom prst="rect">
            <a:avLst/>
          </a:prstGeom>
          <a:noFill/>
        </p:spPr>
        <p:txBody>
          <a:bodyPr wrap="square" lIns="0" rIns="0" tIns="0" bIns="0" anchor="ctr">
            <a:spAutoFit/>
          </a:bodyPr>
          <a:lstStyle/>
          <a:p>
            <a:pPr algn="ctr">
              <a:lnSpc>
                <a:spcPct val="116000"/>
              </a:lnSpc>
              <a:spcBef>
                <a:spcPts val="0"/>
              </a:spcBef>
              <a:spcAft>
                <a:spcPts val="300"/>
              </a:spcAft>
            </a:pPr>
            <a:r>
              <a:rPr sz="1800" b="1" i="0">
                <a:solidFill>
                  <a:srgbClr val="005F91"/>
                </a:solidFill>
                <a:latin typeface="Open Sans"/>
              </a:rPr>
              <a:t>CatBoost</a:t>
            </a:r>
          </a:p>
          <a:p>
            <a:pPr algn="ctr">
              <a:lnSpc>
                <a:spcPct val="116000"/>
              </a:lnSpc>
              <a:spcBef>
                <a:spcPts val="0"/>
              </a:spcBef>
              <a:spcAft>
                <a:spcPts val="0"/>
              </a:spcAft>
            </a:pPr>
            <a:r>
              <a:rPr sz="1250" b="0" i="0">
                <a:solidFill>
                  <a:srgbClr val="6E6E6E"/>
                </a:solidFill>
                <a:latin typeface="Open Sans"/>
              </a:rPr>
              <a:t>boosting ordenado</a:t>
            </a:r>
          </a:p>
        </p:txBody>
      </p:sp>
      <p:sp>
        <p:nvSpPr>
          <p:cNvPr id="23" name="Rounded Rectangle 22"/>
          <p:cNvSpPr/>
          <p:nvPr/>
        </p:nvSpPr>
        <p:spPr>
          <a:xfrm>
            <a:off x="13386816" y="5312664"/>
            <a:ext cx="3913632" cy="1463040"/>
          </a:xfrm>
          <a:prstGeom prst="roundRect">
            <a:avLst>
              <a:gd name="adj" fmla="val 375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3386816" y="5312664"/>
            <a:ext cx="3913632" cy="1463040"/>
          </a:xfrm>
          <a:prstGeom prst="rect">
            <a:avLst/>
          </a:prstGeom>
          <a:noFill/>
        </p:spPr>
        <p:txBody>
          <a:bodyPr wrap="square" lIns="0" rIns="0" tIns="0" bIns="0" anchor="ctr">
            <a:spAutoFit/>
          </a:bodyPr>
          <a:lstStyle/>
          <a:p>
            <a:pPr algn="ctr">
              <a:lnSpc>
                <a:spcPct val="116000"/>
              </a:lnSpc>
              <a:spcBef>
                <a:spcPts val="0"/>
              </a:spcBef>
              <a:spcAft>
                <a:spcPts val="300"/>
              </a:spcAft>
            </a:pPr>
            <a:r>
              <a:rPr sz="1800" b="1" i="0">
                <a:solidFill>
                  <a:srgbClr val="005F91"/>
                </a:solidFill>
                <a:latin typeface="Open Sans"/>
              </a:rPr>
              <a:t>TabPFN</a:t>
            </a:r>
          </a:p>
          <a:p>
            <a:pPr algn="ctr">
              <a:lnSpc>
                <a:spcPct val="116000"/>
              </a:lnSpc>
              <a:spcBef>
                <a:spcPts val="0"/>
              </a:spcBef>
              <a:spcAft>
                <a:spcPts val="0"/>
              </a:spcAft>
            </a:pPr>
            <a:r>
              <a:rPr sz="1250" b="0" i="0">
                <a:solidFill>
                  <a:srgbClr val="6E6E6E"/>
                </a:solidFill>
                <a:latin typeface="Open Sans"/>
              </a:rPr>
              <a:t>modelo fundacional tabular</a:t>
            </a:r>
          </a:p>
        </p:txBody>
      </p:sp>
      <p:sp>
        <p:nvSpPr>
          <p:cNvPr id="25" name="Rounded Rectangle 24"/>
          <p:cNvSpPr/>
          <p:nvPr/>
        </p:nvSpPr>
        <p:spPr>
          <a:xfrm>
            <a:off x="960120" y="7050024"/>
            <a:ext cx="16367759"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960120" y="705002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379208"/>
            <a:ext cx="15526512" cy="14447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Tratamiento numérico</a:t>
            </a:r>
          </a:p>
          <a:p>
            <a:pPr algn="l">
              <a:lnSpc>
                <a:spcPct val="124000"/>
              </a:lnSpc>
              <a:spcBef>
                <a:spcPts val="0"/>
              </a:spcBef>
              <a:spcAft>
                <a:spcPts val="0"/>
              </a:spcAft>
            </a:pPr>
            <a:r>
              <a:rPr sz="1420" b="0" i="0">
                <a:solidFill>
                  <a:srgbClr val="394049"/>
                </a:solidFill>
                <a:latin typeface="Open Sans"/>
              </a:rPr>
              <a:t>Los residuos se modelan en escala arcsinh —que absorbe magnitudes extremas sin descartar el signo— con ponderación temporal decreciente (decay de 24 meses) para privilegiar el comportamiento comercial reciente. Modelos distintos fallan distinto: el ensamble promedia errores no correlacionados.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Integración y desagregación jerárquica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154680"/>
          </a:xfrm>
          <a:prstGeom prst="roundRect">
            <a:avLst>
              <a:gd name="adj" fmla="val 1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1546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49631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dinámico por momentum</a:t>
            </a:r>
          </a:p>
          <a:p>
            <a:pPr algn="l">
              <a:lnSpc>
                <a:spcPct val="126000"/>
              </a:lnSpc>
              <a:spcBef>
                <a:spcPts val="0"/>
              </a:spcBef>
              <a:spcAft>
                <a:spcPts val="0"/>
              </a:spcAft>
            </a:pPr>
            <a:r>
              <a:rPr sz="1430" b="0" i="0">
                <a:solidFill>
                  <a:srgbClr val="394049"/>
                </a:solidFill>
                <a:latin typeface="Open Sans"/>
              </a:rPr>
              <a:t>Los pesos del ensamble se optimizan por NNLS en validación. Si el momentum trimestral de la familia supera el umbral τ* (calibrado entre 1,05 y 1,50), el sistema conmuta hacia el componente de aprendizaje automático; si la categoría está estable, pesa más la señal inercial.</a:t>
            </a:r>
          </a:p>
        </p:txBody>
      </p:sp>
      <p:sp>
        <p:nvSpPr>
          <p:cNvPr id="13" name="Rounded Rectangle 12"/>
          <p:cNvSpPr/>
          <p:nvPr/>
        </p:nvSpPr>
        <p:spPr>
          <a:xfrm>
            <a:off x="6519672" y="2249424"/>
            <a:ext cx="5239512" cy="3154680"/>
          </a:xfrm>
          <a:prstGeom prst="roundRect">
            <a:avLst>
              <a:gd name="adj" fmla="val 1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1546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49631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Desagregación top-down</a:t>
            </a:r>
          </a:p>
          <a:p>
            <a:pPr algn="l">
              <a:lnSpc>
                <a:spcPct val="126000"/>
              </a:lnSpc>
              <a:spcBef>
                <a:spcPts val="0"/>
              </a:spcBef>
              <a:spcAft>
                <a:spcPts val="0"/>
              </a:spcAft>
            </a:pPr>
            <a:r>
              <a:rPr sz="1430" b="0" i="0">
                <a:solidFill>
                  <a:srgbClr val="394049"/>
                </a:solidFill>
                <a:latin typeface="Open Sans"/>
              </a:rPr>
              <a:t>La predicción de familia se reparte a cada SKU con proporciones históricas del período de entrenamiento, garantizando coherencia jerárquica exacta: las partes suman el total.</a:t>
            </a:r>
          </a:p>
        </p:txBody>
      </p:sp>
      <p:sp>
        <p:nvSpPr>
          <p:cNvPr id="16" name="Rounded Rectangle 15"/>
          <p:cNvSpPr/>
          <p:nvPr/>
        </p:nvSpPr>
        <p:spPr>
          <a:xfrm>
            <a:off x="12079224" y="2249424"/>
            <a:ext cx="5239512" cy="3154680"/>
          </a:xfrm>
          <a:prstGeom prst="roundRect">
            <a:avLst>
              <a:gd name="adj" fmla="val 1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1546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249631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Por qué resuelve la intermitencia</a:t>
            </a:r>
          </a:p>
          <a:p>
            <a:pPr algn="l">
              <a:lnSpc>
                <a:spcPct val="126000"/>
              </a:lnSpc>
              <a:spcBef>
                <a:spcPts val="0"/>
              </a:spcBef>
              <a:spcAft>
                <a:spcPts val="0"/>
              </a:spcAft>
            </a:pPr>
            <a:r>
              <a:rPr sz="1430" b="0" i="0">
                <a:solidFill>
                  <a:srgbClr val="394049"/>
                </a:solidFill>
                <a:latin typeface="Open Sans"/>
              </a:rPr>
              <a:t>Arriba, la serie agregada es continua y tiene estacionalidad clara; abajo, el reparto proporcional distribuye ese pronóstico limpio. El 30,3 % de ceros deja de ser un problema de modelado.</a:t>
            </a:r>
          </a:p>
        </p:txBody>
      </p:sp>
      <p:sp>
        <p:nvSpPr>
          <p:cNvPr id="19" name="Rounded Rectangle 18"/>
          <p:cNvSpPr/>
          <p:nvPr/>
        </p:nvSpPr>
        <p:spPr>
          <a:xfrm>
            <a:off x="960120" y="5678424"/>
            <a:ext cx="16367759" cy="1828800"/>
          </a:xfrm>
          <a:prstGeom prst="roundRect">
            <a:avLst>
              <a:gd name="adj" fmla="val 275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5678424"/>
            <a:ext cx="68580" cy="18288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007608"/>
            <a:ext cx="15526512" cy="1170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Decisión experimental documentada</a:t>
            </a:r>
          </a:p>
          <a:p>
            <a:pPr algn="l">
              <a:lnSpc>
                <a:spcPct val="126000"/>
              </a:lnSpc>
              <a:spcBef>
                <a:spcPts val="0"/>
              </a:spcBef>
              <a:spcAft>
                <a:spcPts val="0"/>
              </a:spcAft>
            </a:pPr>
            <a:r>
              <a:rPr sz="1450" b="0" i="0">
                <a:solidFill>
                  <a:srgbClr val="394049"/>
                </a:solidFill>
                <a:latin typeface="Open Sans"/>
              </a:rPr>
              <a:t>Se probó también una desagregación supervisada con cuotas dinámicas aprendidas (learned shares): obtuvo 24,35 % de WAPE frente al 16,10 % del reparto estático. En catálogos muy intermitentes, la estabilidad de las proporciones históricas vence a la sofisticación.</a:t>
            </a:r>
          </a:p>
        </p:txBody>
      </p:sp>
      <p:sp>
        <p:nvSpPr>
          <p:cNvPr id="22" name="Rounded Rectangle 21"/>
          <p:cNvSpPr/>
          <p:nvPr/>
        </p:nvSpPr>
        <p:spPr>
          <a:xfrm>
            <a:off x="960120" y="7781544"/>
            <a:ext cx="16367759" cy="914400"/>
          </a:xfrm>
          <a:prstGeom prst="roundRect">
            <a:avLst>
              <a:gd name="adj" fmla="val 5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7781544"/>
            <a:ext cx="15453359" cy="91440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Pronosticar bien la familia y repartir bien el SKU venció a todos los modelos que pronostican el SKU directamente.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Detalle completo de métricas en el anexo A1.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la demanda no es estocástica, la dirige el plan comercial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7863840" cy="5577840"/>
          </a:xfrm>
          <a:prstGeom prst="roundRect">
            <a:avLst>
              <a:gd name="adj" fmla="val 98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234440" y="2639917"/>
            <a:ext cx="7315200" cy="4796852"/>
          </a:xfrm>
          <a:prstGeom prst="rect">
            <a:avLst/>
          </a:prstGeom>
        </p:spPr>
      </p:pic>
      <p:sp>
        <p:nvSpPr>
          <p:cNvPr id="12" name="TextBox 11"/>
          <p:cNvSpPr txBox="1"/>
          <p:nvPr/>
        </p:nvSpPr>
        <p:spPr>
          <a:xfrm>
            <a:off x="960120" y="796442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a:t>
            </a:r>
          </a:p>
        </p:txBody>
      </p:sp>
      <p:sp>
        <p:nvSpPr>
          <p:cNvPr id="13" name="Rounded Rectangle 12"/>
          <p:cNvSpPr/>
          <p:nvPr/>
        </p:nvSpPr>
        <p:spPr>
          <a:xfrm>
            <a:off x="9464040" y="2249424"/>
            <a:ext cx="7863840" cy="3840480"/>
          </a:xfrm>
          <a:prstGeom prst="roundRect">
            <a:avLst>
              <a:gd name="adj" fmla="val 142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5_4.png"/>
          <p:cNvPicPr>
            <a:picLocks noChangeAspect="1"/>
          </p:cNvPicPr>
          <p:nvPr/>
        </p:nvPicPr>
        <p:blipFill>
          <a:blip r:embed="rId3"/>
          <a:stretch>
            <a:fillRect/>
          </a:stretch>
        </p:blipFill>
        <p:spPr>
          <a:xfrm>
            <a:off x="10113074" y="2478024"/>
            <a:ext cx="6565771" cy="3383280"/>
          </a:xfrm>
          <a:prstGeom prst="rect">
            <a:avLst/>
          </a:prstGeom>
        </p:spPr>
      </p:pic>
      <p:sp>
        <p:nvSpPr>
          <p:cNvPr id="15" name="TextBox 14"/>
          <p:cNvSpPr txBox="1"/>
          <p:nvPr/>
        </p:nvSpPr>
        <p:spPr>
          <a:xfrm>
            <a:off x="9464040" y="622706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a:t>
            </a:r>
          </a:p>
        </p:txBody>
      </p:sp>
      <p:sp>
        <p:nvSpPr>
          <p:cNvPr id="16" name="Rounded Rectangle 15"/>
          <p:cNvSpPr/>
          <p:nvPr/>
        </p:nvSpPr>
        <p:spPr>
          <a:xfrm>
            <a:off x="9464040" y="6684264"/>
            <a:ext cx="7863840" cy="2468880"/>
          </a:xfrm>
          <a:prstGeom prst="roundRect">
            <a:avLst>
              <a:gd name="adj" fmla="val 2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464040" y="6684264"/>
            <a:ext cx="68580" cy="24688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921240" y="7013448"/>
            <a:ext cx="7022592" cy="18105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Dos lecturas, una advertencia</a:t>
            </a:r>
          </a:p>
          <a:p>
            <a:pPr algn="l" marL="274320" indent="-274320">
              <a:lnSpc>
                <a:spcPct val="118000"/>
              </a:lnSpc>
              <a:spcBef>
                <a:spcPts val="0"/>
              </a:spcBef>
              <a:spcAft>
                <a:spcPts val="700"/>
              </a:spcAft>
            </a:pPr>
            <a:r>
              <a:rPr sz="1380" b="0" i="0">
                <a:solidFill>
                  <a:srgbClr val="394049"/>
                </a:solidFill>
                <a:latin typeface="Open Sans"/>
              </a:rPr>
              <a:t>•	El precio ex-ante concentra el 67,0 % de la ganancia total del submodelo GBDT.</a:t>
            </a:r>
          </a:p>
          <a:p>
            <a:pPr algn="l" marL="274320" indent="-274320">
              <a:lnSpc>
                <a:spcPct val="118000"/>
              </a:lnSpc>
              <a:spcBef>
                <a:spcPts val="0"/>
              </a:spcBef>
              <a:spcAft>
                <a:spcPts val="700"/>
              </a:spcAft>
            </a:pPr>
            <a:r>
              <a:rPr sz="1380" b="0" i="0">
                <a:solidFill>
                  <a:srgbClr val="394049"/>
                </a:solidFill>
                <a:latin typeface="Open Sans"/>
              </a:rPr>
              <a:t>•	Aun sin precios (38,25 %), la arquitectura supera a SARIMA (76,74 %) y SBA (83,42 %): la base estructural aporta por sí sola.</a:t>
            </a:r>
          </a:p>
          <a:p>
            <a:pPr algn="l" marL="274320" indent="-274320">
              <a:lnSpc>
                <a:spcPct val="118000"/>
              </a:lnSpc>
              <a:spcBef>
                <a:spcPts val="0"/>
              </a:spcBef>
              <a:spcAft>
                <a:spcPts val="0"/>
              </a:spcAft>
            </a:pPr>
            <a:r>
              <a:rPr sz="1380" b="0" i="0">
                <a:solidFill>
                  <a:srgbClr val="394049"/>
                </a:solidFill>
                <a:latin typeface="Open Sans"/>
              </a:rPr>
              <a:t>•	La importancia por ganancia no es una estimación causal de la elasticidad precio.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23</a:t>
            </a:r>
          </a:p>
        </p:txBody>
      </p:sp>
      <p:sp>
        <p:nvSpPr>
          <p:cNvPr id="10" name="Rounded Rectangle 9"/>
          <p:cNvSpPr/>
          <p:nvPr/>
        </p:nvSpPr>
        <p:spPr>
          <a:xfrm>
            <a:off x="960120" y="2249424"/>
            <a:ext cx="16367759"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7.png"/>
          <p:cNvPicPr>
            <a:picLocks noChangeAspect="1"/>
          </p:cNvPicPr>
          <p:nvPr/>
        </p:nvPicPr>
        <p:blipFill>
          <a:blip r:embed="rId2"/>
          <a:stretch>
            <a:fillRect/>
          </a:stretch>
        </p:blipFill>
        <p:spPr>
          <a:xfrm>
            <a:off x="3887281" y="2523744"/>
            <a:ext cx="10513436" cy="5577840"/>
          </a:xfrm>
          <a:prstGeom prst="rect">
            <a:avLst/>
          </a:prstGeom>
        </p:spPr>
      </p:pic>
      <p:sp>
        <p:nvSpPr>
          <p:cNvPr id="12" name="TextBox 11"/>
          <p:cNvSpPr txBox="1"/>
          <p:nvPr/>
        </p:nvSpPr>
        <p:spPr>
          <a:xfrm>
            <a:off x="960120" y="851306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Métricas completas fuera de muestra (feb–ago 2025) para los diez modelos evaluados, en los niveles SKU y familia.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