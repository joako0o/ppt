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30,3 % de los pares SKU-mes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La Capa 3 no predice demanda: predice la cuota de cada SKU dentro de su familia. Presentar las dos vías con seguridad. La vía A usa proporciones históricas y es la que entrega el resultado principal de 16,10 %, porque es el mismo esquema que usan todos los benchmarks y eso garantiza una comparación justa. La vía B es el motor supervisado que estima la cuota mes a mes con la historia que va surgiendo, con cuota rezagada, medias móviles, meses sin venta y precio relativo. Dio 24,35 %. El hallazgo es interesante: en catálogos muy intermitentes la estabilidad le gana a la sofisticación.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DE EVIDENCIA. Explicar que se probaron tres configuraciones reentrenando el ensamble completo: sin ninguna información de precios, con el precio rezagado del mes anterior, y con el plan comercial ex-ante del propio mes. Resultados: 38,25 %, 26,42 % y 16,10 % de WAPE, con R2 de 0,69, 0,78 y 0,95. Dos lecturas: el plan comercial aporta 22,2 puntos de reducción, o sea la demanda del fast fashion no es estocástica sino dirigida; y aun sin precios el modelo queda en 38,25 %, muy por debajo de SARIMA (76,74 %) y SBA (83,42 %), lo que muestra que no depende de forma frágil de esa señal. Matiz honesto: el 67 % de importancia por ganancia no es una estimación causal de elasticidad.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Los anexos A1 a A7 respaldan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Glosario de los modelos de referencia en lenguaje simple. Es la lámina para responder cualquier pregunta del tipo por qué no usó tal método o qué diferencia hay entre Croston y SARIMA.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Los componentes de la arquitectura propia y por qué cada uno está donde está. Útil si preguntan por qué tres GBDT distintos o para qué sirve TabPFN.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Tabla 5.1 completa: WAPE, sMAPE, RMSE, MAE, sesgo, R2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Residuos: Ljung-Box p = 0,751 y Shapiro-Wilk p = 0,184. Usar si preguntan por supuestos.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Sensibilidad financiera: 84,5 a 126,8 millones bajo gestión descentralizada y 8,5 a 12,7 millones con risk pooling. Usar si cuestionan el supuesto de agregación.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A8. Contexto macro: el IPC de vestuario cae de forma sostenida. Estacionalidad repartida.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A9.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30,3 %</a:t>
            </a:r>
          </a:p>
          <a:p>
            <a:pPr algn="l">
              <a:lnSpc>
                <a:spcPct val="120000"/>
              </a:lnSpc>
              <a:spcBef>
                <a:spcPts val="0"/>
              </a:spcBef>
              <a:spcAft>
                <a:spcPts val="0"/>
              </a:spcAft>
            </a:pPr>
            <a:r>
              <a:rPr sz="1350" b="0" i="0">
                <a:solidFill>
                  <a:srgbClr val="394049"/>
                </a:solidFill>
                <a:latin typeface="Open Sans"/>
              </a:rPr>
              <a:t>de los pares SKU–mes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65022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65022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Siete meses evaluados con pesos congelados: simula un despliegue real.</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ounded Rectangle 34"/>
          <p:cNvSpPr/>
          <p:nvPr/>
        </p:nvSpPr>
        <p:spPr>
          <a:xfrm>
            <a:off x="960120" y="8001000"/>
            <a:ext cx="16367759" cy="1143000"/>
          </a:xfrm>
          <a:prstGeom prst="roundRect">
            <a:avLst>
              <a:gd name="adj" fmla="val 44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1417320" y="8001000"/>
            <a:ext cx="15453359" cy="114300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 heurística estacional de 1970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con decay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0120" y="6355080"/>
            <a:ext cx="16367759" cy="749808"/>
          </a:xfrm>
          <a:prstGeom prst="roundRect">
            <a:avLst>
              <a:gd name="adj" fmla="val 670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417320" y="6355080"/>
            <a:ext cx="15453359" cy="749808"/>
          </a:xfrm>
          <a:prstGeom prst="rect">
            <a:avLst/>
          </a:prstGeom>
          <a:noFill/>
        </p:spPr>
        <p:txBody>
          <a:bodyPr wrap="square" lIns="0" rIns="0" tIns="0" bIns="0" anchor="ctr">
            <a:spAutoFit/>
          </a:bodyPr>
          <a:lstStyle/>
          <a:p>
            <a:pPr algn="ctr">
              <a:lnSpc>
                <a:spcPct val="118000"/>
              </a:lnSpc>
              <a:spcBef>
                <a:spcPts val="0"/>
              </a:spcBef>
              <a:spcAft>
                <a:spcPts val="0"/>
              </a:spcAft>
            </a:pPr>
            <a:r>
              <a:rPr sz="1450" b="1" i="0">
                <a:solidFill>
                  <a:srgbClr val="FFFFFF"/>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561320" y="2578608"/>
            <a:ext cx="6382512"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68580" cy="22402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561320" y="5047488"/>
            <a:ext cx="6382512"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Filtra ruido y conserva estacionalidad: menor varianza, pero reacciona más tarde.</a:t>
            </a:r>
          </a:p>
        </p:txBody>
      </p:sp>
      <p:sp>
        <p:nvSpPr>
          <p:cNvPr id="19" name="Rounded Rectangle 18"/>
          <p:cNvSpPr/>
          <p:nvPr/>
        </p:nvSpPr>
        <p:spPr>
          <a:xfrm>
            <a:off x="960120" y="7461504"/>
            <a:ext cx="16367759" cy="1691640"/>
          </a:xfrm>
          <a:prstGeom prst="roundRect">
            <a:avLst>
              <a:gd name="adj" fmla="val 2972"/>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7461504"/>
            <a:ext cx="15453359" cy="169164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2004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2004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68580" cy="32004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45568"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EVALUADA EN VALIDACIÓN</a:t>
            </a:r>
          </a:p>
        </p:txBody>
      </p:sp>
      <p:sp>
        <p:nvSpPr>
          <p:cNvPr id="20" name="Rounded Rectangle 19"/>
          <p:cNvSpPr/>
          <p:nvPr/>
        </p:nvSpPr>
        <p:spPr>
          <a:xfrm>
            <a:off x="96012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012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1,05</a:t>
            </a:r>
          </a:p>
        </p:txBody>
      </p:sp>
      <p:sp>
        <p:nvSpPr>
          <p:cNvPr id="22" name="Rounded Rectangle 21"/>
          <p:cNvSpPr/>
          <p:nvPr/>
        </p:nvSpPr>
        <p:spPr>
          <a:xfrm>
            <a:off x="365760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365760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1,15</a:t>
            </a:r>
          </a:p>
        </p:txBody>
      </p:sp>
      <p:sp>
        <p:nvSpPr>
          <p:cNvPr id="24" name="Rounded Rectangle 23"/>
          <p:cNvSpPr/>
          <p:nvPr/>
        </p:nvSpPr>
        <p:spPr>
          <a:xfrm>
            <a:off x="6355080" y="6227064"/>
            <a:ext cx="2377440" cy="914400"/>
          </a:xfrm>
          <a:prstGeom prst="roundRect">
            <a:avLst>
              <a:gd name="adj" fmla="val 5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5508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FFFFFF"/>
                </a:solidFill>
                <a:latin typeface="Open Sans"/>
              </a:rPr>
              <a:t>1,25</a:t>
            </a:r>
          </a:p>
        </p:txBody>
      </p:sp>
      <p:sp>
        <p:nvSpPr>
          <p:cNvPr id="26" name="Rounded Rectangle 25"/>
          <p:cNvSpPr/>
          <p:nvPr/>
        </p:nvSpPr>
        <p:spPr>
          <a:xfrm>
            <a:off x="905256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05256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1,35</a:t>
            </a:r>
          </a:p>
        </p:txBody>
      </p:sp>
      <p:sp>
        <p:nvSpPr>
          <p:cNvPr id="28" name="Rounded Rectangle 27"/>
          <p:cNvSpPr/>
          <p:nvPr/>
        </p:nvSpPr>
        <p:spPr>
          <a:xfrm>
            <a:off x="1175004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175004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1,50</a:t>
            </a:r>
          </a:p>
        </p:txBody>
      </p:sp>
      <p:sp>
        <p:nvSpPr>
          <p:cNvPr id="30" name="TextBox 29"/>
          <p:cNvSpPr txBox="1"/>
          <p:nvPr/>
        </p:nvSpPr>
        <p:spPr>
          <a:xfrm>
            <a:off x="6355080" y="7232904"/>
            <a:ext cx="2377440" cy="320040"/>
          </a:xfrm>
          <a:prstGeom prst="rect">
            <a:avLst/>
          </a:prstGeom>
          <a:noFill/>
        </p:spPr>
        <p:txBody>
          <a:bodyPr wrap="square" lIns="0" rIns="0" tIns="0" bIns="0" anchor="t">
            <a:spAutoFit/>
          </a:bodyPr>
          <a:lstStyle/>
          <a:p>
            <a:pPr algn="ctr">
              <a:lnSpc>
                <a:spcPct val="116000"/>
              </a:lnSpc>
              <a:spcBef>
                <a:spcPts val="0"/>
              </a:spcBef>
              <a:spcAft>
                <a:spcPts val="0"/>
              </a:spcAft>
            </a:pPr>
            <a:r>
              <a:rPr sz="1200" b="1" i="0">
                <a:solidFill>
                  <a:srgbClr val="005F91"/>
                </a:solidFill>
                <a:latin typeface="Open Sans"/>
              </a:rPr>
              <a:t>τ* seleccionado</a:t>
            </a:r>
          </a:p>
        </p:txBody>
      </p:sp>
      <p:sp>
        <p:nvSpPr>
          <p:cNvPr id="31" name="TextBox 30"/>
          <p:cNvSpPr txBox="1"/>
          <p:nvPr/>
        </p:nvSpPr>
        <p:spPr>
          <a:xfrm>
            <a:off x="14676120" y="6227064"/>
            <a:ext cx="2651760" cy="914400"/>
          </a:xfrm>
          <a:prstGeom prst="rect">
            <a:avLst/>
          </a:prstGeom>
          <a:noFill/>
        </p:spPr>
        <p:txBody>
          <a:bodyPr wrap="square" lIns="0" rIns="0" tIns="0" bIns="0" anchor="ctr">
            <a:spAutoFit/>
          </a:bodyPr>
          <a:lstStyle/>
          <a:p>
            <a:pPr algn="l">
              <a:lnSpc>
                <a:spcPct val="120000"/>
              </a:lnSpc>
              <a:spcBef>
                <a:spcPts val="0"/>
              </a:spcBef>
              <a:spcAft>
                <a:spcPts val="0"/>
              </a:spcAft>
            </a:pPr>
            <a:r>
              <a:rPr sz="1250" b="0" i="0">
                <a:solidFill>
                  <a:srgbClr val="9AA1A9"/>
                </a:solidFill>
                <a:latin typeface="Open Sans"/>
              </a:rPr>
              <a:t>...para cada umbral se reoptimizan los pesos</a:t>
            </a:r>
          </a:p>
        </p:txBody>
      </p:sp>
      <p:sp>
        <p:nvSpPr>
          <p:cNvPr id="32" name="Rounded Rectangle 31"/>
          <p:cNvSpPr/>
          <p:nvPr/>
        </p:nvSpPr>
        <p:spPr>
          <a:xfrm>
            <a:off x="960120" y="7735824"/>
            <a:ext cx="16367759" cy="1417320"/>
          </a:xfrm>
          <a:prstGeom prst="roundRect">
            <a:avLst>
              <a:gd name="adj" fmla="val 3548"/>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417320" y="7735824"/>
            <a:ext cx="15453359" cy="14173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7863840" cy="2880360"/>
          </a:xfrm>
          <a:prstGeom prst="roundRect">
            <a:avLst>
              <a:gd name="adj" fmla="val 190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3209544"/>
            <a:ext cx="2286000" cy="868680"/>
          </a:xfrm>
          <a:prstGeom prst="roundRect">
            <a:avLst>
              <a:gd name="adj" fmla="val 631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3209544"/>
            <a:ext cx="2286000" cy="868680"/>
          </a:xfrm>
          <a:prstGeom prst="rect">
            <a:avLst/>
          </a:prstGeom>
          <a:noFill/>
        </p:spPr>
        <p:txBody>
          <a:bodyPr wrap="square" lIns="0" rIns="0" tIns="0" bIns="0" anchor="ctr">
            <a:spAutoFit/>
          </a:bodyPr>
          <a:lstStyle/>
          <a:p>
            <a:pPr algn="ctr">
              <a:lnSpc>
                <a:spcPct val="116000"/>
              </a:lnSpc>
              <a:spcBef>
                <a:spcPts val="0"/>
              </a:spcBef>
              <a:spcAft>
                <a:spcPts val="200"/>
              </a:spcAft>
            </a:pPr>
            <a:r>
              <a:rPr sz="1500" b="1" i="0">
                <a:solidFill>
                  <a:srgbClr val="FFFFFF"/>
                </a:solidFill>
                <a:latin typeface="Open Sans"/>
              </a:rPr>
              <a:t>Familia</a:t>
            </a:r>
          </a:p>
          <a:p>
            <a:pPr algn="ctr">
              <a:lnSpc>
                <a:spcPct val="116000"/>
              </a:lnSpc>
              <a:spcBef>
                <a:spcPts val="0"/>
              </a:spcBef>
              <a:spcAft>
                <a:spcPts val="0"/>
              </a:spcAft>
            </a:pPr>
            <a:r>
              <a:rPr sz="1100" b="0" i="0">
                <a:solidFill>
                  <a:srgbClr val="CBDCE7"/>
                </a:solidFill>
                <a:latin typeface="Open Sans"/>
              </a:rPr>
              <a:t>demanda proyectada</a:t>
            </a:r>
          </a:p>
        </p:txBody>
      </p:sp>
      <p:sp>
        <p:nvSpPr>
          <p:cNvPr id="13" name="Rounded Rectangle 12"/>
          <p:cNvSpPr/>
          <p:nvPr/>
        </p:nvSpPr>
        <p:spPr>
          <a:xfrm>
            <a:off x="5166359" y="252374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52374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A</a:t>
            </a:r>
          </a:p>
        </p:txBody>
      </p:sp>
      <p:sp>
        <p:nvSpPr>
          <p:cNvPr id="15" name="TextBox 14"/>
          <p:cNvSpPr txBox="1"/>
          <p:nvPr/>
        </p:nvSpPr>
        <p:spPr>
          <a:xfrm>
            <a:off x="6720840" y="252374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41 %</a:t>
            </a:r>
          </a:p>
        </p:txBody>
      </p:sp>
      <p:cxnSp>
        <p:nvCxnSpPr>
          <p:cNvPr id="16" name="Connector 15"/>
          <p:cNvCxnSpPr/>
          <p:nvPr/>
        </p:nvCxnSpPr>
        <p:spPr>
          <a:xfrm flipV="1">
            <a:off x="3749039" y="2770632"/>
            <a:ext cx="1325881" cy="86868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307238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307238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B</a:t>
            </a:r>
          </a:p>
        </p:txBody>
      </p:sp>
      <p:sp>
        <p:nvSpPr>
          <p:cNvPr id="19" name="TextBox 18"/>
          <p:cNvSpPr txBox="1"/>
          <p:nvPr/>
        </p:nvSpPr>
        <p:spPr>
          <a:xfrm>
            <a:off x="6720840" y="307238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27 %</a:t>
            </a:r>
          </a:p>
        </p:txBody>
      </p:sp>
      <p:cxnSp>
        <p:nvCxnSpPr>
          <p:cNvPr id="20" name="Connector 19"/>
          <p:cNvCxnSpPr/>
          <p:nvPr/>
        </p:nvCxnSpPr>
        <p:spPr>
          <a:xfrm flipV="1">
            <a:off x="3749039" y="3319272"/>
            <a:ext cx="1325881" cy="32004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62102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62102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C</a:t>
            </a:r>
          </a:p>
        </p:txBody>
      </p:sp>
      <p:sp>
        <p:nvSpPr>
          <p:cNvPr id="23" name="TextBox 22"/>
          <p:cNvSpPr txBox="1"/>
          <p:nvPr/>
        </p:nvSpPr>
        <p:spPr>
          <a:xfrm>
            <a:off x="6720840" y="362102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19 %</a:t>
            </a:r>
          </a:p>
        </p:txBody>
      </p:sp>
      <p:cxnSp>
        <p:nvCxnSpPr>
          <p:cNvPr id="24" name="Connector 23"/>
          <p:cNvCxnSpPr/>
          <p:nvPr/>
        </p:nvCxnSpPr>
        <p:spPr>
          <a:xfrm>
            <a:off x="3749039" y="3639312"/>
            <a:ext cx="1325881" cy="22860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4169663"/>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4169663"/>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D</a:t>
            </a:r>
          </a:p>
        </p:txBody>
      </p:sp>
      <p:sp>
        <p:nvSpPr>
          <p:cNvPr id="27" name="TextBox 26"/>
          <p:cNvSpPr txBox="1"/>
          <p:nvPr/>
        </p:nvSpPr>
        <p:spPr>
          <a:xfrm>
            <a:off x="6720840" y="4169663"/>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13 %</a:t>
            </a:r>
          </a:p>
        </p:txBody>
      </p:sp>
      <p:cxnSp>
        <p:nvCxnSpPr>
          <p:cNvPr id="28" name="Connector 27"/>
          <p:cNvCxnSpPr/>
          <p:nvPr/>
        </p:nvCxnSpPr>
        <p:spPr>
          <a:xfrm>
            <a:off x="3749039" y="3639312"/>
            <a:ext cx="1325881" cy="77724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700016"/>
            <a:ext cx="70408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cuota de cada SKU reparte la demanda de su familia; las cuotas suman exactamente 100 %.</a:t>
            </a:r>
          </a:p>
        </p:txBody>
      </p:sp>
      <p:sp>
        <p:nvSpPr>
          <p:cNvPr id="30" name="Rounded Rectangle 29"/>
          <p:cNvSpPr/>
          <p:nvPr/>
        </p:nvSpPr>
        <p:spPr>
          <a:xfrm>
            <a:off x="9464040" y="2249424"/>
            <a:ext cx="7863840" cy="2880360"/>
          </a:xfrm>
          <a:prstGeom prst="roundRect">
            <a:avLst>
              <a:gd name="adj" fmla="val 174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8803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222199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Qué predice esta capa</a:t>
            </a:r>
          </a:p>
          <a:p>
            <a:pPr algn="l" marL="274320" indent="-274320">
              <a:lnSpc>
                <a:spcPct val="118000"/>
              </a:lnSpc>
              <a:spcBef>
                <a:spcPts val="0"/>
              </a:spcBef>
              <a:spcAft>
                <a:spcPts val="700"/>
              </a:spcAft>
            </a:pPr>
            <a:r>
              <a:rPr sz="1380" b="0" i="0">
                <a:solidFill>
                  <a:srgbClr val="394049"/>
                </a:solidFill>
                <a:latin typeface="Open Sans"/>
              </a:rPr>
              <a:t>•	No la demanda del SKU, sino su participación dentro de la familia.</a:t>
            </a:r>
          </a:p>
          <a:p>
            <a:pPr algn="l" marL="274320" indent="-274320">
              <a:lnSpc>
                <a:spcPct val="118000"/>
              </a:lnSpc>
              <a:spcBef>
                <a:spcPts val="0"/>
              </a:spcBef>
              <a:spcAft>
                <a:spcPts val="700"/>
              </a:spcAft>
            </a:pPr>
            <a:r>
              <a:rPr sz="1380" b="0" i="0">
                <a:solidFill>
                  <a:srgbClr val="394049"/>
                </a:solidFill>
                <a:latin typeface="Open Sans"/>
              </a:rPr>
              <a:t>•	La demanda familiar se multiplica por esa cuota y se obtiene el pronóstico del producto.</a:t>
            </a:r>
          </a:p>
          <a:p>
            <a:pPr algn="l" marL="274320" indent="-274320">
              <a:lnSpc>
                <a:spcPct val="118000"/>
              </a:lnSpc>
              <a:spcBef>
                <a:spcPts val="0"/>
              </a:spcBef>
              <a:spcAft>
                <a:spcPts val="0"/>
              </a:spcAft>
            </a:pPr>
            <a:r>
              <a:rPr sz="138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5404104"/>
            <a:ext cx="7863840" cy="2743200"/>
          </a:xfrm>
          <a:prstGeom prst="roundRect">
            <a:avLst>
              <a:gd name="adj" fmla="val 18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5404104"/>
            <a:ext cx="68580" cy="27432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417320" y="5733288"/>
            <a:ext cx="7022592" cy="2084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700"/>
              </a:spcAft>
            </a:pPr>
            <a:r>
              <a:rPr sz="1360" b="0" i="0">
                <a:solidFill>
                  <a:srgbClr val="394049"/>
                </a:solidFill>
                <a:latin typeface="Open Sans"/>
              </a:rPr>
              <a:t>•	La cuota se calcula con las ventas del período de entrenamiento y se mantiene fija en el test.</a:t>
            </a:r>
          </a:p>
          <a:p>
            <a:pPr algn="l" marL="274320" indent="-274320">
              <a:lnSpc>
                <a:spcPct val="118000"/>
              </a:lnSpc>
              <a:spcBef>
                <a:spcPts val="0"/>
              </a:spcBef>
              <a:spcAft>
                <a:spcPts val="700"/>
              </a:spcAft>
            </a:pPr>
            <a:r>
              <a:rPr sz="136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0"/>
              </a:spcAft>
            </a:pPr>
            <a:r>
              <a:rPr sz="1360" b="1" i="0">
                <a:solidFill>
                  <a:srgbClr val="394049"/>
                </a:solidFill>
                <a:latin typeface="Open Sans"/>
              </a:rPr>
              <a:t>•	Resultado principal de la tesis: WAPE 16,10 %.</a:t>
            </a:r>
          </a:p>
        </p:txBody>
      </p:sp>
      <p:sp>
        <p:nvSpPr>
          <p:cNvPr id="36" name="Rounded Rectangle 35"/>
          <p:cNvSpPr/>
          <p:nvPr/>
        </p:nvSpPr>
        <p:spPr>
          <a:xfrm>
            <a:off x="9464040" y="5404104"/>
            <a:ext cx="7863840" cy="2743200"/>
          </a:xfrm>
          <a:prstGeom prst="roundRect">
            <a:avLst>
              <a:gd name="adj" fmla="val 18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464040" y="5404104"/>
            <a:ext cx="68580" cy="2743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9921240" y="5733288"/>
            <a:ext cx="7022592" cy="2084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 (dinámicas)</a:t>
            </a:r>
          </a:p>
          <a:p>
            <a:pPr algn="l" marL="274320" indent="-274320">
              <a:lnSpc>
                <a:spcPct val="118000"/>
              </a:lnSpc>
              <a:spcBef>
                <a:spcPts val="0"/>
              </a:spcBef>
              <a:spcAft>
                <a:spcPts val="700"/>
              </a:spcAft>
            </a:pPr>
            <a:r>
              <a:rPr sz="136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700"/>
              </a:spcAft>
            </a:pPr>
            <a:r>
              <a:rPr sz="1360" b="0" i="0">
                <a:solidFill>
                  <a:srgbClr val="394049"/>
                </a:solidFill>
                <a:latin typeface="Open Sans"/>
              </a:rPr>
              <a:t>•	Variables: cuota rezagada en t−1 y t−12, medias móviles de 3 y 12 meses, meses desde la última venta y precio relativo del SKU frente a su familia.</a:t>
            </a:r>
          </a:p>
          <a:p>
            <a:pPr algn="l" marL="274320" indent="-274320">
              <a:lnSpc>
                <a:spcPct val="118000"/>
              </a:lnSpc>
              <a:spcBef>
                <a:spcPts val="0"/>
              </a:spcBef>
              <a:spcAft>
                <a:spcPts val="0"/>
              </a:spcAft>
            </a:pPr>
            <a:r>
              <a:rPr sz="1360" b="1" i="0">
                <a:solidFill>
                  <a:srgbClr val="394049"/>
                </a:solidFill>
                <a:latin typeface="Open Sans"/>
              </a:rPr>
              <a:t>•	Extensión metodológica evaluada: WAPE 24,35 %.</a:t>
            </a:r>
          </a:p>
        </p:txBody>
      </p:sp>
      <p:sp>
        <p:nvSpPr>
          <p:cNvPr id="39" name="Rounded Rectangle 38"/>
          <p:cNvSpPr/>
          <p:nvPr/>
        </p:nvSpPr>
        <p:spPr>
          <a:xfrm>
            <a:off x="960120" y="8421624"/>
            <a:ext cx="16367759" cy="731520"/>
          </a:xfrm>
          <a:prstGeom prst="roundRect">
            <a:avLst>
              <a:gd name="adj" fmla="val 6874"/>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1417320" y="8421624"/>
            <a:ext cx="15453359" cy="731520"/>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Hallazgo: en catálogos con alta intermitencia, la estabilidad de las proporciones históricas venció a la sofisticación de las cuotas aprendidas.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Detalle completo de métricas en el anexo 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del vector de precios: tres configuraciones, un mismo ensamble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786384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754505" y="2478024"/>
            <a:ext cx="6275070" cy="4114800"/>
          </a:xfrm>
          <a:prstGeom prst="rect">
            <a:avLst/>
          </a:prstGeom>
        </p:spPr>
      </p:pic>
      <p:sp>
        <p:nvSpPr>
          <p:cNvPr id="12" name="TextBox 11"/>
          <p:cNvSpPr txBox="1"/>
          <p:nvPr/>
        </p:nvSpPr>
        <p:spPr>
          <a:xfrm>
            <a:off x="960120" y="695858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 al pronosticar.</a:t>
            </a:r>
          </a:p>
        </p:txBody>
      </p:sp>
      <p:sp>
        <p:nvSpPr>
          <p:cNvPr id="13" name="Rounded Rectangle 12"/>
          <p:cNvSpPr/>
          <p:nvPr/>
        </p:nvSpPr>
        <p:spPr>
          <a:xfrm>
            <a:off x="960120" y="7324344"/>
            <a:ext cx="786384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732434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7653527"/>
            <a:ext cx="702259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Cómo se corrió el experimento</a:t>
            </a:r>
          </a:p>
          <a:p>
            <a:pPr algn="l" marL="274320" indent="-274320">
              <a:lnSpc>
                <a:spcPct val="118000"/>
              </a:lnSpc>
              <a:spcBef>
                <a:spcPts val="0"/>
              </a:spcBef>
              <a:spcAft>
                <a:spcPts val="700"/>
              </a:spcAft>
            </a:pPr>
            <a:r>
              <a:rPr sz="1360" b="0" i="0">
                <a:solidFill>
                  <a:srgbClr val="394049"/>
                </a:solidFill>
                <a:latin typeface="Open Sans"/>
              </a:rPr>
              <a:t>•	Se reentrena el ensamble completo excluyendo o rezagando el vector de precios; el resto del protocolo se mantiene idéntico.</a:t>
            </a:r>
          </a:p>
          <a:p>
            <a:pPr algn="l" marL="274320" indent="-274320">
              <a:lnSpc>
                <a:spcPct val="118000"/>
              </a:lnSpc>
              <a:spcBef>
                <a:spcPts val="0"/>
              </a:spcBef>
              <a:spcAft>
                <a:spcPts val="0"/>
              </a:spcAft>
            </a:pPr>
            <a:r>
              <a:rPr sz="1360" b="0" i="0">
                <a:solidFill>
                  <a:srgbClr val="394049"/>
                </a:solidFill>
                <a:latin typeface="Open Sans"/>
              </a:rPr>
              <a:t>•	Ejecuciones separadas del pipeline: 8 semillas × 3 modelos GBDT × NNLS × ruteo.</a:t>
            </a:r>
          </a:p>
        </p:txBody>
      </p:sp>
      <p:sp>
        <p:nvSpPr>
          <p:cNvPr id="16" name="TextBox 15"/>
          <p:cNvSpPr txBox="1"/>
          <p:nvPr/>
        </p:nvSpPr>
        <p:spPr>
          <a:xfrm>
            <a:off x="9464040" y="2194560"/>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ESTUDIO DE ABLACIÓN · NIVEL SKU (TABLA 5.5)</a:t>
            </a:r>
          </a:p>
        </p:txBody>
      </p:sp>
      <p:sp>
        <p:nvSpPr>
          <p:cNvPr id="17" name="Rectangle 16"/>
          <p:cNvSpPr/>
          <p:nvPr/>
        </p:nvSpPr>
        <p:spPr>
          <a:xfrm>
            <a:off x="9464040" y="2633472"/>
            <a:ext cx="7863840" cy="50292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28632" y="2633472"/>
            <a:ext cx="2871216" cy="502920"/>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FFFFFF"/>
                </a:solidFill>
                <a:latin typeface="Open Sans"/>
              </a:rPr>
              <a:t>Configuración de precios</a:t>
            </a:r>
          </a:p>
        </p:txBody>
      </p:sp>
      <p:sp>
        <p:nvSpPr>
          <p:cNvPr id="19" name="TextBox 18"/>
          <p:cNvSpPr txBox="1"/>
          <p:nvPr/>
        </p:nvSpPr>
        <p:spPr>
          <a:xfrm>
            <a:off x="12829032" y="2633472"/>
            <a:ext cx="95097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WAPE</a:t>
            </a:r>
          </a:p>
        </p:txBody>
      </p:sp>
      <p:sp>
        <p:nvSpPr>
          <p:cNvPr id="20" name="TextBox 19"/>
          <p:cNvSpPr txBox="1"/>
          <p:nvPr/>
        </p:nvSpPr>
        <p:spPr>
          <a:xfrm>
            <a:off x="14109192" y="2633472"/>
            <a:ext cx="85953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MAPE</a:t>
            </a:r>
          </a:p>
        </p:txBody>
      </p:sp>
      <p:sp>
        <p:nvSpPr>
          <p:cNvPr id="21" name="TextBox 20"/>
          <p:cNvSpPr txBox="1"/>
          <p:nvPr/>
        </p:nvSpPr>
        <p:spPr>
          <a:xfrm>
            <a:off x="1529791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RMSE</a:t>
            </a:r>
          </a:p>
        </p:txBody>
      </p:sp>
      <p:sp>
        <p:nvSpPr>
          <p:cNvPr id="22" name="TextBox 21"/>
          <p:cNvSpPr txBox="1"/>
          <p:nvPr/>
        </p:nvSpPr>
        <p:spPr>
          <a:xfrm>
            <a:off x="1639519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R²</a:t>
            </a:r>
          </a:p>
        </p:txBody>
      </p:sp>
      <p:sp>
        <p:nvSpPr>
          <p:cNvPr id="23" name="Rectangle 22"/>
          <p:cNvSpPr/>
          <p:nvPr/>
        </p:nvSpPr>
        <p:spPr>
          <a:xfrm>
            <a:off x="9464040" y="3136391"/>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628632" y="3136391"/>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1 · Sin información de precios</a:t>
            </a:r>
          </a:p>
        </p:txBody>
      </p:sp>
      <p:sp>
        <p:nvSpPr>
          <p:cNvPr id="25" name="TextBox 24"/>
          <p:cNvSpPr txBox="1"/>
          <p:nvPr/>
        </p:nvSpPr>
        <p:spPr>
          <a:xfrm>
            <a:off x="12829032" y="3136391"/>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38,25 %</a:t>
            </a:r>
          </a:p>
        </p:txBody>
      </p:sp>
      <p:sp>
        <p:nvSpPr>
          <p:cNvPr id="26" name="TextBox 25"/>
          <p:cNvSpPr txBox="1"/>
          <p:nvPr/>
        </p:nvSpPr>
        <p:spPr>
          <a:xfrm>
            <a:off x="14109192" y="3136391"/>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44,10 %</a:t>
            </a:r>
          </a:p>
        </p:txBody>
      </p:sp>
      <p:sp>
        <p:nvSpPr>
          <p:cNvPr id="27" name="TextBox 26"/>
          <p:cNvSpPr txBox="1"/>
          <p:nvPr/>
        </p:nvSpPr>
        <p:spPr>
          <a:xfrm>
            <a:off x="1529791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58,3</a:t>
            </a:r>
          </a:p>
        </p:txBody>
      </p:sp>
      <p:sp>
        <p:nvSpPr>
          <p:cNvPr id="28" name="TextBox 27"/>
          <p:cNvSpPr txBox="1"/>
          <p:nvPr/>
        </p:nvSpPr>
        <p:spPr>
          <a:xfrm>
            <a:off x="1639519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0,69</a:t>
            </a:r>
          </a:p>
        </p:txBody>
      </p:sp>
      <p:sp>
        <p:nvSpPr>
          <p:cNvPr id="29" name="Rectangle 28"/>
          <p:cNvSpPr/>
          <p:nvPr/>
        </p:nvSpPr>
        <p:spPr>
          <a:xfrm>
            <a:off x="9464040" y="3794759"/>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28632" y="3794759"/>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2 · Con precio rezagado t−1</a:t>
            </a:r>
          </a:p>
        </p:txBody>
      </p:sp>
      <p:sp>
        <p:nvSpPr>
          <p:cNvPr id="31" name="TextBox 30"/>
          <p:cNvSpPr txBox="1"/>
          <p:nvPr/>
        </p:nvSpPr>
        <p:spPr>
          <a:xfrm>
            <a:off x="12829032" y="3794759"/>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26,42 %</a:t>
            </a:r>
          </a:p>
        </p:txBody>
      </p:sp>
      <p:sp>
        <p:nvSpPr>
          <p:cNvPr id="32" name="TextBox 31"/>
          <p:cNvSpPr txBox="1"/>
          <p:nvPr/>
        </p:nvSpPr>
        <p:spPr>
          <a:xfrm>
            <a:off x="14109192" y="3794759"/>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31,50 %</a:t>
            </a:r>
          </a:p>
        </p:txBody>
      </p:sp>
      <p:sp>
        <p:nvSpPr>
          <p:cNvPr id="33" name="TextBox 32"/>
          <p:cNvSpPr txBox="1"/>
          <p:nvPr/>
        </p:nvSpPr>
        <p:spPr>
          <a:xfrm>
            <a:off x="1529791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41,2</a:t>
            </a:r>
          </a:p>
        </p:txBody>
      </p:sp>
      <p:sp>
        <p:nvSpPr>
          <p:cNvPr id="34" name="TextBox 33"/>
          <p:cNvSpPr txBox="1"/>
          <p:nvPr/>
        </p:nvSpPr>
        <p:spPr>
          <a:xfrm>
            <a:off x="1639519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0,78</a:t>
            </a:r>
          </a:p>
        </p:txBody>
      </p:sp>
      <p:sp>
        <p:nvSpPr>
          <p:cNvPr id="35" name="Rectangle 34"/>
          <p:cNvSpPr/>
          <p:nvPr/>
        </p:nvSpPr>
        <p:spPr>
          <a:xfrm>
            <a:off x="9464040" y="4453127"/>
            <a:ext cx="7863840" cy="658368"/>
          </a:xfrm>
          <a:prstGeom prst="rect">
            <a:avLst/>
          </a:prstGeom>
          <a:solidFill>
            <a:srgbClr val="E8EEF3"/>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Rectangle 35"/>
          <p:cNvSpPr/>
          <p:nvPr/>
        </p:nvSpPr>
        <p:spPr>
          <a:xfrm>
            <a:off x="9464040" y="4453127"/>
            <a:ext cx="54864" cy="6583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9628632" y="4453127"/>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1" i="0">
                <a:solidFill>
                  <a:srgbClr val="003F62"/>
                </a:solidFill>
                <a:latin typeface="Open Sans"/>
              </a:rPr>
              <a:t>3 · Con plan comercial ex-ante t</a:t>
            </a:r>
          </a:p>
        </p:txBody>
      </p:sp>
      <p:sp>
        <p:nvSpPr>
          <p:cNvPr id="38" name="TextBox 37"/>
          <p:cNvSpPr txBox="1"/>
          <p:nvPr/>
        </p:nvSpPr>
        <p:spPr>
          <a:xfrm>
            <a:off x="12829032" y="4453127"/>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16,10 %</a:t>
            </a:r>
          </a:p>
        </p:txBody>
      </p:sp>
      <p:sp>
        <p:nvSpPr>
          <p:cNvPr id="39" name="TextBox 38"/>
          <p:cNvSpPr txBox="1"/>
          <p:nvPr/>
        </p:nvSpPr>
        <p:spPr>
          <a:xfrm>
            <a:off x="14109192" y="4453127"/>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20,47 %</a:t>
            </a:r>
          </a:p>
        </p:txBody>
      </p:sp>
      <p:sp>
        <p:nvSpPr>
          <p:cNvPr id="40" name="TextBox 39"/>
          <p:cNvSpPr txBox="1"/>
          <p:nvPr/>
        </p:nvSpPr>
        <p:spPr>
          <a:xfrm>
            <a:off x="1529791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26,7</a:t>
            </a:r>
          </a:p>
        </p:txBody>
      </p:sp>
      <p:sp>
        <p:nvSpPr>
          <p:cNvPr id="41" name="TextBox 40"/>
          <p:cNvSpPr txBox="1"/>
          <p:nvPr/>
        </p:nvSpPr>
        <p:spPr>
          <a:xfrm>
            <a:off x="1639519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0,95</a:t>
            </a:r>
          </a:p>
        </p:txBody>
      </p:sp>
      <p:sp>
        <p:nvSpPr>
          <p:cNvPr id="42" name="TextBox 41"/>
          <p:cNvSpPr txBox="1"/>
          <p:nvPr/>
        </p:nvSpPr>
        <p:spPr>
          <a:xfrm>
            <a:off x="9464040" y="517550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configuración 3 es el modelo propuesto; las otras dos son reentrenamientos controlados.</a:t>
            </a:r>
          </a:p>
        </p:txBody>
      </p:sp>
      <p:sp>
        <p:nvSpPr>
          <p:cNvPr id="43" name="Rounded Rectangle 42"/>
          <p:cNvSpPr/>
          <p:nvPr/>
        </p:nvSpPr>
        <p:spPr>
          <a:xfrm>
            <a:off x="9464040" y="5678424"/>
            <a:ext cx="7863840" cy="3474720"/>
          </a:xfrm>
          <a:prstGeom prst="roundRect">
            <a:avLst>
              <a:gd name="adj" fmla="val 157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4" name="Picture 43" descr="fig5_4.png"/>
          <p:cNvPicPr>
            <a:picLocks noChangeAspect="1"/>
          </p:cNvPicPr>
          <p:nvPr/>
        </p:nvPicPr>
        <p:blipFill>
          <a:blip r:embed="rId3"/>
          <a:stretch>
            <a:fillRect/>
          </a:stretch>
        </p:blipFill>
        <p:spPr>
          <a:xfrm>
            <a:off x="10379254" y="5861304"/>
            <a:ext cx="6033411" cy="3108960"/>
          </a:xfrm>
          <a:prstGeom prst="rect">
            <a:avLst/>
          </a:prstGeom>
        </p:spPr>
      </p:pic>
      <p:sp>
        <p:nvSpPr>
          <p:cNvPr id="45" name="TextBox 44"/>
          <p:cNvSpPr txBox="1"/>
          <p:nvPr/>
        </p:nvSpPr>
        <p:spPr>
          <a:xfrm>
            <a:off x="9464040" y="9034272"/>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 el precio ex-ante concentra el 67,0 %.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modelos de referencia, en simple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42316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70332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3" name="TextBox 12"/>
          <p:cNvSpPr txBox="1"/>
          <p:nvPr/>
        </p:nvSpPr>
        <p:spPr>
          <a:xfrm>
            <a:off x="8183879" y="2377440"/>
            <a:ext cx="37033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4" name="TextBox 13"/>
          <p:cNvSpPr txBox="1"/>
          <p:nvPr/>
        </p:nvSpPr>
        <p:spPr>
          <a:xfrm>
            <a:off x="12207240" y="2377440"/>
            <a:ext cx="361187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sp>
        <p:nvSpPr>
          <p:cNvPr id="15" name="TextBox 14"/>
          <p:cNvSpPr txBox="1"/>
          <p:nvPr/>
        </p:nvSpPr>
        <p:spPr>
          <a:xfrm>
            <a:off x="16139159" y="2377440"/>
            <a:ext cx="868680" cy="384048"/>
          </a:xfrm>
          <a:prstGeom prst="rect">
            <a:avLst/>
          </a:prstGeom>
          <a:noFill/>
        </p:spPr>
        <p:txBody>
          <a:bodyPr wrap="square" lIns="0" rIns="0" tIns="0" bIns="0" anchor="t">
            <a:spAutoFit/>
          </a:bodyPr>
          <a:lstStyle/>
          <a:p>
            <a:pPr algn="r">
              <a:lnSpc>
                <a:spcPct val="116000"/>
              </a:lnSpc>
              <a:spcBef>
                <a:spcPts val="0"/>
              </a:spcBef>
              <a:spcAft>
                <a:spcPts val="0"/>
              </a:spcAft>
            </a:pPr>
            <a:r>
              <a:rPr sz="1130" b="1" i="0" spc="150">
                <a:solidFill>
                  <a:srgbClr val="6E6E6E"/>
                </a:solidFill>
                <a:latin typeface="Open Sans"/>
              </a:rPr>
              <a:t>WAPE</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Seasonal Naïve</a:t>
            </a:r>
          </a:p>
        </p:txBody>
      </p:sp>
      <p:sp>
        <p:nvSpPr>
          <p:cNvPr id="18" name="TextBox 17"/>
          <p:cNvSpPr txBox="1"/>
          <p:nvPr/>
        </p:nvSpPr>
        <p:spPr>
          <a:xfrm>
            <a:off x="3703320" y="285292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Repite lo que se vendió el mismo mes del año anterior.</a:t>
            </a:r>
          </a:p>
        </p:txBody>
      </p:sp>
      <p:sp>
        <p:nvSpPr>
          <p:cNvPr id="19" name="TextBox 18"/>
          <p:cNvSpPr txBox="1"/>
          <p:nvPr/>
        </p:nvSpPr>
        <p:spPr>
          <a:xfrm>
            <a:off x="8183879" y="285292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Referencia honesta y sin costo: captura la estacionalidad pura.</a:t>
            </a:r>
          </a:p>
        </p:txBody>
      </p:sp>
      <p:sp>
        <p:nvSpPr>
          <p:cNvPr id="20" name="TextBox 19"/>
          <p:cNvSpPr txBox="1"/>
          <p:nvPr/>
        </p:nvSpPr>
        <p:spPr>
          <a:xfrm>
            <a:off x="12207240" y="285292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Ciega a precios, campañas y cambios de tendencia.</a:t>
            </a:r>
          </a:p>
        </p:txBody>
      </p:sp>
      <p:sp>
        <p:nvSpPr>
          <p:cNvPr id="21" name="TextBox 20"/>
          <p:cNvSpPr txBox="1"/>
          <p:nvPr/>
        </p:nvSpPr>
        <p:spPr>
          <a:xfrm>
            <a:off x="16139159" y="285292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69,89 %</a:t>
            </a:r>
          </a:p>
        </p:txBody>
      </p:sp>
      <p:cxnSp>
        <p:nvCxnSpPr>
          <p:cNvPr id="22" name="Connector 21"/>
          <p:cNvCxnSpPr/>
          <p:nvPr/>
        </p:nvCxnSpPr>
        <p:spPr>
          <a:xfrm>
            <a:off x="960120" y="360273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0273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a:t>
            </a:r>
          </a:p>
        </p:txBody>
      </p:sp>
      <p:sp>
        <p:nvSpPr>
          <p:cNvPr id="24" name="TextBox 23"/>
          <p:cNvSpPr txBox="1"/>
          <p:nvPr/>
        </p:nvSpPr>
        <p:spPr>
          <a:xfrm>
            <a:off x="3703320" y="360273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Proyecta la serie usando su propia historia y su ciclo anual.</a:t>
            </a:r>
          </a:p>
        </p:txBody>
      </p:sp>
      <p:sp>
        <p:nvSpPr>
          <p:cNvPr id="25" name="TextBox 24"/>
          <p:cNvSpPr txBox="1"/>
          <p:nvPr/>
        </p:nvSpPr>
        <p:spPr>
          <a:xfrm>
            <a:off x="8183879" y="360273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Estándar de la literatura: interpretable y reproducible.</a:t>
            </a:r>
          </a:p>
        </p:txBody>
      </p:sp>
      <p:sp>
        <p:nvSpPr>
          <p:cNvPr id="26" name="TextBox 25"/>
          <p:cNvSpPr txBox="1"/>
          <p:nvPr/>
        </p:nvSpPr>
        <p:spPr>
          <a:xfrm>
            <a:off x="12207240" y="360273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lineal y no admite información externa; los ceros la desestabilizan.</a:t>
            </a:r>
          </a:p>
        </p:txBody>
      </p:sp>
      <p:sp>
        <p:nvSpPr>
          <p:cNvPr id="27" name="TextBox 26"/>
          <p:cNvSpPr txBox="1"/>
          <p:nvPr/>
        </p:nvSpPr>
        <p:spPr>
          <a:xfrm>
            <a:off x="16139159" y="360273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76,74 %</a:t>
            </a:r>
          </a:p>
        </p:txBody>
      </p:sp>
      <p:cxnSp>
        <p:nvCxnSpPr>
          <p:cNvPr id="28" name="Connector 27"/>
          <p:cNvCxnSpPr/>
          <p:nvPr/>
        </p:nvCxnSpPr>
        <p:spPr>
          <a:xfrm>
            <a:off x="960120" y="435254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352544"/>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SARIMAX</a:t>
            </a:r>
          </a:p>
        </p:txBody>
      </p:sp>
      <p:sp>
        <p:nvSpPr>
          <p:cNvPr id="30" name="TextBox 29"/>
          <p:cNvSpPr txBox="1"/>
          <p:nvPr/>
        </p:nvSpPr>
        <p:spPr>
          <a:xfrm>
            <a:off x="3703320" y="4352544"/>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SARIMA más variables externas: precio y descuento.</a:t>
            </a:r>
          </a:p>
        </p:txBody>
      </p:sp>
      <p:sp>
        <p:nvSpPr>
          <p:cNvPr id="31" name="TextBox 30"/>
          <p:cNvSpPr txBox="1"/>
          <p:nvPr/>
        </p:nvSpPr>
        <p:spPr>
          <a:xfrm>
            <a:off x="8183879" y="4352544"/>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Incorpora la palanca comercial dentro de un marco econométrico.</a:t>
            </a:r>
          </a:p>
        </p:txBody>
      </p:sp>
      <p:sp>
        <p:nvSpPr>
          <p:cNvPr id="32" name="TextBox 31"/>
          <p:cNvSpPr txBox="1"/>
          <p:nvPr/>
        </p:nvSpPr>
        <p:spPr>
          <a:xfrm>
            <a:off x="12207240" y="4352544"/>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La relación precio-demanda no es lineal: la estructura se le queda corta.</a:t>
            </a:r>
          </a:p>
        </p:txBody>
      </p:sp>
      <p:sp>
        <p:nvSpPr>
          <p:cNvPr id="33" name="TextBox 32"/>
          <p:cNvSpPr txBox="1"/>
          <p:nvPr/>
        </p:nvSpPr>
        <p:spPr>
          <a:xfrm>
            <a:off x="16139159" y="4352544"/>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73,24 %</a:t>
            </a:r>
          </a:p>
        </p:txBody>
      </p:sp>
      <p:cxnSp>
        <p:nvCxnSpPr>
          <p:cNvPr id="34" name="Connector 33"/>
          <p:cNvCxnSpPr/>
          <p:nvPr/>
        </p:nvCxnSpPr>
        <p:spPr>
          <a:xfrm>
            <a:off x="960120" y="510235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102352"/>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Croston</a:t>
            </a:r>
          </a:p>
        </p:txBody>
      </p:sp>
      <p:sp>
        <p:nvSpPr>
          <p:cNvPr id="36" name="TextBox 35"/>
          <p:cNvSpPr txBox="1"/>
          <p:nvPr/>
        </p:nvSpPr>
        <p:spPr>
          <a:xfrm>
            <a:off x="3703320" y="5102352"/>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Separa dos preguntas: cada cuánto se vende y cuánto se vende.</a:t>
            </a:r>
          </a:p>
        </p:txBody>
      </p:sp>
      <p:sp>
        <p:nvSpPr>
          <p:cNvPr id="37" name="TextBox 36"/>
          <p:cNvSpPr txBox="1"/>
          <p:nvPr/>
        </p:nvSpPr>
        <p:spPr>
          <a:xfrm>
            <a:off x="8183879" y="5102352"/>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Diseñado específicamente para demanda con muchos ceros.</a:t>
            </a:r>
          </a:p>
        </p:txBody>
      </p:sp>
      <p:sp>
        <p:nvSpPr>
          <p:cNvPr id="38" name="TextBox 37"/>
          <p:cNvSpPr txBox="1"/>
          <p:nvPr/>
        </p:nvSpPr>
        <p:spPr>
          <a:xfrm>
            <a:off x="12207240" y="5102352"/>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modela estacionalidad ni precio, que es justo lo que manda en moda.</a:t>
            </a:r>
          </a:p>
        </p:txBody>
      </p:sp>
      <p:sp>
        <p:nvSpPr>
          <p:cNvPr id="39" name="TextBox 38"/>
          <p:cNvSpPr txBox="1"/>
          <p:nvPr/>
        </p:nvSpPr>
        <p:spPr>
          <a:xfrm>
            <a:off x="16139159" y="5102352"/>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84,87 %</a:t>
            </a:r>
          </a:p>
        </p:txBody>
      </p:sp>
      <p:cxnSp>
        <p:nvCxnSpPr>
          <p:cNvPr id="40" name="Connector 39"/>
          <p:cNvCxnSpPr/>
          <p:nvPr/>
        </p:nvCxnSpPr>
        <p:spPr>
          <a:xfrm>
            <a:off x="960120" y="585216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5852160"/>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SBA</a:t>
            </a:r>
          </a:p>
        </p:txBody>
      </p:sp>
      <p:sp>
        <p:nvSpPr>
          <p:cNvPr id="42" name="TextBox 41"/>
          <p:cNvSpPr txBox="1"/>
          <p:nvPr/>
        </p:nvSpPr>
        <p:spPr>
          <a:xfrm>
            <a:off x="3703320" y="5852160"/>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Croston con una corrección de sesgo (Syntetos-Boylan).</a:t>
            </a:r>
          </a:p>
        </p:txBody>
      </p:sp>
      <p:sp>
        <p:nvSpPr>
          <p:cNvPr id="43" name="TextBox 42"/>
          <p:cNvSpPr txBox="1"/>
          <p:nvPr/>
        </p:nvSpPr>
        <p:spPr>
          <a:xfrm>
            <a:off x="8183879" y="5852160"/>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Corrige la sobreestimación sistemática del Croston clásico.</a:t>
            </a:r>
          </a:p>
        </p:txBody>
      </p:sp>
      <p:sp>
        <p:nvSpPr>
          <p:cNvPr id="44" name="TextBox 43"/>
          <p:cNvSpPr txBox="1"/>
          <p:nvPr/>
        </p:nvSpPr>
        <p:spPr>
          <a:xfrm>
            <a:off x="12207240" y="5852160"/>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Hereda la misma ceguera estacional y comercial.</a:t>
            </a:r>
          </a:p>
        </p:txBody>
      </p:sp>
      <p:sp>
        <p:nvSpPr>
          <p:cNvPr id="45" name="TextBox 44"/>
          <p:cNvSpPr txBox="1"/>
          <p:nvPr/>
        </p:nvSpPr>
        <p:spPr>
          <a:xfrm>
            <a:off x="16139159" y="5852160"/>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83,42 %</a:t>
            </a:r>
          </a:p>
        </p:txBody>
      </p:sp>
      <p:cxnSp>
        <p:nvCxnSpPr>
          <p:cNvPr id="46" name="Connector 45"/>
          <p:cNvCxnSpPr/>
          <p:nvPr/>
        </p:nvCxnSpPr>
        <p:spPr>
          <a:xfrm>
            <a:off x="960120" y="66019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60196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LSTM</a:t>
            </a:r>
          </a:p>
        </p:txBody>
      </p:sp>
      <p:sp>
        <p:nvSpPr>
          <p:cNvPr id="48" name="TextBox 47"/>
          <p:cNvSpPr txBox="1"/>
          <p:nvPr/>
        </p:nvSpPr>
        <p:spPr>
          <a:xfrm>
            <a:off x="3703320" y="660196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Red neuronal con memoria que aprende patrones de secuencias.</a:t>
            </a:r>
          </a:p>
        </p:txBody>
      </p:sp>
      <p:sp>
        <p:nvSpPr>
          <p:cNvPr id="49" name="TextBox 48"/>
          <p:cNvSpPr txBox="1"/>
          <p:nvPr/>
        </p:nvSpPr>
        <p:spPr>
          <a:xfrm>
            <a:off x="8183879" y="660196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relaciones no lineales y dependencias temporales largas.</a:t>
            </a:r>
          </a:p>
        </p:txBody>
      </p:sp>
      <p:sp>
        <p:nvSpPr>
          <p:cNvPr id="50" name="TextBox 49"/>
          <p:cNvSpPr txBox="1"/>
          <p:nvPr/>
        </p:nvSpPr>
        <p:spPr>
          <a:xfrm>
            <a:off x="12207240" y="660196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Exige mucha historia; con series cortas e intermitentes se vuelve inestable.</a:t>
            </a:r>
          </a:p>
        </p:txBody>
      </p:sp>
      <p:sp>
        <p:nvSpPr>
          <p:cNvPr id="51" name="TextBox 50"/>
          <p:cNvSpPr txBox="1"/>
          <p:nvPr/>
        </p:nvSpPr>
        <p:spPr>
          <a:xfrm>
            <a:off x="16139159" y="660196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45,75 %</a:t>
            </a:r>
          </a:p>
        </p:txBody>
      </p:sp>
      <p:cxnSp>
        <p:nvCxnSpPr>
          <p:cNvPr id="52" name="Connector 51"/>
          <p:cNvCxnSpPr/>
          <p:nvPr/>
        </p:nvCxnSpPr>
        <p:spPr>
          <a:xfrm>
            <a:off x="960120" y="73517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0120" y="735177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Chronos-Bolt</a:t>
            </a:r>
          </a:p>
        </p:txBody>
      </p:sp>
      <p:sp>
        <p:nvSpPr>
          <p:cNvPr id="54" name="TextBox 53"/>
          <p:cNvSpPr txBox="1"/>
          <p:nvPr/>
        </p:nvSpPr>
        <p:spPr>
          <a:xfrm>
            <a:off x="3703320" y="735177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pre-entrenado sobre miles de millones de series.</a:t>
            </a:r>
          </a:p>
        </p:txBody>
      </p:sp>
      <p:sp>
        <p:nvSpPr>
          <p:cNvPr id="55" name="TextBox 54"/>
          <p:cNvSpPr txBox="1"/>
          <p:nvPr/>
        </p:nvSpPr>
        <p:spPr>
          <a:xfrm>
            <a:off x="8183879" y="735177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Predice sin entrenamiento previo; muy sólido en agregado (36,35 % en familia).</a:t>
            </a:r>
          </a:p>
        </p:txBody>
      </p:sp>
      <p:sp>
        <p:nvSpPr>
          <p:cNvPr id="56" name="TextBox 55"/>
          <p:cNvSpPr txBox="1"/>
          <p:nvPr/>
        </p:nvSpPr>
        <p:spPr>
          <a:xfrm>
            <a:off x="12207240" y="735177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admite las variables comerciales propias de la empresa.</a:t>
            </a:r>
          </a:p>
        </p:txBody>
      </p:sp>
      <p:sp>
        <p:nvSpPr>
          <p:cNvPr id="57" name="TextBox 56"/>
          <p:cNvSpPr txBox="1"/>
          <p:nvPr/>
        </p:nvSpPr>
        <p:spPr>
          <a:xfrm>
            <a:off x="16139159" y="735177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48,44 %</a:t>
            </a:r>
          </a:p>
        </p:txBody>
      </p:sp>
      <p:cxnSp>
        <p:nvCxnSpPr>
          <p:cNvPr id="58" name="Connector 57"/>
          <p:cNvCxnSpPr/>
          <p:nvPr/>
        </p:nvCxnSpPr>
        <p:spPr>
          <a:xfrm>
            <a:off x="960120" y="810158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960120" y="8485632"/>
            <a:ext cx="16367759" cy="685800"/>
          </a:xfrm>
          <a:prstGeom prst="roundRect">
            <a:avLst>
              <a:gd name="adj" fmla="val 7333"/>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1417320" y="8485632"/>
            <a:ext cx="15453359" cy="685800"/>
          </a:xfrm>
          <a:prstGeom prst="rect">
            <a:avLst/>
          </a:prstGeom>
          <a:noFill/>
        </p:spPr>
        <p:txBody>
          <a:bodyPr wrap="square" lIns="0" rIns="0" tIns="0" bIns="0" anchor="ctr">
            <a:spAutoFit/>
          </a:bodyPr>
          <a:lstStyle/>
          <a:p>
            <a:pPr algn="ctr">
              <a:lnSpc>
                <a:spcPct val="118000"/>
              </a:lnSpc>
              <a:spcBef>
                <a:spcPts val="0"/>
              </a:spcBef>
              <a:spcAft>
                <a:spcPts val="0"/>
              </a:spcAft>
            </a:pPr>
            <a:r>
              <a:rPr sz="1400" b="0" i="0">
                <a:solidFill>
                  <a:srgbClr val="394049"/>
                </a:solidFill>
                <a:latin typeface="Open Sans"/>
              </a:rPr>
              <a:t>Ninguna referencia clásica combina las tres cosas que exige la moda: ceros, estacionalidad fuerte y sensibilidad al plan comercial.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componentes de la arquitectura propuesta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Componente</a:t>
            </a:r>
          </a:p>
        </p:txBody>
      </p:sp>
      <p:sp>
        <p:nvSpPr>
          <p:cNvPr id="12" name="TextBox 11"/>
          <p:cNvSpPr txBox="1"/>
          <p:nvPr/>
        </p:nvSpPr>
        <p:spPr>
          <a:xfrm>
            <a:off x="3429000" y="2377440"/>
            <a:ext cx="141731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Dónde actúa</a:t>
            </a:r>
          </a:p>
        </p:txBody>
      </p:sp>
      <p:sp>
        <p:nvSpPr>
          <p:cNvPr id="13" name="TextBox 12"/>
          <p:cNvSpPr txBox="1"/>
          <p:nvPr/>
        </p:nvSpPr>
        <p:spPr>
          <a:xfrm>
            <a:off x="516636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4" name="TextBox 13"/>
          <p:cNvSpPr txBox="1"/>
          <p:nvPr/>
        </p:nvSpPr>
        <p:spPr>
          <a:xfrm>
            <a:off x="964692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5" name="TextBox 14"/>
          <p:cNvSpPr txBox="1"/>
          <p:nvPr/>
        </p:nvSpPr>
        <p:spPr>
          <a:xfrm>
            <a:off x="1348740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Holt amortiguado</a:t>
            </a:r>
          </a:p>
        </p:txBody>
      </p:sp>
      <p:sp>
        <p:nvSpPr>
          <p:cNvPr id="18" name="TextBox 17"/>
          <p:cNvSpPr txBox="1"/>
          <p:nvPr/>
        </p:nvSpPr>
        <p:spPr>
          <a:xfrm>
            <a:off x="3429000" y="285292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 2</a:t>
            </a:r>
          </a:p>
        </p:txBody>
      </p:sp>
      <p:sp>
        <p:nvSpPr>
          <p:cNvPr id="19" name="TextBox 18"/>
          <p:cNvSpPr txBox="1"/>
          <p:nvPr/>
        </p:nvSpPr>
        <p:spPr>
          <a:xfrm>
            <a:off x="5166360" y="285292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Suaviza la serie y estima su nivel y tendencia, frenando la extrapolación.</a:t>
            </a:r>
          </a:p>
        </p:txBody>
      </p:sp>
      <p:sp>
        <p:nvSpPr>
          <p:cNvPr id="20" name="TextBox 19"/>
          <p:cNvSpPr txBox="1"/>
          <p:nvPr/>
        </p:nvSpPr>
        <p:spPr>
          <a:xfrm>
            <a:off x="964692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Muy estable y con pocos parámetros: entrega una base limpia.</a:t>
            </a:r>
          </a:p>
        </p:txBody>
      </p:sp>
      <p:sp>
        <p:nvSpPr>
          <p:cNvPr id="21" name="TextBox 20"/>
          <p:cNvSpPr txBox="1"/>
          <p:nvPr/>
        </p:nvSpPr>
        <p:spPr>
          <a:xfrm>
            <a:off x="1348740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Por sí solo ignora precios y cualquier relación no lineal.</a:t>
            </a:r>
          </a:p>
        </p:txBody>
      </p:sp>
      <p:cxnSp>
        <p:nvCxnSpPr>
          <p:cNvPr id="22" name="Connector 21"/>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XGBoost</a:t>
            </a:r>
          </a:p>
        </p:txBody>
      </p:sp>
      <p:sp>
        <p:nvSpPr>
          <p:cNvPr id="24" name="TextBox 23"/>
          <p:cNvSpPr txBox="1"/>
          <p:nvPr/>
        </p:nvSpPr>
        <p:spPr>
          <a:xfrm>
            <a:off x="3429000" y="3694176"/>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25" name="TextBox 24"/>
          <p:cNvSpPr txBox="1"/>
          <p:nvPr/>
        </p:nvSpPr>
        <p:spPr>
          <a:xfrm>
            <a:off x="5166360" y="3694176"/>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Árboles que corrigen, uno tras otro, el error del anterior.</a:t>
            </a:r>
          </a:p>
        </p:txBody>
      </p:sp>
      <p:sp>
        <p:nvSpPr>
          <p:cNvPr id="26" name="TextBox 25"/>
          <p:cNvSpPr txBox="1"/>
          <p:nvPr/>
        </p:nvSpPr>
        <p:spPr>
          <a:xfrm>
            <a:off x="964692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interacciones como precio por temporada; muy preciso en datos tabulares.</a:t>
            </a:r>
          </a:p>
        </p:txBody>
      </p:sp>
      <p:sp>
        <p:nvSpPr>
          <p:cNvPr id="27" name="TextBox 26"/>
          <p:cNvSpPr txBox="1"/>
          <p:nvPr/>
        </p:nvSpPr>
        <p:spPr>
          <a:xfrm>
            <a:off x="1348740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extrapola tendencias fuera del rango que vio en entrenamiento.</a:t>
            </a:r>
          </a:p>
        </p:txBody>
      </p:sp>
      <p:cxnSp>
        <p:nvCxnSpPr>
          <p:cNvPr id="28" name="Connector 27"/>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LightGBM</a:t>
            </a:r>
          </a:p>
        </p:txBody>
      </p:sp>
      <p:sp>
        <p:nvSpPr>
          <p:cNvPr id="30" name="TextBox 29"/>
          <p:cNvSpPr txBox="1"/>
          <p:nvPr/>
        </p:nvSpPr>
        <p:spPr>
          <a:xfrm>
            <a:off x="3429000" y="4535424"/>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1" name="TextBox 30"/>
          <p:cNvSpPr txBox="1"/>
          <p:nvPr/>
        </p:nvSpPr>
        <p:spPr>
          <a:xfrm>
            <a:off x="5166360" y="4535424"/>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Mismo principio que XGBoost, pero por histogramas: mucho más rápido.</a:t>
            </a:r>
          </a:p>
        </p:txBody>
      </p:sp>
      <p:sp>
        <p:nvSpPr>
          <p:cNvPr id="32" name="TextBox 31"/>
          <p:cNvSpPr txBox="1"/>
          <p:nvPr/>
        </p:nvSpPr>
        <p:spPr>
          <a:xfrm>
            <a:off x="964692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Escala bien y maneja con soltura las variables categóricas.</a:t>
            </a:r>
          </a:p>
        </p:txBody>
      </p:sp>
      <p:sp>
        <p:nvSpPr>
          <p:cNvPr id="33" name="TextBox 32"/>
          <p:cNvSpPr txBox="1"/>
          <p:nvPr/>
        </p:nvSpPr>
        <p:spPr>
          <a:xfrm>
            <a:off x="1348740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Puede sobreajustar en series cortas si no se regula.</a:t>
            </a:r>
          </a:p>
        </p:txBody>
      </p:sp>
      <p:cxnSp>
        <p:nvCxnSpPr>
          <p:cNvPr id="34" name="Connector 33"/>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CatBoost</a:t>
            </a:r>
          </a:p>
        </p:txBody>
      </p:sp>
      <p:sp>
        <p:nvSpPr>
          <p:cNvPr id="36" name="TextBox 35"/>
          <p:cNvSpPr txBox="1"/>
          <p:nvPr/>
        </p:nvSpPr>
        <p:spPr>
          <a:xfrm>
            <a:off x="3429000" y="5376672"/>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7" name="TextBox 36"/>
          <p:cNvSpPr txBox="1"/>
          <p:nvPr/>
        </p:nvSpPr>
        <p:spPr>
          <a:xfrm>
            <a:off x="5166360" y="5376672"/>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Boosting ordenado, pensado para variables categóricas.</a:t>
            </a:r>
          </a:p>
        </p:txBody>
      </p:sp>
      <p:sp>
        <p:nvSpPr>
          <p:cNvPr id="38" name="TextBox 37"/>
          <p:cNvSpPr txBox="1"/>
          <p:nvPr/>
        </p:nvSpPr>
        <p:spPr>
          <a:xfrm>
            <a:off x="964692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Robusto con familias y canales; menos propenso al sobreajuste.</a:t>
            </a:r>
          </a:p>
        </p:txBody>
      </p:sp>
      <p:sp>
        <p:nvSpPr>
          <p:cNvPr id="39" name="TextBox 38"/>
          <p:cNvSpPr txBox="1"/>
          <p:nvPr/>
        </p:nvSpPr>
        <p:spPr>
          <a:xfrm>
            <a:off x="1348740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el más lento de entrenar de los tres.</a:t>
            </a:r>
          </a:p>
        </p:txBody>
      </p:sp>
      <p:cxnSp>
        <p:nvCxnSpPr>
          <p:cNvPr id="40" name="Connector 39"/>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TabPFN</a:t>
            </a:r>
          </a:p>
        </p:txBody>
      </p:sp>
      <p:sp>
        <p:nvSpPr>
          <p:cNvPr id="42" name="TextBox 41"/>
          <p:cNvSpPr txBox="1"/>
          <p:nvPr/>
        </p:nvSpPr>
        <p:spPr>
          <a:xfrm>
            <a:off x="3429000" y="6217920"/>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En paralelo</a:t>
            </a:r>
          </a:p>
        </p:txBody>
      </p:sp>
      <p:sp>
        <p:nvSpPr>
          <p:cNvPr id="43" name="TextBox 42"/>
          <p:cNvSpPr txBox="1"/>
          <p:nvPr/>
        </p:nvSpPr>
        <p:spPr>
          <a:xfrm>
            <a:off x="5166360" y="6217920"/>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para tablas: infiere sin entrenar.</a:t>
            </a:r>
          </a:p>
        </p:txBody>
      </p:sp>
      <p:sp>
        <p:nvSpPr>
          <p:cNvPr id="44" name="TextBox 43"/>
          <p:cNvSpPr txBox="1"/>
          <p:nvPr/>
        </p:nvSpPr>
        <p:spPr>
          <a:xfrm>
            <a:off x="964692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Buen desempeño inmediato y aporta diversidad al ensamble.</a:t>
            </a:r>
          </a:p>
        </p:txBody>
      </p:sp>
      <p:sp>
        <p:nvSpPr>
          <p:cNvPr id="45" name="TextBox 44"/>
          <p:cNvSpPr txBox="1"/>
          <p:nvPr/>
        </p:nvSpPr>
        <p:spPr>
          <a:xfrm>
            <a:off x="1348740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Pensado para conjuntos pequeños; no es un modelo de series nativo.</a:t>
            </a:r>
          </a:p>
        </p:txBody>
      </p:sp>
      <p:cxnSp>
        <p:nvCxnSpPr>
          <p:cNvPr id="46" name="Connector 45"/>
          <p:cNvCxnSpPr/>
          <p:nvPr/>
        </p:nvCxnSpPr>
        <p:spPr>
          <a:xfrm>
            <a:off x="960120" y="70591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705916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NNLS y ruteo</a:t>
            </a:r>
          </a:p>
        </p:txBody>
      </p:sp>
      <p:sp>
        <p:nvSpPr>
          <p:cNvPr id="48" name="TextBox 47"/>
          <p:cNvSpPr txBox="1"/>
          <p:nvPr/>
        </p:nvSpPr>
        <p:spPr>
          <a:xfrm>
            <a:off x="3429000" y="705916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Validación</a:t>
            </a:r>
          </a:p>
        </p:txBody>
      </p:sp>
      <p:sp>
        <p:nvSpPr>
          <p:cNvPr id="49" name="TextBox 48"/>
          <p:cNvSpPr txBox="1"/>
          <p:nvPr/>
        </p:nvSpPr>
        <p:spPr>
          <a:xfrm>
            <a:off x="5166360" y="705916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Decide cuánto pesa cada predicción y en qué régimen aplicarla.</a:t>
            </a:r>
          </a:p>
        </p:txBody>
      </p:sp>
      <p:sp>
        <p:nvSpPr>
          <p:cNvPr id="50" name="TextBox 49"/>
          <p:cNvSpPr txBox="1"/>
          <p:nvPr/>
        </p:nvSpPr>
        <p:spPr>
          <a:xfrm>
            <a:off x="964692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Adapta el ensamble al momento comercial de cada familia.</a:t>
            </a:r>
          </a:p>
        </p:txBody>
      </p:sp>
      <p:sp>
        <p:nvSpPr>
          <p:cNvPr id="51" name="TextBox 50"/>
          <p:cNvSpPr txBox="1"/>
          <p:nvPr/>
        </p:nvSpPr>
        <p:spPr>
          <a:xfrm>
            <a:off x="1348740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Los pesos deben recalibrarse cuando cambia la estructura del mercado.</a:t>
            </a:r>
          </a:p>
        </p:txBody>
      </p:sp>
      <p:cxnSp>
        <p:nvCxnSpPr>
          <p:cNvPr id="52" name="Connector 51"/>
          <p:cNvCxnSpPr/>
          <p:nvPr/>
        </p:nvCxnSpPr>
        <p:spPr>
          <a:xfrm>
            <a:off x="960120" y="7900416"/>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60120" y="8284464"/>
            <a:ext cx="16367759" cy="777240"/>
          </a:xfrm>
          <a:prstGeom prst="roundRect">
            <a:avLst>
              <a:gd name="adj" fmla="val 647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1417320" y="828446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1" i="0">
                <a:solidFill>
                  <a:srgbClr val="FFFFFF"/>
                </a:solidFill>
                <a:latin typeface="Open Sans"/>
              </a:rPr>
              <a:t>La arquitectura no elige un ganador: pone a cada método a hacer aquello en lo que es bueno y deja que la validación decida el peso.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sp>
        <p:nvSpPr>
          <p:cNvPr id="10" name="Rounded Rectangle 9"/>
          <p:cNvSpPr/>
          <p:nvPr/>
        </p:nvSpPr>
        <p:spPr>
          <a:xfrm>
            <a:off x="960120" y="2249424"/>
            <a:ext cx="16367759"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7.png"/>
          <p:cNvPicPr>
            <a:picLocks noChangeAspect="1"/>
          </p:cNvPicPr>
          <p:nvPr/>
        </p:nvPicPr>
        <p:blipFill>
          <a:blip r:embed="rId2"/>
          <a:stretch>
            <a:fillRect/>
          </a:stretch>
        </p:blipFill>
        <p:spPr>
          <a:xfrm>
            <a:off x="3887281" y="2523744"/>
            <a:ext cx="10513436" cy="5577840"/>
          </a:xfrm>
          <a:prstGeom prst="rect">
            <a:avLst/>
          </a:prstGeom>
        </p:spPr>
      </p:pic>
      <p:sp>
        <p:nvSpPr>
          <p:cNvPr id="12" name="TextBox 11"/>
          <p:cNvSpPr txBox="1"/>
          <p:nvPr/>
        </p:nvSpPr>
        <p:spPr>
          <a:xfrm>
            <a:off x="960120" y="851306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Métricas completas fuera de muestra (feb–ago 2025) para los diez modelos evaluados, en los niveles SKU y familia.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A8</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31</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A9</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32</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