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Saludo: mi nombre es Joaquín Mondaca y presento la memoria «Pronóstico Jerárquico de Demanda Intermitente en el Retail de Moda Femenina», guiada por el profesor Villena y con la profesora Tapia como correferente. En 18 minutos: problema, arquitectura, evidencia e impacto financiero.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Recorrido en seis bloques. Anunciar que el bloque 5, resultados, es el centro, y que hay siete anexos de respaldo para las preguntas.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Tres hechos de la industria: ciclos de 2 a 3 meses, demanda dirigida por el plan comercial y compromisos de compra con 3 a 6 meses de anticipación. El gráfico muestra la demanda agregada del núcleo comercial. Transición: en la serie agregada la señal existe; el problema aparece al bajar al SKU.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s. 34,8 % de los meses a nivel SKU no registran venta. El mapa de calor son 100 SKUs por 66 meses; las zonas claras son ceros. No es ruido, es estructura. Croston y SBA suponen intermitencia sin estacionalidad, SARIMA supone continuidad. Cerrar con el dilema: sobre-stock inmoviliza capital, quiebre destruye ingreso.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Leer la pregunta y luego H0/H1. La hipótesis se operacionaliza con WAPE. Benchmarks primarios: SARIMA, SARIMAX y LSTM; Croston, SBA, Seasonal Naïve y Chronos-Bolt como referencias de frontera.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Top 100 SKUs y 58 familias concentran 72 % del volumen y 78 % del margen. Punto crítico: el Top 100 se selecciona solo con datos previos al corte, no con el período de prueba.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Tres grupos de variables. La distinción clave: el plan comercial es ex-ante porque lo decide la empresa; todo lo demás va rezagado en t-1. Enlaza directo con la Fase 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Declarar supuestos antes de los resultados: venta cero con inventario es demanda cero; el target son ventas observadas. Y declarar la asimetría metodológica de las líneas base. Esto anticipa una pregunta probable del jurado.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 Por qué WAPE: el MAPE se indetermina con ceros. Ejemplo del propio benchmark: SARIMA tiene sMAPE de 309,88 % y WAPE de 76,74 %. El WAPE pondera por volumen físico, la unidad de decisión de inventario.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Partición 80/10/10 cronológica, calibración congelada en enero de 2025 y siete meses de prueba ciega. Recalcar: pesos congelados, sin reajustar durante el test.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s. LÁMINA IMPORTANTE: contar que esta fue la etapa donde más tiempo se invirtió. La demanda y las variables macro solo se conocen en t-1; la única señal del presente es el plan comercial, porque lo fija la empresa. Explicar que fueron decenas de iteraciones: al transformar variables (medias móviles, agregaciones) a veces se colaba señal del mes t sin darse cuenta, y cada corrección de rezago cambiaba el comportamiento del modelo. Cerrar con la frase del banner: un modelo que ve el futuro siempre gana en el papel.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La batería de referencia cubre desde Seasonal Naïve y SARIMA hasta LSTM y modelos fundacionales de 2024. Todos con la misma ventana, jerarquía y métrica.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30 s. LÁMINA CENTRAL. Recorrer el flujo de arriba hacia abajo: del panel auditado en Fase 0 salen dos tracks paralelos. La Capa 1 entrena XGBoost, LightGBM y CatBoost sobre la serie directa en escala arcsinh: reactiva, más volátil. La Capa 2 entrena LightGBM y CatBoost sobre la serie relativa al nivel que extrae el Holt amortiguado: más estable. Sumando TabPFN son seis predicciones candidatas por familia. Esas seis entran a validación, donde se fija el peso de cada una. Con esos pesos se obtiene la demanda de familia y recién ahí entra la Capa 3, que desagrega a SKU. SI PREGUNTAN POR QUÉ TOP-DOWN Y NO BOTTOM-UP: por la ley de los grandes números. A nivel de SKU las ventas son erráticas e intermitentes y confunden a los algoritmos; al agregar a familia el ruido individual se cancela y emerge una curva densa con estacionalidad clara. Se predice el bosque y después se reparten las ramas.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Explicar por qué se entrena dos veces: no es redundancia, es diversificación de errores. El track sin suavizar llega antes cuando el mercado gira; el suavizado no se deja arrastrar por el ruido. Como sus errores no están correlacionados, la combinación pondera mejor que cualquiera solo. Aclarar que el gráfico es un esquema ilustrativo del comportamiento, no datos del modelo.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s. Aquí está el argumento de sostenibilidad. Los pesos salen de NNLS (no negativos y suman 1) y la calibración se hace con una búsqueda en grilla sobre validación: se recorre la grilla de umbrales de momentum entre 1,05 y 1,50 y para cada valor se reoptimizan los pesos, quedándose con la combinación que minimiza el WAPE. La consecuencia práctica: si la industria cambia de comportamiento, la recalibración reasigna peso a los modelos que capturan mejor el nuevo régimen, sin rediseñar nada.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45 s. La Capa 3 no predice demanda: predice la cuota de cada SKU dentro de su familia. Vía A: proporciones históricas, que es el esquema que usan todos los benchmarks y por eso garantiza una comparación justa; entrega el 16,10 %. Vía B: el motor supervisado que estima la cuota mes a mes con cuota rezagada, medias móviles, meses sin venta y precio relativo; dio 24,35 %. Y lo importante: el pipeline no elige a mano. Compara el WAPE de ambos esquemas en la ventana de validación y adopta el de menor error para la prueba ciega; en esta ventana seleccionó el reparto estático. Si el catálogo cambiara de comportamiento, la misma regla podría adoptar las cuotas aprendidas sin rediseñar nada.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Resultado principal. Leer de abajo hacia arriba: Croston 84,87 %, SARIMA 76,74 %, Seasonal Naïve 69,89 %, Chronos-Bolt 48,44 %, LSTM 45,75 % y ES-GBM 16,10 %. A nivel familia, 12,89 %. Pausa después del número.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El pronóstico sigue la trayectoria real en los siete meses. R2 de 0,95 a nivel SKU y 0,96 a nivel familia; sesgo de -4,8 %, sub-predicción leve, sistemática y corregible.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LÁMINA DE EVIDENCIA. Explicar que se probaron tres configuraciones reentrenando el ensamble completo: sin ninguna información de precios, con el precio rezagado del mes anterior, y con el plan comercial ex-ante del propio mes. Resultados: 38,25 %, 26,42 % y 16,10 % de WAPE, con R2 de 0,69, 0,78 y 0,95. Dos lecturas: el plan comercial aporta 22,2 puntos de reducción, o sea la demanda del fast fashion no es estocástica sino dirigida; y aun sin precios el modelo queda en 38,25 %, muy por debajo de SARIMA (76,74 %) y SBA (83,42 %), lo que muestra que no depende de forma frágil de esa señal. Matiz honesto: el 67 % de importancia por ganancia no es una estimación causal de elasticidad.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s. Traducción a negocio: pasar de MAE 54,2 a 11,4 unidades por SKU baja el stock de seguridad de 8.916 a 1.875 unidades. Son 7.041 unidades, 105,6 millones de capital liberado y 23,2 millones anuales de ahorro. Declarar de inmediato que es un ejercicio ilustrativo de orden de magnitud.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15 s. Cuatro conclusiones. La contribución no es un algoritmo nuevo: es una arquitectura que asigna cada problema al método que mejor lo resuelve, bajo un protocolo que impide explicar el resultado por fuga de información.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Limitaciones primero y con seguridad: horizonte de un mes, un solo retailer, ventana sin el peak de noviembre-diciembre, ejercicio financiero ilustrativo. Luego trabajo futuro.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Agradecer al profesor guía, a la profesora correferente y a la empresa por los datos. Silencio y esperar preguntas. ÍNDICE RÁPIDO DE ANEXOS PARA EL TURNO DE PREGUNTAS: A1 y A2 glosario de modelos; A3 tabla completa de métricas; A4 a A6 fórmulas; A7 horizonte, rolling-origin y qué se congela; A8 tratamiento de la intermitencia; A9 hiperparámetros; A10 significancia estadística; A11 comparativa por modelo; A12 residuos; A13 evidencia de intermitencia; A14 sensibilidad financiera; A15 contexto macro; A16 trazabilidad y uso de IA.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A1. Glosario de los modelos de referencia en lenguaje simple. Para responder por qué no usó tal método o qué diferencia hay entre Croston y SARIMA.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A2. Los componentes de la arquitectura propia y por qué cada uno está donde está.</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A3. Tabla 5.1 completa: WAPE, sMAPE, RMSE, MAE, sesgo, R2 y ranking en ambos niveles.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A4. Fórmulas de WAPE y MAPE con el significado de cada símbolo.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A5. Fórmulas de MAE y RMSE. El MAE conecta con el cálculo de stock de seguridad.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A6. Fórmulas de Bias y R2. El sesgo dice hacia qué lado se equivoca el modelo.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A7. FICHA TÉCNICA: horizonte h = 1 mes encadenado sobre siete orígenes; validación rolling-origin walk-forward con dos cortes, C1 en marzo de 2024 y CUT en enero de 2025. Clave para la pregunta sobre reentrenamiento: el nivel de Holt se actualiza mes a mes, pero los modelos GBDT, los pesos NNLS, el umbral de ruteo y las cuotas quedan congelados desde el corte durante los siete meses. Eso es una prueba de estrés, no una ventaja.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A8. INTERMITENCIA: se aplicó zero-filling, es decir, se completó la grilla mes por SKU asignando cero explícito donde el ERP no guarda fila. No se imputó la media, no se interpoló y no se eliminaron los ceros: un cero es una observación, no un dato faltante. La intermitencia se resuelve por arquitectura, agregando a familia y desagregando por cuotas. 34,8 % de meses en cero a nivel SKU.</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A9. HIPERPARÁMETROS: elegidos por búsqueda en grilla sobre la ventana de validación, nunca sobre el test. Ocho semillas promediadas. Si piden un valor concreto: XGBoost con learning_rate 0,05, max_depth 6 y 500 árboles; LightGBM con 31 hojas y 600 árboles; CatBoost con depth 6 y 600 iteraciones; TabPFN en modo zero-shot sin ajuste.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A10. SIGNIFICANCIA: test de Diebold-Mariano con corrección HAC sobre errores agrupados. Frente a SARIMA t = 7,84 con p = 0,0002; frente a SARIMAX t = 13,19 con p menor a 0,0001; frente a LSTM t = 10,14 con p = 0,0001. Aclarar el alcance: contrasta bajo pérdida cuadrática, no directamente sobre el WAPE, y para los modelos de frontera la comparación se mantiene descriptiva.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A11. Comparativa visual de seis arquitecturas contra la demanda real.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A12. Residuos: Ljung-Box p = 0,751 y Shapiro-Wilk p = 0,184.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A13. Evidencia de intermitencia: matriz completa y un SKU con 62 % de meses en cero.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A14. Sensibilidad financiera: 84,5 a 126,8 millones bajo gestión descentralizada y 8,5 a 12,7 millones con risk pooling.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A15. Contexto macro: el IPC de vestuario cae de forma sostenida.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A16. Protocolo de verificación y uso declarado de herramientas de 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7040880" y="882575"/>
            <a:ext cx="4206240" cy="1938169"/>
          </a:xfrm>
          <a:prstGeom prst="rect">
            <a:avLst/>
          </a:prstGeom>
        </p:spPr>
      </p:pic>
      <p:sp>
        <p:nvSpPr>
          <p:cNvPr id="3" name="TextBox 2"/>
          <p:cNvSpPr txBox="1"/>
          <p:nvPr/>
        </p:nvSpPr>
        <p:spPr>
          <a:xfrm>
            <a:off x="960120" y="3291840"/>
            <a:ext cx="16367759" cy="502920"/>
          </a:xfrm>
          <a:prstGeom prst="rect">
            <a:avLst/>
          </a:prstGeom>
          <a:noFill/>
        </p:spPr>
        <p:txBody>
          <a:bodyPr wrap="square" lIns="0" rIns="0" tIns="0" bIns="0" anchor="t">
            <a:spAutoFit/>
          </a:bodyPr>
          <a:lstStyle/>
          <a:p>
            <a:pPr algn="ctr">
              <a:lnSpc>
                <a:spcPct val="116000"/>
              </a:lnSpc>
              <a:spcBef>
                <a:spcPts val="0"/>
              </a:spcBef>
              <a:spcAft>
                <a:spcPts val="0"/>
              </a:spcAft>
            </a:pPr>
            <a:r>
              <a:rPr sz="2500" b="1" i="0">
                <a:solidFill>
                  <a:srgbClr val="13161B"/>
                </a:solidFill>
                <a:latin typeface="Open Sans"/>
              </a:rPr>
              <a:t>Memoria para optar al título de Ingeniero Comercial</a:t>
            </a:r>
          </a:p>
        </p:txBody>
      </p:sp>
      <p:sp>
        <p:nvSpPr>
          <p:cNvPr id="4" name="TextBox 3"/>
          <p:cNvSpPr txBox="1"/>
          <p:nvPr/>
        </p:nvSpPr>
        <p:spPr>
          <a:xfrm>
            <a:off x="1828800" y="3950208"/>
            <a:ext cx="14630400" cy="1600200"/>
          </a:xfrm>
          <a:prstGeom prst="rect">
            <a:avLst/>
          </a:prstGeom>
          <a:noFill/>
        </p:spPr>
        <p:txBody>
          <a:bodyPr wrap="square" lIns="0" rIns="0" tIns="0" bIns="0" anchor="t">
            <a:spAutoFit/>
          </a:bodyPr>
          <a:lstStyle/>
          <a:p>
            <a:pPr algn="ctr">
              <a:lnSpc>
                <a:spcPct val="116000"/>
              </a:lnSpc>
              <a:spcBef>
                <a:spcPts val="0"/>
              </a:spcBef>
              <a:spcAft>
                <a:spcPts val="0"/>
              </a:spcAft>
            </a:pPr>
            <a:r>
              <a:rPr sz="4000" b="1" i="0">
                <a:solidFill>
                  <a:srgbClr val="13161B"/>
                </a:solidFill>
                <a:latin typeface="Open Sans"/>
              </a:rPr>
              <a:t>“Pronóstico Jerárquico de Demanda Intermitente</a:t>
            </a:r>
          </a:p>
          <a:p>
            <a:pPr algn="ctr">
              <a:lnSpc>
                <a:spcPct val="116000"/>
              </a:lnSpc>
              <a:spcBef>
                <a:spcPts val="0"/>
              </a:spcBef>
              <a:spcAft>
                <a:spcPts val="0"/>
              </a:spcAft>
            </a:pPr>
            <a:r>
              <a:rPr sz="4000" b="1" i="0">
                <a:solidFill>
                  <a:srgbClr val="13161B"/>
                </a:solidFill>
                <a:latin typeface="Open Sans"/>
              </a:rPr>
              <a:t>en el Retail de Moda Femenina”</a:t>
            </a:r>
          </a:p>
        </p:txBody>
      </p:sp>
      <p:sp>
        <p:nvSpPr>
          <p:cNvPr id="5" name="TextBox 4"/>
          <p:cNvSpPr txBox="1"/>
          <p:nvPr/>
        </p:nvSpPr>
        <p:spPr>
          <a:xfrm>
            <a:off x="1828800" y="5632704"/>
            <a:ext cx="14630400" cy="548640"/>
          </a:xfrm>
          <a:prstGeom prst="rect">
            <a:avLst/>
          </a:prstGeom>
          <a:noFill/>
        </p:spPr>
        <p:txBody>
          <a:bodyPr wrap="square" lIns="0" rIns="0" tIns="0" bIns="0" anchor="t">
            <a:spAutoFit/>
          </a:bodyPr>
          <a:lstStyle/>
          <a:p>
            <a:pPr algn="ctr">
              <a:lnSpc>
                <a:spcPct val="116000"/>
              </a:lnSpc>
              <a:spcBef>
                <a:spcPts val="0"/>
              </a:spcBef>
              <a:spcAft>
                <a:spcPts val="0"/>
              </a:spcAft>
            </a:pPr>
            <a:r>
              <a:rPr sz="2300" b="0" i="0">
                <a:solidFill>
                  <a:srgbClr val="6E6E6E"/>
                </a:solidFill>
                <a:latin typeface="Open Sans"/>
              </a:rPr>
              <a:t>Un Ensamble Híbrido de Machine Learning con Desacoplamiento Jerárquico</a:t>
            </a:r>
          </a:p>
        </p:txBody>
      </p:sp>
      <p:sp>
        <p:nvSpPr>
          <p:cNvPr id="6" name="Rectangle 5"/>
          <p:cNvSpPr/>
          <p:nvPr/>
        </p:nvSpPr>
        <p:spPr>
          <a:xfrm>
            <a:off x="1965960" y="6446520"/>
            <a:ext cx="4709160" cy="9144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Rectangle 6"/>
          <p:cNvSpPr/>
          <p:nvPr/>
        </p:nvSpPr>
        <p:spPr>
          <a:xfrm>
            <a:off x="6675120" y="6446520"/>
            <a:ext cx="4709160" cy="9144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8" name="Rectangle 7"/>
          <p:cNvSpPr/>
          <p:nvPr/>
        </p:nvSpPr>
        <p:spPr>
          <a:xfrm>
            <a:off x="11384280" y="6446520"/>
            <a:ext cx="4709160" cy="9144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9" name="TextBox 8"/>
          <p:cNvSpPr txBox="1"/>
          <p:nvPr/>
        </p:nvSpPr>
        <p:spPr>
          <a:xfrm>
            <a:off x="1965960" y="6967728"/>
            <a:ext cx="4572000" cy="777240"/>
          </a:xfrm>
          <a:prstGeom prst="rect">
            <a:avLst/>
          </a:prstGeom>
          <a:noFill/>
        </p:spPr>
        <p:txBody>
          <a:bodyPr wrap="square" lIns="0" rIns="0" tIns="0" bIns="0" anchor="t">
            <a:spAutoFit/>
          </a:bodyPr>
          <a:lstStyle/>
          <a:p>
            <a:pPr algn="l">
              <a:lnSpc>
                <a:spcPct val="116000"/>
              </a:lnSpc>
              <a:spcBef>
                <a:spcPts val="0"/>
              </a:spcBef>
              <a:spcAft>
                <a:spcPts val="400"/>
              </a:spcAft>
            </a:pPr>
            <a:r>
              <a:rPr sz="1500" b="1" i="0">
                <a:solidFill>
                  <a:srgbClr val="13161B"/>
                </a:solidFill>
                <a:latin typeface="Open Sans"/>
              </a:rPr>
              <a:t>Profesor Guía</a:t>
            </a:r>
          </a:p>
          <a:p>
            <a:pPr algn="l">
              <a:lnSpc>
                <a:spcPct val="116000"/>
              </a:lnSpc>
              <a:spcBef>
                <a:spcPts val="0"/>
              </a:spcBef>
              <a:spcAft>
                <a:spcPts val="0"/>
              </a:spcAft>
            </a:pPr>
            <a:r>
              <a:rPr sz="1550" b="0" i="0">
                <a:solidFill>
                  <a:srgbClr val="6E6E6E"/>
                </a:solidFill>
                <a:latin typeface="Open Sans"/>
              </a:rPr>
              <a:t>Marcelo Julián Villena Chamorro</a:t>
            </a:r>
          </a:p>
        </p:txBody>
      </p:sp>
      <p:sp>
        <p:nvSpPr>
          <p:cNvPr id="10" name="TextBox 9"/>
          <p:cNvSpPr txBox="1"/>
          <p:nvPr/>
        </p:nvSpPr>
        <p:spPr>
          <a:xfrm>
            <a:off x="6675120" y="6967728"/>
            <a:ext cx="4572000" cy="777240"/>
          </a:xfrm>
          <a:prstGeom prst="rect">
            <a:avLst/>
          </a:prstGeom>
          <a:noFill/>
        </p:spPr>
        <p:txBody>
          <a:bodyPr wrap="square" lIns="0" rIns="0" tIns="0" bIns="0" anchor="t">
            <a:spAutoFit/>
          </a:bodyPr>
          <a:lstStyle/>
          <a:p>
            <a:pPr algn="l">
              <a:lnSpc>
                <a:spcPct val="116000"/>
              </a:lnSpc>
              <a:spcBef>
                <a:spcPts val="0"/>
              </a:spcBef>
              <a:spcAft>
                <a:spcPts val="400"/>
              </a:spcAft>
            </a:pPr>
            <a:r>
              <a:rPr sz="1500" b="1" i="0">
                <a:solidFill>
                  <a:srgbClr val="13161B"/>
                </a:solidFill>
                <a:latin typeface="Open Sans"/>
              </a:rPr>
              <a:t>Autor</a:t>
            </a:r>
          </a:p>
          <a:p>
            <a:pPr algn="l">
              <a:lnSpc>
                <a:spcPct val="116000"/>
              </a:lnSpc>
              <a:spcBef>
                <a:spcPts val="0"/>
              </a:spcBef>
              <a:spcAft>
                <a:spcPts val="0"/>
              </a:spcAft>
            </a:pPr>
            <a:r>
              <a:rPr sz="1550" b="0" i="0">
                <a:solidFill>
                  <a:srgbClr val="6E6E6E"/>
                </a:solidFill>
                <a:latin typeface="Open Sans"/>
              </a:rPr>
              <a:t>Joaquín Ignacio Mondaca Parada</a:t>
            </a:r>
          </a:p>
        </p:txBody>
      </p:sp>
      <p:sp>
        <p:nvSpPr>
          <p:cNvPr id="11" name="TextBox 10"/>
          <p:cNvSpPr txBox="1"/>
          <p:nvPr/>
        </p:nvSpPr>
        <p:spPr>
          <a:xfrm>
            <a:off x="11384280" y="6967728"/>
            <a:ext cx="4572000" cy="777240"/>
          </a:xfrm>
          <a:prstGeom prst="rect">
            <a:avLst/>
          </a:prstGeom>
          <a:noFill/>
        </p:spPr>
        <p:txBody>
          <a:bodyPr wrap="square" lIns="0" rIns="0" tIns="0" bIns="0" anchor="t">
            <a:spAutoFit/>
          </a:bodyPr>
          <a:lstStyle/>
          <a:p>
            <a:pPr algn="l">
              <a:lnSpc>
                <a:spcPct val="116000"/>
              </a:lnSpc>
              <a:spcBef>
                <a:spcPts val="0"/>
              </a:spcBef>
              <a:spcAft>
                <a:spcPts val="400"/>
              </a:spcAft>
            </a:pPr>
            <a:r>
              <a:rPr sz="1500" b="1" i="0">
                <a:solidFill>
                  <a:srgbClr val="13161B"/>
                </a:solidFill>
                <a:latin typeface="Open Sans"/>
              </a:rPr>
              <a:t>Profesora Correferente</a:t>
            </a:r>
          </a:p>
          <a:p>
            <a:pPr algn="l">
              <a:lnSpc>
                <a:spcPct val="116000"/>
              </a:lnSpc>
              <a:spcBef>
                <a:spcPts val="0"/>
              </a:spcBef>
              <a:spcAft>
                <a:spcPts val="0"/>
              </a:spcAft>
            </a:pPr>
            <a:r>
              <a:rPr sz="1550" b="0" i="0">
                <a:solidFill>
                  <a:srgbClr val="6E6E6E"/>
                </a:solidFill>
                <a:latin typeface="Open Sans"/>
              </a:rPr>
              <a:t>Jocelyn Andrea Tapia Stefanoni</a:t>
            </a:r>
          </a:p>
        </p:txBody>
      </p:sp>
      <p:sp>
        <p:nvSpPr>
          <p:cNvPr id="12" name="TextBox 11"/>
          <p:cNvSpPr txBox="1"/>
          <p:nvPr/>
        </p:nvSpPr>
        <p:spPr>
          <a:xfrm>
            <a:off x="960120" y="8732520"/>
            <a:ext cx="16367759" cy="365760"/>
          </a:xfrm>
          <a:prstGeom prst="rect">
            <a:avLst/>
          </a:prstGeom>
          <a:noFill/>
        </p:spPr>
        <p:txBody>
          <a:bodyPr wrap="square" lIns="0" rIns="0" tIns="0" bIns="0" anchor="t">
            <a:spAutoFit/>
          </a:bodyPr>
          <a:lstStyle/>
          <a:p>
            <a:pPr algn="ctr">
              <a:lnSpc>
                <a:spcPct val="116000"/>
              </a:lnSpc>
              <a:spcBef>
                <a:spcPts val="0"/>
              </a:spcBef>
              <a:spcAft>
                <a:spcPts val="0"/>
              </a:spcAft>
            </a:pPr>
            <a:r>
              <a:rPr sz="1300" b="0" i="0">
                <a:solidFill>
                  <a:srgbClr val="9AA1A9"/>
                </a:solidFill>
                <a:latin typeface="Open Sans"/>
              </a:rPr>
              <a:t>Universidad Técnica Federico Santa María  ·  Departamento de Ingeniería Comercial  ·  Campus Vitacura  ·  Santiago de Chile,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Hoja de ruta</a:t>
            </a:r>
          </a:p>
        </p:txBody>
      </p:sp>
      <p:sp>
        <p:nvSpPr>
          <p:cNvPr id="3" name="Rectangle 2"/>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 name="Rectangle 3"/>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TextBox 5"/>
          <p:cNvSpPr txBox="1"/>
          <p:nvPr/>
        </p:nvSpPr>
        <p:spPr>
          <a:xfrm>
            <a:off x="960120" y="2103120"/>
            <a:ext cx="14076273" cy="457200"/>
          </a:xfrm>
          <a:prstGeom prst="rect">
            <a:avLst/>
          </a:prstGeom>
          <a:noFill/>
        </p:spPr>
        <p:txBody>
          <a:bodyPr wrap="square" lIns="0" rIns="0" tIns="0" bIns="0" anchor="t">
            <a:spAutoFit/>
          </a:bodyPr>
          <a:lstStyle/>
          <a:p>
            <a:pPr algn="l">
              <a:lnSpc>
                <a:spcPct val="120000"/>
              </a:lnSpc>
              <a:spcBef>
                <a:spcPts val="0"/>
              </a:spcBef>
              <a:spcAft>
                <a:spcPts val="0"/>
              </a:spcAft>
            </a:pPr>
            <a:r>
              <a:rPr sz="1650" b="0" i="0">
                <a:solidFill>
                  <a:srgbClr val="6E6E6E"/>
                </a:solidFill>
                <a:latin typeface="Open Sans"/>
              </a:rPr>
              <a:t>Seis bloques: del problema comercial a la evidencia y su impacto financiero.</a:t>
            </a: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02</a:t>
            </a:r>
          </a:p>
        </p:txBody>
      </p:sp>
      <p:sp>
        <p:nvSpPr>
          <p:cNvPr id="10" name="Rounded Rectangle 9"/>
          <p:cNvSpPr/>
          <p:nvPr/>
        </p:nvSpPr>
        <p:spPr>
          <a:xfrm>
            <a:off x="960120" y="2880360"/>
            <a:ext cx="7955279" cy="1755648"/>
          </a:xfrm>
          <a:prstGeom prst="roundRect">
            <a:avLst>
              <a:gd name="adj" fmla="val 312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880360"/>
            <a:ext cx="68580" cy="1755648"/>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371600" y="2880360"/>
            <a:ext cx="1188720" cy="1755648"/>
          </a:xfrm>
          <a:prstGeom prst="rect">
            <a:avLst/>
          </a:prstGeom>
          <a:noFill/>
        </p:spPr>
        <p:txBody>
          <a:bodyPr wrap="square" lIns="0" rIns="0" tIns="0" bIns="0" anchor="ctr">
            <a:spAutoFit/>
          </a:bodyPr>
          <a:lstStyle/>
          <a:p>
            <a:pPr algn="l">
              <a:lnSpc>
                <a:spcPct val="100000"/>
              </a:lnSpc>
              <a:spcBef>
                <a:spcPts val="0"/>
              </a:spcBef>
              <a:spcAft>
                <a:spcPts val="0"/>
              </a:spcAft>
            </a:pPr>
            <a:r>
              <a:rPr sz="3400" b="1" i="0">
                <a:solidFill>
                  <a:srgbClr val="D10120"/>
                </a:solidFill>
                <a:latin typeface="Open Sans"/>
              </a:rPr>
              <a:t>01</a:t>
            </a:r>
          </a:p>
        </p:txBody>
      </p:sp>
      <p:sp>
        <p:nvSpPr>
          <p:cNvPr id="13" name="TextBox 12"/>
          <p:cNvSpPr txBox="1"/>
          <p:nvPr/>
        </p:nvSpPr>
        <p:spPr>
          <a:xfrm>
            <a:off x="2651760" y="2880360"/>
            <a:ext cx="5852159" cy="1755648"/>
          </a:xfrm>
          <a:prstGeom prst="rect">
            <a:avLst/>
          </a:prstGeom>
          <a:noFill/>
        </p:spPr>
        <p:txBody>
          <a:bodyPr wrap="square" lIns="0" rIns="0" tIns="0" bIns="0" anchor="ctr">
            <a:spAutoFit/>
          </a:bodyPr>
          <a:lstStyle/>
          <a:p>
            <a:pPr algn="l">
              <a:lnSpc>
                <a:spcPct val="116000"/>
              </a:lnSpc>
              <a:spcBef>
                <a:spcPts val="0"/>
              </a:spcBef>
              <a:spcAft>
                <a:spcPts val="500"/>
              </a:spcAft>
            </a:pPr>
            <a:r>
              <a:rPr sz="1850" b="1" i="0">
                <a:solidFill>
                  <a:srgbClr val="13161B"/>
                </a:solidFill>
                <a:latin typeface="Open Sans"/>
              </a:rPr>
              <a:t>Contexto y problema</a:t>
            </a:r>
          </a:p>
          <a:p>
            <a:pPr algn="l">
              <a:lnSpc>
                <a:spcPct val="120000"/>
              </a:lnSpc>
              <a:spcBef>
                <a:spcPts val="0"/>
              </a:spcBef>
              <a:spcAft>
                <a:spcPts val="0"/>
              </a:spcAft>
            </a:pPr>
            <a:r>
              <a:rPr sz="1350" b="0" i="0">
                <a:solidFill>
                  <a:srgbClr val="6E6E6E"/>
                </a:solidFill>
                <a:latin typeface="Open Sans"/>
              </a:rPr>
              <a:t>Moda femenina, ciclos ultracortos e intermitencia estructural</a:t>
            </a:r>
          </a:p>
        </p:txBody>
      </p:sp>
      <p:sp>
        <p:nvSpPr>
          <p:cNvPr id="14" name="Rounded Rectangle 13"/>
          <p:cNvSpPr/>
          <p:nvPr/>
        </p:nvSpPr>
        <p:spPr>
          <a:xfrm>
            <a:off x="9372600" y="2880360"/>
            <a:ext cx="7955279" cy="1755648"/>
          </a:xfrm>
          <a:prstGeom prst="roundRect">
            <a:avLst>
              <a:gd name="adj" fmla="val 312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Rectangle 14"/>
          <p:cNvSpPr/>
          <p:nvPr/>
        </p:nvSpPr>
        <p:spPr>
          <a:xfrm>
            <a:off x="9372600" y="2880360"/>
            <a:ext cx="68580" cy="1755648"/>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9784080" y="2880360"/>
            <a:ext cx="1188720" cy="1755648"/>
          </a:xfrm>
          <a:prstGeom prst="rect">
            <a:avLst/>
          </a:prstGeom>
          <a:noFill/>
        </p:spPr>
        <p:txBody>
          <a:bodyPr wrap="square" lIns="0" rIns="0" tIns="0" bIns="0" anchor="ctr">
            <a:spAutoFit/>
          </a:bodyPr>
          <a:lstStyle/>
          <a:p>
            <a:pPr algn="l">
              <a:lnSpc>
                <a:spcPct val="100000"/>
              </a:lnSpc>
              <a:spcBef>
                <a:spcPts val="0"/>
              </a:spcBef>
              <a:spcAft>
                <a:spcPts val="0"/>
              </a:spcAft>
            </a:pPr>
            <a:r>
              <a:rPr sz="3400" b="1" i="0">
                <a:solidFill>
                  <a:srgbClr val="D10120"/>
                </a:solidFill>
                <a:latin typeface="Open Sans"/>
              </a:rPr>
              <a:t>02</a:t>
            </a:r>
          </a:p>
        </p:txBody>
      </p:sp>
      <p:sp>
        <p:nvSpPr>
          <p:cNvPr id="17" name="TextBox 16"/>
          <p:cNvSpPr txBox="1"/>
          <p:nvPr/>
        </p:nvSpPr>
        <p:spPr>
          <a:xfrm>
            <a:off x="11064240" y="2880360"/>
            <a:ext cx="5852159" cy="1755648"/>
          </a:xfrm>
          <a:prstGeom prst="rect">
            <a:avLst/>
          </a:prstGeom>
          <a:noFill/>
        </p:spPr>
        <p:txBody>
          <a:bodyPr wrap="square" lIns="0" rIns="0" tIns="0" bIns="0" anchor="ctr">
            <a:spAutoFit/>
          </a:bodyPr>
          <a:lstStyle/>
          <a:p>
            <a:pPr algn="l">
              <a:lnSpc>
                <a:spcPct val="116000"/>
              </a:lnSpc>
              <a:spcBef>
                <a:spcPts val="0"/>
              </a:spcBef>
              <a:spcAft>
                <a:spcPts val="500"/>
              </a:spcAft>
            </a:pPr>
            <a:r>
              <a:rPr sz="1850" b="1" i="0">
                <a:solidFill>
                  <a:srgbClr val="13161B"/>
                </a:solidFill>
                <a:latin typeface="Open Sans"/>
              </a:rPr>
              <a:t>Pregunta, hipótesis y objetivo</a:t>
            </a:r>
          </a:p>
          <a:p>
            <a:pPr algn="l">
              <a:lnSpc>
                <a:spcPct val="120000"/>
              </a:lnSpc>
              <a:spcBef>
                <a:spcPts val="0"/>
              </a:spcBef>
              <a:spcAft>
                <a:spcPts val="0"/>
              </a:spcAft>
            </a:pPr>
            <a:r>
              <a:rPr sz="1350" b="0" i="0">
                <a:solidFill>
                  <a:srgbClr val="6E6E6E"/>
                </a:solidFill>
                <a:latin typeface="Open Sans"/>
              </a:rPr>
              <a:t>Qué se pone a prueba y con qué métrica se decide</a:t>
            </a:r>
          </a:p>
        </p:txBody>
      </p:sp>
      <p:sp>
        <p:nvSpPr>
          <p:cNvPr id="18" name="Rounded Rectangle 17"/>
          <p:cNvSpPr/>
          <p:nvPr/>
        </p:nvSpPr>
        <p:spPr>
          <a:xfrm>
            <a:off x="960120" y="5038344"/>
            <a:ext cx="7955279" cy="1755648"/>
          </a:xfrm>
          <a:prstGeom prst="roundRect">
            <a:avLst>
              <a:gd name="adj" fmla="val 312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960120" y="5038344"/>
            <a:ext cx="68580" cy="1755648"/>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1371600" y="5038344"/>
            <a:ext cx="1188720" cy="1755648"/>
          </a:xfrm>
          <a:prstGeom prst="rect">
            <a:avLst/>
          </a:prstGeom>
          <a:noFill/>
        </p:spPr>
        <p:txBody>
          <a:bodyPr wrap="square" lIns="0" rIns="0" tIns="0" bIns="0" anchor="ctr">
            <a:spAutoFit/>
          </a:bodyPr>
          <a:lstStyle/>
          <a:p>
            <a:pPr algn="l">
              <a:lnSpc>
                <a:spcPct val="100000"/>
              </a:lnSpc>
              <a:spcBef>
                <a:spcPts val="0"/>
              </a:spcBef>
              <a:spcAft>
                <a:spcPts val="0"/>
              </a:spcAft>
            </a:pPr>
            <a:r>
              <a:rPr sz="3400" b="1" i="0">
                <a:solidFill>
                  <a:srgbClr val="B07800"/>
                </a:solidFill>
                <a:latin typeface="Open Sans"/>
              </a:rPr>
              <a:t>03</a:t>
            </a:r>
          </a:p>
        </p:txBody>
      </p:sp>
      <p:sp>
        <p:nvSpPr>
          <p:cNvPr id="21" name="TextBox 20"/>
          <p:cNvSpPr txBox="1"/>
          <p:nvPr/>
        </p:nvSpPr>
        <p:spPr>
          <a:xfrm>
            <a:off x="2651760" y="5038344"/>
            <a:ext cx="5852159" cy="1755648"/>
          </a:xfrm>
          <a:prstGeom prst="rect">
            <a:avLst/>
          </a:prstGeom>
          <a:noFill/>
        </p:spPr>
        <p:txBody>
          <a:bodyPr wrap="square" lIns="0" rIns="0" tIns="0" bIns="0" anchor="ctr">
            <a:spAutoFit/>
          </a:bodyPr>
          <a:lstStyle/>
          <a:p>
            <a:pPr algn="l">
              <a:lnSpc>
                <a:spcPct val="116000"/>
              </a:lnSpc>
              <a:spcBef>
                <a:spcPts val="0"/>
              </a:spcBef>
              <a:spcAft>
                <a:spcPts val="500"/>
              </a:spcAft>
            </a:pPr>
            <a:r>
              <a:rPr sz="1850" b="1" i="0">
                <a:solidFill>
                  <a:srgbClr val="13161B"/>
                </a:solidFill>
                <a:latin typeface="Open Sans"/>
              </a:rPr>
              <a:t>Datos, variables y supuestos</a:t>
            </a:r>
          </a:p>
          <a:p>
            <a:pPr algn="l">
              <a:lnSpc>
                <a:spcPct val="120000"/>
              </a:lnSpc>
              <a:spcBef>
                <a:spcPts val="0"/>
              </a:spcBef>
              <a:spcAft>
                <a:spcPts val="0"/>
              </a:spcAft>
            </a:pPr>
            <a:r>
              <a:rPr sz="1350" b="0" i="0">
                <a:solidFill>
                  <a:srgbClr val="6E6E6E"/>
                </a:solidFill>
                <a:latin typeface="Open Sans"/>
              </a:rPr>
              <a:t>Núcleo comercial: Top 100 SKUs y 58 familias, 2020–2025</a:t>
            </a:r>
          </a:p>
        </p:txBody>
      </p:sp>
      <p:sp>
        <p:nvSpPr>
          <p:cNvPr id="22" name="Rounded Rectangle 21"/>
          <p:cNvSpPr/>
          <p:nvPr/>
        </p:nvSpPr>
        <p:spPr>
          <a:xfrm>
            <a:off x="9372600" y="5038344"/>
            <a:ext cx="7955279" cy="1755648"/>
          </a:xfrm>
          <a:prstGeom prst="roundRect">
            <a:avLst>
              <a:gd name="adj" fmla="val 312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Rectangle 22"/>
          <p:cNvSpPr/>
          <p:nvPr/>
        </p:nvSpPr>
        <p:spPr>
          <a:xfrm>
            <a:off x="9372600" y="5038344"/>
            <a:ext cx="68580" cy="1755648"/>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9784080" y="5038344"/>
            <a:ext cx="1188720" cy="1755648"/>
          </a:xfrm>
          <a:prstGeom prst="rect">
            <a:avLst/>
          </a:prstGeom>
          <a:noFill/>
        </p:spPr>
        <p:txBody>
          <a:bodyPr wrap="square" lIns="0" rIns="0" tIns="0" bIns="0" anchor="ctr">
            <a:spAutoFit/>
          </a:bodyPr>
          <a:lstStyle/>
          <a:p>
            <a:pPr algn="l">
              <a:lnSpc>
                <a:spcPct val="100000"/>
              </a:lnSpc>
              <a:spcBef>
                <a:spcPts val="0"/>
              </a:spcBef>
              <a:spcAft>
                <a:spcPts val="0"/>
              </a:spcAft>
            </a:pPr>
            <a:r>
              <a:rPr sz="3400" b="1" i="0">
                <a:solidFill>
                  <a:srgbClr val="B07800"/>
                </a:solidFill>
                <a:latin typeface="Open Sans"/>
              </a:rPr>
              <a:t>04</a:t>
            </a:r>
          </a:p>
        </p:txBody>
      </p:sp>
      <p:sp>
        <p:nvSpPr>
          <p:cNvPr id="25" name="TextBox 24"/>
          <p:cNvSpPr txBox="1"/>
          <p:nvPr/>
        </p:nvSpPr>
        <p:spPr>
          <a:xfrm>
            <a:off x="11064240" y="5038344"/>
            <a:ext cx="5852159" cy="1755648"/>
          </a:xfrm>
          <a:prstGeom prst="rect">
            <a:avLst/>
          </a:prstGeom>
          <a:noFill/>
        </p:spPr>
        <p:txBody>
          <a:bodyPr wrap="square" lIns="0" rIns="0" tIns="0" bIns="0" anchor="ctr">
            <a:spAutoFit/>
          </a:bodyPr>
          <a:lstStyle/>
          <a:p>
            <a:pPr algn="l">
              <a:lnSpc>
                <a:spcPct val="116000"/>
              </a:lnSpc>
              <a:spcBef>
                <a:spcPts val="0"/>
              </a:spcBef>
              <a:spcAft>
                <a:spcPts val="500"/>
              </a:spcAft>
            </a:pPr>
            <a:r>
              <a:rPr sz="1850" b="1" i="0">
                <a:solidFill>
                  <a:srgbClr val="13161B"/>
                </a:solidFill>
                <a:latin typeface="Open Sans"/>
              </a:rPr>
              <a:t>Metodología y arquitectura</a:t>
            </a:r>
          </a:p>
          <a:p>
            <a:pPr algn="l">
              <a:lnSpc>
                <a:spcPct val="120000"/>
              </a:lnSpc>
              <a:spcBef>
                <a:spcPts val="0"/>
              </a:spcBef>
              <a:spcAft>
                <a:spcPts val="0"/>
              </a:spcAft>
            </a:pPr>
            <a:r>
              <a:rPr sz="1350" b="0" i="0">
                <a:solidFill>
                  <a:srgbClr val="6E6E6E"/>
                </a:solidFill>
                <a:latin typeface="Open Sans"/>
              </a:rPr>
              <a:t>Protocolo anti-leakage y las tres capas del ES-GBM</a:t>
            </a:r>
          </a:p>
        </p:txBody>
      </p:sp>
      <p:sp>
        <p:nvSpPr>
          <p:cNvPr id="26" name="Rounded Rectangle 25"/>
          <p:cNvSpPr/>
          <p:nvPr/>
        </p:nvSpPr>
        <p:spPr>
          <a:xfrm>
            <a:off x="960120" y="7196327"/>
            <a:ext cx="7955279" cy="1755648"/>
          </a:xfrm>
          <a:prstGeom prst="roundRect">
            <a:avLst>
              <a:gd name="adj" fmla="val 312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960120" y="7196327"/>
            <a:ext cx="68580" cy="1755648"/>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1371600" y="7196327"/>
            <a:ext cx="1188720" cy="1755648"/>
          </a:xfrm>
          <a:prstGeom prst="rect">
            <a:avLst/>
          </a:prstGeom>
          <a:noFill/>
        </p:spPr>
        <p:txBody>
          <a:bodyPr wrap="square" lIns="0" rIns="0" tIns="0" bIns="0" anchor="ctr">
            <a:spAutoFit/>
          </a:bodyPr>
          <a:lstStyle/>
          <a:p>
            <a:pPr algn="l">
              <a:lnSpc>
                <a:spcPct val="100000"/>
              </a:lnSpc>
              <a:spcBef>
                <a:spcPts val="0"/>
              </a:spcBef>
              <a:spcAft>
                <a:spcPts val="0"/>
              </a:spcAft>
            </a:pPr>
            <a:r>
              <a:rPr sz="3400" b="1" i="0">
                <a:solidFill>
                  <a:srgbClr val="005F91"/>
                </a:solidFill>
                <a:latin typeface="Open Sans"/>
              </a:rPr>
              <a:t>05</a:t>
            </a:r>
          </a:p>
        </p:txBody>
      </p:sp>
      <p:sp>
        <p:nvSpPr>
          <p:cNvPr id="29" name="TextBox 28"/>
          <p:cNvSpPr txBox="1"/>
          <p:nvPr/>
        </p:nvSpPr>
        <p:spPr>
          <a:xfrm>
            <a:off x="2651760" y="7196327"/>
            <a:ext cx="5852159" cy="1755648"/>
          </a:xfrm>
          <a:prstGeom prst="rect">
            <a:avLst/>
          </a:prstGeom>
          <a:noFill/>
        </p:spPr>
        <p:txBody>
          <a:bodyPr wrap="square" lIns="0" rIns="0" tIns="0" bIns="0" anchor="ctr">
            <a:spAutoFit/>
          </a:bodyPr>
          <a:lstStyle/>
          <a:p>
            <a:pPr algn="l">
              <a:lnSpc>
                <a:spcPct val="116000"/>
              </a:lnSpc>
              <a:spcBef>
                <a:spcPts val="0"/>
              </a:spcBef>
              <a:spcAft>
                <a:spcPts val="500"/>
              </a:spcAft>
            </a:pPr>
            <a:r>
              <a:rPr sz="1850" b="1" i="0">
                <a:solidFill>
                  <a:srgbClr val="13161B"/>
                </a:solidFill>
                <a:latin typeface="Open Sans"/>
              </a:rPr>
              <a:t>Resultados y evidencia</a:t>
            </a:r>
          </a:p>
          <a:p>
            <a:pPr algn="l">
              <a:lnSpc>
                <a:spcPct val="120000"/>
              </a:lnSpc>
              <a:spcBef>
                <a:spcPts val="0"/>
              </a:spcBef>
              <a:spcAft>
                <a:spcPts val="0"/>
              </a:spcAft>
            </a:pPr>
            <a:r>
              <a:rPr sz="1350" b="0" i="0">
                <a:solidFill>
                  <a:srgbClr val="6E6E6E"/>
                </a:solidFill>
                <a:latin typeface="Open Sans"/>
              </a:rPr>
              <a:t>Benchmark de diez arquitecturas y estudio de ablación</a:t>
            </a:r>
          </a:p>
        </p:txBody>
      </p:sp>
      <p:sp>
        <p:nvSpPr>
          <p:cNvPr id="30" name="Rounded Rectangle 29"/>
          <p:cNvSpPr/>
          <p:nvPr/>
        </p:nvSpPr>
        <p:spPr>
          <a:xfrm>
            <a:off x="9372600" y="7196327"/>
            <a:ext cx="7955279" cy="1755648"/>
          </a:xfrm>
          <a:prstGeom prst="roundRect">
            <a:avLst>
              <a:gd name="adj" fmla="val 312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Rectangle 30"/>
          <p:cNvSpPr/>
          <p:nvPr/>
        </p:nvSpPr>
        <p:spPr>
          <a:xfrm>
            <a:off x="9372600" y="7196327"/>
            <a:ext cx="68580" cy="1755648"/>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9784080" y="7196327"/>
            <a:ext cx="1188720" cy="1755648"/>
          </a:xfrm>
          <a:prstGeom prst="rect">
            <a:avLst/>
          </a:prstGeom>
          <a:noFill/>
        </p:spPr>
        <p:txBody>
          <a:bodyPr wrap="square" lIns="0" rIns="0" tIns="0" bIns="0" anchor="ctr">
            <a:spAutoFit/>
          </a:bodyPr>
          <a:lstStyle/>
          <a:p>
            <a:pPr algn="l">
              <a:lnSpc>
                <a:spcPct val="100000"/>
              </a:lnSpc>
              <a:spcBef>
                <a:spcPts val="0"/>
              </a:spcBef>
              <a:spcAft>
                <a:spcPts val="0"/>
              </a:spcAft>
            </a:pPr>
            <a:r>
              <a:rPr sz="3400" b="1" i="0">
                <a:solidFill>
                  <a:srgbClr val="005F91"/>
                </a:solidFill>
                <a:latin typeface="Open Sans"/>
              </a:rPr>
              <a:t>06</a:t>
            </a:r>
          </a:p>
        </p:txBody>
      </p:sp>
      <p:sp>
        <p:nvSpPr>
          <p:cNvPr id="33" name="TextBox 32"/>
          <p:cNvSpPr txBox="1"/>
          <p:nvPr/>
        </p:nvSpPr>
        <p:spPr>
          <a:xfrm>
            <a:off x="11064240" y="7196327"/>
            <a:ext cx="5852159" cy="1755648"/>
          </a:xfrm>
          <a:prstGeom prst="rect">
            <a:avLst/>
          </a:prstGeom>
          <a:noFill/>
        </p:spPr>
        <p:txBody>
          <a:bodyPr wrap="square" lIns="0" rIns="0" tIns="0" bIns="0" anchor="ctr">
            <a:spAutoFit/>
          </a:bodyPr>
          <a:lstStyle/>
          <a:p>
            <a:pPr algn="l">
              <a:lnSpc>
                <a:spcPct val="116000"/>
              </a:lnSpc>
              <a:spcBef>
                <a:spcPts val="0"/>
              </a:spcBef>
              <a:spcAft>
                <a:spcPts val="500"/>
              </a:spcAft>
            </a:pPr>
            <a:r>
              <a:rPr sz="1850" b="1" i="0">
                <a:solidFill>
                  <a:srgbClr val="13161B"/>
                </a:solidFill>
                <a:latin typeface="Open Sans"/>
              </a:rPr>
              <a:t>Impacto y conclusiones</a:t>
            </a:r>
          </a:p>
          <a:p>
            <a:pPr algn="l">
              <a:lnSpc>
                <a:spcPct val="120000"/>
              </a:lnSpc>
              <a:spcBef>
                <a:spcPts val="0"/>
              </a:spcBef>
              <a:spcAft>
                <a:spcPts val="0"/>
              </a:spcAft>
            </a:pPr>
            <a:r>
              <a:rPr sz="1350" b="0" i="0">
                <a:solidFill>
                  <a:srgbClr val="6E6E6E"/>
                </a:solidFill>
                <a:latin typeface="Open Sans"/>
              </a:rPr>
              <a:t>Capital de trabajo liberado, límites y trabajo futuro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01   CONTEXTO Y PROBLEMA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La moda femenina decide hoy lo que venderá en seis meses</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03</a:t>
            </a:r>
          </a:p>
        </p:txBody>
      </p:sp>
      <p:sp>
        <p:nvSpPr>
          <p:cNvPr id="10" name="Rounded Rectangle 9"/>
          <p:cNvSpPr/>
          <p:nvPr/>
        </p:nvSpPr>
        <p:spPr>
          <a:xfrm>
            <a:off x="960120" y="2249424"/>
            <a:ext cx="7543800" cy="2103120"/>
          </a:xfrm>
          <a:prstGeom prst="roundRect">
            <a:avLst>
              <a:gd name="adj" fmla="val 239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249424"/>
            <a:ext cx="68580" cy="210312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417320" y="2578608"/>
            <a:ext cx="6702552" cy="1444752"/>
          </a:xfrm>
          <a:prstGeom prst="rect">
            <a:avLst/>
          </a:prstGeom>
          <a:noFill/>
        </p:spPr>
        <p:txBody>
          <a:bodyPr wrap="square" lIns="0" rIns="0" tIns="0" bIns="0" anchor="t">
            <a:spAutoFit/>
          </a:bodyPr>
          <a:lstStyle/>
          <a:p>
            <a:pPr algn="l">
              <a:lnSpc>
                <a:spcPct val="112000"/>
              </a:lnSpc>
              <a:spcBef>
                <a:spcPts val="0"/>
              </a:spcBef>
              <a:spcAft>
                <a:spcPts val="800"/>
              </a:spcAft>
            </a:pPr>
            <a:r>
              <a:rPr sz="1750" b="1" i="0">
                <a:solidFill>
                  <a:srgbClr val="13161B"/>
                </a:solidFill>
                <a:latin typeface="Open Sans"/>
              </a:rPr>
              <a:t>Ciclos de vida ultracortos</a:t>
            </a:r>
          </a:p>
          <a:p>
            <a:pPr algn="l">
              <a:lnSpc>
                <a:spcPct val="124000"/>
              </a:lnSpc>
              <a:spcBef>
                <a:spcPts val="0"/>
              </a:spcBef>
              <a:spcAft>
                <a:spcPts val="0"/>
              </a:spcAft>
            </a:pPr>
            <a:r>
              <a:rPr sz="1400" b="0" i="0">
                <a:solidFill>
                  <a:srgbClr val="394049"/>
                </a:solidFill>
                <a:latin typeface="Open Sans"/>
              </a:rPr>
              <a:t>Colecciones de 2 a 3 meses: la serie histórica de un SKU casi nunca alcanza a madurar antes de que el producto salga del catálogo.</a:t>
            </a:r>
          </a:p>
        </p:txBody>
      </p:sp>
      <p:sp>
        <p:nvSpPr>
          <p:cNvPr id="13" name="Rounded Rectangle 12"/>
          <p:cNvSpPr/>
          <p:nvPr/>
        </p:nvSpPr>
        <p:spPr>
          <a:xfrm>
            <a:off x="960120" y="4581144"/>
            <a:ext cx="7543800" cy="2103120"/>
          </a:xfrm>
          <a:prstGeom prst="roundRect">
            <a:avLst>
              <a:gd name="adj" fmla="val 239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960120" y="4581144"/>
            <a:ext cx="68580" cy="210312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417320" y="4910328"/>
            <a:ext cx="6702552" cy="1444752"/>
          </a:xfrm>
          <a:prstGeom prst="rect">
            <a:avLst/>
          </a:prstGeom>
          <a:noFill/>
        </p:spPr>
        <p:txBody>
          <a:bodyPr wrap="square" lIns="0" rIns="0" tIns="0" bIns="0" anchor="t">
            <a:spAutoFit/>
          </a:bodyPr>
          <a:lstStyle/>
          <a:p>
            <a:pPr algn="l">
              <a:lnSpc>
                <a:spcPct val="112000"/>
              </a:lnSpc>
              <a:spcBef>
                <a:spcPts val="0"/>
              </a:spcBef>
              <a:spcAft>
                <a:spcPts val="800"/>
              </a:spcAft>
            </a:pPr>
            <a:r>
              <a:rPr sz="1750" b="1" i="0">
                <a:solidFill>
                  <a:srgbClr val="13161B"/>
                </a:solidFill>
                <a:latin typeface="Open Sans"/>
              </a:rPr>
              <a:t>La demanda la dirige el plan comercial</a:t>
            </a:r>
          </a:p>
          <a:p>
            <a:pPr algn="l">
              <a:lnSpc>
                <a:spcPct val="124000"/>
              </a:lnSpc>
              <a:spcBef>
                <a:spcPts val="0"/>
              </a:spcBef>
              <a:spcAft>
                <a:spcPts val="0"/>
              </a:spcAft>
            </a:pPr>
            <a:r>
              <a:rPr sz="1400" b="0" i="0">
                <a:solidFill>
                  <a:srgbClr val="394049"/>
                </a:solidFill>
                <a:latin typeface="Open Sans"/>
              </a:rPr>
              <a:t>Precio, descuento y campañas mueven el volumen mensual con más fuerza que la inercia histórica de la serie.</a:t>
            </a:r>
          </a:p>
        </p:txBody>
      </p:sp>
      <p:sp>
        <p:nvSpPr>
          <p:cNvPr id="16" name="Rounded Rectangle 15"/>
          <p:cNvSpPr/>
          <p:nvPr/>
        </p:nvSpPr>
        <p:spPr>
          <a:xfrm>
            <a:off x="960120" y="6912864"/>
            <a:ext cx="7543800" cy="2103120"/>
          </a:xfrm>
          <a:prstGeom prst="roundRect">
            <a:avLst>
              <a:gd name="adj" fmla="val 239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960120" y="6912864"/>
            <a:ext cx="68580" cy="210312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417320" y="7242048"/>
            <a:ext cx="6702552" cy="1444752"/>
          </a:xfrm>
          <a:prstGeom prst="rect">
            <a:avLst/>
          </a:prstGeom>
          <a:noFill/>
        </p:spPr>
        <p:txBody>
          <a:bodyPr wrap="square" lIns="0" rIns="0" tIns="0" bIns="0" anchor="t">
            <a:spAutoFit/>
          </a:bodyPr>
          <a:lstStyle/>
          <a:p>
            <a:pPr algn="l">
              <a:lnSpc>
                <a:spcPct val="112000"/>
              </a:lnSpc>
              <a:spcBef>
                <a:spcPts val="0"/>
              </a:spcBef>
              <a:spcAft>
                <a:spcPts val="800"/>
              </a:spcAft>
            </a:pPr>
            <a:r>
              <a:rPr sz="1750" b="1" i="0">
                <a:solidFill>
                  <a:srgbClr val="13161B"/>
                </a:solidFill>
                <a:latin typeface="Open Sans"/>
              </a:rPr>
              <a:t>Compromisos con 3 a 6 meses de anticipación</a:t>
            </a:r>
          </a:p>
          <a:p>
            <a:pPr algn="l">
              <a:lnSpc>
                <a:spcPct val="124000"/>
              </a:lnSpc>
              <a:spcBef>
                <a:spcPts val="0"/>
              </a:spcBef>
              <a:spcAft>
                <a:spcPts val="0"/>
              </a:spcAft>
            </a:pPr>
            <a:r>
              <a:rPr sz="1400" b="0" i="0">
                <a:solidFill>
                  <a:srgbClr val="394049"/>
                </a:solidFill>
                <a:latin typeface="Open Sans"/>
              </a:rPr>
              <a:t>Las órdenes a fábrica se cierran antes de observar la demanda: equivocarse tarde se paga en inventario o en venta perdida.</a:t>
            </a:r>
          </a:p>
        </p:txBody>
      </p:sp>
      <p:sp>
        <p:nvSpPr>
          <p:cNvPr id="19" name="Rounded Rectangle 18"/>
          <p:cNvSpPr/>
          <p:nvPr/>
        </p:nvSpPr>
        <p:spPr>
          <a:xfrm>
            <a:off x="8823960" y="2249424"/>
            <a:ext cx="8503920" cy="4892040"/>
          </a:xfrm>
          <a:prstGeom prst="roundRect">
            <a:avLst>
              <a:gd name="adj" fmla="val 1121"/>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20" name="Picture 19" descr="image2.png"/>
          <p:cNvPicPr>
            <a:picLocks noChangeAspect="1"/>
          </p:cNvPicPr>
          <p:nvPr/>
        </p:nvPicPr>
        <p:blipFill>
          <a:blip r:embed="rId2"/>
          <a:stretch>
            <a:fillRect/>
          </a:stretch>
        </p:blipFill>
        <p:spPr>
          <a:xfrm>
            <a:off x="9144000" y="3075150"/>
            <a:ext cx="7863840" cy="3231443"/>
          </a:xfrm>
          <a:prstGeom prst="rect">
            <a:avLst/>
          </a:prstGeom>
        </p:spPr>
      </p:pic>
      <p:sp>
        <p:nvSpPr>
          <p:cNvPr id="21" name="TextBox 20"/>
          <p:cNvSpPr txBox="1"/>
          <p:nvPr/>
        </p:nvSpPr>
        <p:spPr>
          <a:xfrm>
            <a:off x="8823960" y="7232904"/>
            <a:ext cx="850392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Demanda agregada mensual del núcleo comercial (Top 100 SKUs), 2020–2025.</a:t>
            </a:r>
          </a:p>
        </p:txBody>
      </p:sp>
      <p:sp>
        <p:nvSpPr>
          <p:cNvPr id="22" name="Rounded Rectangle 21"/>
          <p:cNvSpPr/>
          <p:nvPr/>
        </p:nvSpPr>
        <p:spPr>
          <a:xfrm>
            <a:off x="8823960" y="7699248"/>
            <a:ext cx="2011680" cy="960120"/>
          </a:xfrm>
          <a:prstGeom prst="roundRect">
            <a:avLst>
              <a:gd name="adj" fmla="val 4761"/>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8823960" y="7699248"/>
            <a:ext cx="2011680" cy="960120"/>
          </a:xfrm>
          <a:prstGeom prst="rect">
            <a:avLst/>
          </a:prstGeom>
          <a:noFill/>
        </p:spPr>
        <p:txBody>
          <a:bodyPr wrap="square" lIns="0" rIns="0" tIns="0" bIns="0" anchor="ctr">
            <a:spAutoFit/>
          </a:bodyPr>
          <a:lstStyle/>
          <a:p>
            <a:pPr algn="ctr">
              <a:lnSpc>
                <a:spcPct val="116000"/>
              </a:lnSpc>
              <a:spcBef>
                <a:spcPts val="0"/>
              </a:spcBef>
              <a:spcAft>
                <a:spcPts val="100"/>
              </a:spcAft>
            </a:pPr>
            <a:r>
              <a:rPr sz="2000" b="1" i="0">
                <a:solidFill>
                  <a:srgbClr val="005F91"/>
                </a:solidFill>
                <a:latin typeface="Open Sans"/>
              </a:rPr>
              <a:t>31 %</a:t>
            </a:r>
          </a:p>
          <a:p>
            <a:pPr algn="ctr">
              <a:lnSpc>
                <a:spcPct val="116000"/>
              </a:lnSpc>
              <a:spcBef>
                <a:spcPts val="0"/>
              </a:spcBef>
              <a:spcAft>
                <a:spcPts val="0"/>
              </a:spcAft>
            </a:pPr>
            <a:r>
              <a:rPr sz="1200" b="0" i="0">
                <a:solidFill>
                  <a:srgbClr val="6E6E6E"/>
                </a:solidFill>
                <a:latin typeface="Open Sans"/>
              </a:rPr>
              <a:t>Primavera</a:t>
            </a:r>
          </a:p>
        </p:txBody>
      </p:sp>
      <p:sp>
        <p:nvSpPr>
          <p:cNvPr id="24" name="Rounded Rectangle 23"/>
          <p:cNvSpPr/>
          <p:nvPr/>
        </p:nvSpPr>
        <p:spPr>
          <a:xfrm>
            <a:off x="10981944" y="7699248"/>
            <a:ext cx="2011680" cy="960120"/>
          </a:xfrm>
          <a:prstGeom prst="roundRect">
            <a:avLst>
              <a:gd name="adj" fmla="val 4761"/>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10981944" y="7699248"/>
            <a:ext cx="2011680" cy="960120"/>
          </a:xfrm>
          <a:prstGeom prst="rect">
            <a:avLst/>
          </a:prstGeom>
          <a:noFill/>
        </p:spPr>
        <p:txBody>
          <a:bodyPr wrap="square" lIns="0" rIns="0" tIns="0" bIns="0" anchor="ctr">
            <a:spAutoFit/>
          </a:bodyPr>
          <a:lstStyle/>
          <a:p>
            <a:pPr algn="ctr">
              <a:lnSpc>
                <a:spcPct val="116000"/>
              </a:lnSpc>
              <a:spcBef>
                <a:spcPts val="0"/>
              </a:spcBef>
              <a:spcAft>
                <a:spcPts val="100"/>
              </a:spcAft>
            </a:pPr>
            <a:r>
              <a:rPr sz="2000" b="1" i="0">
                <a:solidFill>
                  <a:srgbClr val="005F91"/>
                </a:solidFill>
                <a:latin typeface="Open Sans"/>
              </a:rPr>
              <a:t>25 %</a:t>
            </a:r>
          </a:p>
          <a:p>
            <a:pPr algn="ctr">
              <a:lnSpc>
                <a:spcPct val="116000"/>
              </a:lnSpc>
              <a:spcBef>
                <a:spcPts val="0"/>
              </a:spcBef>
              <a:spcAft>
                <a:spcPts val="0"/>
              </a:spcAft>
            </a:pPr>
            <a:r>
              <a:rPr sz="1200" b="0" i="0">
                <a:solidFill>
                  <a:srgbClr val="6E6E6E"/>
                </a:solidFill>
                <a:latin typeface="Open Sans"/>
              </a:rPr>
              <a:t>Verano</a:t>
            </a:r>
          </a:p>
        </p:txBody>
      </p:sp>
      <p:sp>
        <p:nvSpPr>
          <p:cNvPr id="26" name="Rounded Rectangle 25"/>
          <p:cNvSpPr/>
          <p:nvPr/>
        </p:nvSpPr>
        <p:spPr>
          <a:xfrm>
            <a:off x="13139928" y="7699248"/>
            <a:ext cx="2011680" cy="960120"/>
          </a:xfrm>
          <a:prstGeom prst="roundRect">
            <a:avLst>
              <a:gd name="adj" fmla="val 4761"/>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3139928" y="7699248"/>
            <a:ext cx="2011680" cy="960120"/>
          </a:xfrm>
          <a:prstGeom prst="rect">
            <a:avLst/>
          </a:prstGeom>
          <a:noFill/>
        </p:spPr>
        <p:txBody>
          <a:bodyPr wrap="square" lIns="0" rIns="0" tIns="0" bIns="0" anchor="ctr">
            <a:spAutoFit/>
          </a:bodyPr>
          <a:lstStyle/>
          <a:p>
            <a:pPr algn="ctr">
              <a:lnSpc>
                <a:spcPct val="116000"/>
              </a:lnSpc>
              <a:spcBef>
                <a:spcPts val="0"/>
              </a:spcBef>
              <a:spcAft>
                <a:spcPts val="100"/>
              </a:spcAft>
            </a:pPr>
            <a:r>
              <a:rPr sz="2000" b="1" i="0">
                <a:solidFill>
                  <a:srgbClr val="005F91"/>
                </a:solidFill>
                <a:latin typeface="Open Sans"/>
              </a:rPr>
              <a:t>23 %</a:t>
            </a:r>
          </a:p>
          <a:p>
            <a:pPr algn="ctr">
              <a:lnSpc>
                <a:spcPct val="116000"/>
              </a:lnSpc>
              <a:spcBef>
                <a:spcPts val="0"/>
              </a:spcBef>
              <a:spcAft>
                <a:spcPts val="0"/>
              </a:spcAft>
            </a:pPr>
            <a:r>
              <a:rPr sz="1200" b="0" i="0">
                <a:solidFill>
                  <a:srgbClr val="6E6E6E"/>
                </a:solidFill>
                <a:latin typeface="Open Sans"/>
              </a:rPr>
              <a:t>Invierno</a:t>
            </a:r>
          </a:p>
        </p:txBody>
      </p:sp>
      <p:sp>
        <p:nvSpPr>
          <p:cNvPr id="28" name="Rounded Rectangle 27"/>
          <p:cNvSpPr/>
          <p:nvPr/>
        </p:nvSpPr>
        <p:spPr>
          <a:xfrm>
            <a:off x="15297912" y="7699248"/>
            <a:ext cx="2011680" cy="960120"/>
          </a:xfrm>
          <a:prstGeom prst="roundRect">
            <a:avLst>
              <a:gd name="adj" fmla="val 4761"/>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15297912" y="7699248"/>
            <a:ext cx="2011680" cy="960120"/>
          </a:xfrm>
          <a:prstGeom prst="rect">
            <a:avLst/>
          </a:prstGeom>
          <a:noFill/>
        </p:spPr>
        <p:txBody>
          <a:bodyPr wrap="square" lIns="0" rIns="0" tIns="0" bIns="0" anchor="ctr">
            <a:spAutoFit/>
          </a:bodyPr>
          <a:lstStyle/>
          <a:p>
            <a:pPr algn="ctr">
              <a:lnSpc>
                <a:spcPct val="116000"/>
              </a:lnSpc>
              <a:spcBef>
                <a:spcPts val="0"/>
              </a:spcBef>
              <a:spcAft>
                <a:spcPts val="100"/>
              </a:spcAft>
            </a:pPr>
            <a:r>
              <a:rPr sz="2000" b="1" i="0">
                <a:solidFill>
                  <a:srgbClr val="005F91"/>
                </a:solidFill>
                <a:latin typeface="Open Sans"/>
              </a:rPr>
              <a:t>21 %</a:t>
            </a:r>
          </a:p>
          <a:p>
            <a:pPr algn="ctr">
              <a:lnSpc>
                <a:spcPct val="116000"/>
              </a:lnSpc>
              <a:spcBef>
                <a:spcPts val="0"/>
              </a:spcBef>
              <a:spcAft>
                <a:spcPts val="0"/>
              </a:spcAft>
            </a:pPr>
            <a:r>
              <a:rPr sz="1200" b="0" i="0">
                <a:solidFill>
                  <a:srgbClr val="6E6E6E"/>
                </a:solidFill>
                <a:latin typeface="Open Sans"/>
              </a:rPr>
              <a:t>Otoño</a:t>
            </a:r>
          </a:p>
        </p:txBody>
      </p:sp>
      <p:sp>
        <p:nvSpPr>
          <p:cNvPr id="30" name="TextBox 29"/>
          <p:cNvSpPr txBox="1"/>
          <p:nvPr/>
        </p:nvSpPr>
        <p:spPr>
          <a:xfrm>
            <a:off x="8823960" y="8732520"/>
            <a:ext cx="850392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Participación de cada estación en la demanda anual (waffle, anexo A15).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01   CONTEXTO Y PROBLEMA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Series que prenden y se apagan: demanda intermitente</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04</a:t>
            </a:r>
          </a:p>
        </p:txBody>
      </p:sp>
      <p:sp>
        <p:nvSpPr>
          <p:cNvPr id="10" name="Rounded Rectangle 9"/>
          <p:cNvSpPr/>
          <p:nvPr/>
        </p:nvSpPr>
        <p:spPr>
          <a:xfrm>
            <a:off x="960120" y="2249424"/>
            <a:ext cx="6858000" cy="1965960"/>
          </a:xfrm>
          <a:prstGeom prst="roundRect">
            <a:avLst>
              <a:gd name="adj" fmla="val 255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289304" y="2249424"/>
            <a:ext cx="6199632" cy="1965960"/>
          </a:xfrm>
          <a:prstGeom prst="rect">
            <a:avLst/>
          </a:prstGeom>
          <a:noFill/>
        </p:spPr>
        <p:txBody>
          <a:bodyPr wrap="square" lIns="0" rIns="0" tIns="0" bIns="0" anchor="ctr">
            <a:spAutoFit/>
          </a:bodyPr>
          <a:lstStyle/>
          <a:p>
            <a:pPr algn="l">
              <a:lnSpc>
                <a:spcPct val="100000"/>
              </a:lnSpc>
              <a:spcBef>
                <a:spcPts val="0"/>
              </a:spcBef>
              <a:spcAft>
                <a:spcPts val="200"/>
              </a:spcAft>
            </a:pPr>
            <a:r>
              <a:rPr sz="4600" b="1" i="0">
                <a:solidFill>
                  <a:srgbClr val="D10120"/>
                </a:solidFill>
                <a:latin typeface="Open Sans"/>
              </a:rPr>
              <a:t>34,8 %</a:t>
            </a:r>
          </a:p>
          <a:p>
            <a:pPr algn="l">
              <a:lnSpc>
                <a:spcPct val="120000"/>
              </a:lnSpc>
              <a:spcBef>
                <a:spcPts val="0"/>
              </a:spcBef>
              <a:spcAft>
                <a:spcPts val="0"/>
              </a:spcAft>
            </a:pPr>
            <a:r>
              <a:rPr sz="1350" b="0" i="0">
                <a:solidFill>
                  <a:srgbClr val="394049"/>
                </a:solidFill>
                <a:latin typeface="Open Sans"/>
              </a:rPr>
              <a:t>de los meses SKU no registran ninguna venta</a:t>
            </a:r>
          </a:p>
          <a:p>
            <a:pPr algn="l">
              <a:lnSpc>
                <a:spcPct val="115000"/>
              </a:lnSpc>
              <a:spcBef>
                <a:spcPts val="400"/>
              </a:spcBef>
              <a:spcAft>
                <a:spcPts val="0"/>
              </a:spcAft>
            </a:pPr>
            <a:r>
              <a:rPr sz="1150" b="0" i="0">
                <a:solidFill>
                  <a:srgbClr val="9AA1A9"/>
                </a:solidFill>
                <a:latin typeface="Open Sans"/>
              </a:rPr>
              <a:t>Ceros estructurales, no ruido aleatorio</a:t>
            </a:r>
          </a:p>
        </p:txBody>
      </p:sp>
      <p:sp>
        <p:nvSpPr>
          <p:cNvPr id="12" name="Rounded Rectangle 11"/>
          <p:cNvSpPr/>
          <p:nvPr/>
        </p:nvSpPr>
        <p:spPr>
          <a:xfrm>
            <a:off x="960120" y="4462272"/>
            <a:ext cx="6858000" cy="2148840"/>
          </a:xfrm>
          <a:prstGeom prst="roundRect">
            <a:avLst>
              <a:gd name="adj" fmla="val 234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960120" y="4462272"/>
            <a:ext cx="68580" cy="214884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417320" y="4791456"/>
            <a:ext cx="6016752" cy="14904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Por qué rompe a los modelos clásicos</a:t>
            </a:r>
          </a:p>
          <a:p>
            <a:pPr algn="l">
              <a:lnSpc>
                <a:spcPct val="124000"/>
              </a:lnSpc>
              <a:spcBef>
                <a:spcPts val="0"/>
              </a:spcBef>
              <a:spcAft>
                <a:spcPts val="0"/>
              </a:spcAft>
            </a:pPr>
            <a:r>
              <a:rPr sz="1400" b="0" i="0">
                <a:solidFill>
                  <a:srgbClr val="394049"/>
                </a:solidFill>
                <a:latin typeface="Open Sans"/>
              </a:rPr>
              <a:t>Croston y SBA asumen intermitencia sin estacionalidad; SARIMA asume continuidad. En moda conviven las tres cosas: ceros, estacionalidad fuerte y shocks promocionales.</a:t>
            </a:r>
          </a:p>
        </p:txBody>
      </p:sp>
      <p:sp>
        <p:nvSpPr>
          <p:cNvPr id="15" name="Rounded Rectangle 14"/>
          <p:cNvSpPr/>
          <p:nvPr/>
        </p:nvSpPr>
        <p:spPr>
          <a:xfrm>
            <a:off x="960120" y="6867144"/>
            <a:ext cx="6858000" cy="2286000"/>
          </a:xfrm>
          <a:prstGeom prst="roundRect">
            <a:avLst>
              <a:gd name="adj" fmla="val 22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960120" y="6867144"/>
            <a:ext cx="68580" cy="228600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417320" y="7196328"/>
            <a:ext cx="6016752" cy="162763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El dilema que hay detrás</a:t>
            </a:r>
          </a:p>
          <a:p>
            <a:pPr algn="l" marL="274320" indent="-274320">
              <a:lnSpc>
                <a:spcPct val="118000"/>
              </a:lnSpc>
              <a:spcBef>
                <a:spcPts val="0"/>
              </a:spcBef>
              <a:spcAft>
                <a:spcPts val="700"/>
              </a:spcAft>
            </a:pPr>
            <a:r>
              <a:rPr sz="1420" b="0" i="0">
                <a:solidFill>
                  <a:srgbClr val="394049"/>
                </a:solidFill>
                <a:latin typeface="Open Sans"/>
              </a:rPr>
              <a:t>•	Sobre-stock: inmoviliza capital de trabajo y fuerza liquidaciones que erosionan el margen.</a:t>
            </a:r>
          </a:p>
          <a:p>
            <a:pPr algn="l" marL="274320" indent="-274320">
              <a:lnSpc>
                <a:spcPct val="118000"/>
              </a:lnSpc>
              <a:spcBef>
                <a:spcPts val="0"/>
              </a:spcBef>
              <a:spcAft>
                <a:spcPts val="0"/>
              </a:spcAft>
            </a:pPr>
            <a:r>
              <a:rPr sz="1420" b="0" i="0">
                <a:solidFill>
                  <a:srgbClr val="394049"/>
                </a:solidFill>
                <a:latin typeface="Open Sans"/>
              </a:rPr>
              <a:t>•	Quiebre: destruye ingreso directo y deteriora la fidelidad del cliente.</a:t>
            </a:r>
          </a:p>
        </p:txBody>
      </p:sp>
      <p:sp>
        <p:nvSpPr>
          <p:cNvPr id="18" name="Rounded Rectangle 17"/>
          <p:cNvSpPr/>
          <p:nvPr/>
        </p:nvSpPr>
        <p:spPr>
          <a:xfrm>
            <a:off x="8092440" y="2249424"/>
            <a:ext cx="9235440" cy="5989320"/>
          </a:xfrm>
          <a:prstGeom prst="roundRect">
            <a:avLst>
              <a:gd name="adj" fmla="val 916"/>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9" name="Picture 18" descr="image8.png"/>
          <p:cNvPicPr>
            <a:picLocks noChangeAspect="1"/>
          </p:cNvPicPr>
          <p:nvPr/>
        </p:nvPicPr>
        <p:blipFill>
          <a:blip r:embed="rId2"/>
          <a:stretch>
            <a:fillRect/>
          </a:stretch>
        </p:blipFill>
        <p:spPr>
          <a:xfrm>
            <a:off x="8412480" y="2569864"/>
            <a:ext cx="8595360" cy="5348439"/>
          </a:xfrm>
          <a:prstGeom prst="rect">
            <a:avLst/>
          </a:prstGeom>
        </p:spPr>
      </p:pic>
      <p:sp>
        <p:nvSpPr>
          <p:cNvPr id="20" name="TextBox 19"/>
          <p:cNvSpPr txBox="1"/>
          <p:nvPr/>
        </p:nvSpPr>
        <p:spPr>
          <a:xfrm>
            <a:off x="8092440" y="8330183"/>
            <a:ext cx="923544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Matriz de demanda: 100 SKUs × 66 meses. Las zonas claras son meses sin venta.</a:t>
            </a:r>
          </a:p>
        </p:txBody>
      </p:sp>
      <p:sp>
        <p:nvSpPr>
          <p:cNvPr id="21" name="Rounded Rectangle 20"/>
          <p:cNvSpPr/>
          <p:nvPr/>
        </p:nvSpPr>
        <p:spPr>
          <a:xfrm>
            <a:off x="8092440" y="8366760"/>
            <a:ext cx="9235440" cy="795528"/>
          </a:xfrm>
          <a:prstGeom prst="roundRect">
            <a:avLst>
              <a:gd name="adj" fmla="val 6321"/>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8549640" y="8366760"/>
            <a:ext cx="8321040" cy="795528"/>
          </a:xfrm>
          <a:prstGeom prst="rect">
            <a:avLst/>
          </a:prstGeom>
          <a:noFill/>
        </p:spPr>
        <p:txBody>
          <a:bodyPr wrap="square" lIns="0" rIns="0" tIns="0" bIns="0" anchor="ctr">
            <a:spAutoFit/>
          </a:bodyPr>
          <a:lstStyle/>
          <a:p>
            <a:pPr algn="ctr">
              <a:lnSpc>
                <a:spcPct val="118000"/>
              </a:lnSpc>
              <a:spcBef>
                <a:spcPts val="0"/>
              </a:spcBef>
              <a:spcAft>
                <a:spcPts val="0"/>
              </a:spcAft>
            </a:pPr>
            <a:r>
              <a:rPr sz="1550" b="1" i="0">
                <a:solidFill>
                  <a:srgbClr val="FFFFFF"/>
                </a:solidFill>
                <a:latin typeface="Open Sans"/>
              </a:rPr>
              <a:t>Cada punto de error se paga dos veces: en capital inmovilizado y en venta perdida.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02   PREGUNTA, HIPÓTESIS Y OBJETIVO</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Qué se pone a prueba</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05</a:t>
            </a:r>
          </a:p>
        </p:txBody>
      </p:sp>
      <p:sp>
        <p:nvSpPr>
          <p:cNvPr id="10" name="Rounded Rectangle 9"/>
          <p:cNvSpPr/>
          <p:nvPr/>
        </p:nvSpPr>
        <p:spPr>
          <a:xfrm>
            <a:off x="960120" y="2249424"/>
            <a:ext cx="16367759" cy="1783080"/>
          </a:xfrm>
          <a:prstGeom prst="roundRect">
            <a:avLst>
              <a:gd name="adj" fmla="val 282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249424"/>
            <a:ext cx="68580" cy="178308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417320" y="2578608"/>
            <a:ext cx="15526512" cy="112471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Pregunta de investigación</a:t>
            </a:r>
          </a:p>
          <a:p>
            <a:pPr algn="l">
              <a:lnSpc>
                <a:spcPct val="126000"/>
              </a:lnSpc>
              <a:spcBef>
                <a:spcPts val="0"/>
              </a:spcBef>
              <a:spcAft>
                <a:spcPts val="0"/>
              </a:spcAft>
            </a:pPr>
            <a:r>
              <a:rPr sz="1450" b="0" i="0">
                <a:solidFill>
                  <a:srgbClr val="394049"/>
                </a:solidFill>
                <a:latin typeface="Open Sans"/>
              </a:rPr>
              <a:t>¿Cuál enfoque de modelado —clásicos univariados, causales, redes recurrentes, modelos fundacionales pre-entrenados o arquitecturas híbridas de ensamble jerárquico— alcanza la mayor capacidad predictiva y robustez metodológica para pronosticar la demanda de retail de moda en Chile, evaluado mediante WAPE en un horizonte mensual h = 1?</a:t>
            </a:r>
          </a:p>
        </p:txBody>
      </p:sp>
      <p:sp>
        <p:nvSpPr>
          <p:cNvPr id="13" name="Rounded Rectangle 12"/>
          <p:cNvSpPr/>
          <p:nvPr/>
        </p:nvSpPr>
        <p:spPr>
          <a:xfrm>
            <a:off x="960120" y="4261104"/>
            <a:ext cx="7955279" cy="1965960"/>
          </a:xfrm>
          <a:prstGeom prst="roundRect">
            <a:avLst>
              <a:gd name="adj" fmla="val 2558"/>
            </a:avLst>
          </a:prstGeom>
          <a:solidFill>
            <a:srgbClr val="EF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960120" y="4261104"/>
            <a:ext cx="68580" cy="1965960"/>
          </a:xfrm>
          <a:prstGeom prst="rect">
            <a:avLst/>
          </a:prstGeom>
          <a:solidFill>
            <a:srgbClr val="9AA1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417320" y="4590288"/>
            <a:ext cx="7114031" cy="130759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H₀  ·  hipótesis nula</a:t>
            </a:r>
          </a:p>
          <a:p>
            <a:pPr algn="l">
              <a:lnSpc>
                <a:spcPct val="126000"/>
              </a:lnSpc>
              <a:spcBef>
                <a:spcPts val="0"/>
              </a:spcBef>
              <a:spcAft>
                <a:spcPts val="0"/>
              </a:spcAft>
            </a:pPr>
            <a:r>
              <a:rPr sz="1450" b="0" i="0">
                <a:solidFill>
                  <a:srgbClr val="394049"/>
                </a:solidFill>
                <a:latin typeface="Open Sans"/>
              </a:rPr>
              <a:t>El WAPE esperado de la arquitectura ES-GBM no es inferior al de los benchmarks primarios (SARIMA, SARIMAX y LSTM).</a:t>
            </a:r>
          </a:p>
        </p:txBody>
      </p:sp>
      <p:sp>
        <p:nvSpPr>
          <p:cNvPr id="16" name="Rounded Rectangle 15"/>
          <p:cNvSpPr/>
          <p:nvPr/>
        </p:nvSpPr>
        <p:spPr>
          <a:xfrm>
            <a:off x="9372600" y="4261104"/>
            <a:ext cx="7955279" cy="1965960"/>
          </a:xfrm>
          <a:prstGeom prst="roundRect">
            <a:avLst>
              <a:gd name="adj" fmla="val 255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9372600" y="4261104"/>
            <a:ext cx="68580" cy="196596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9829800" y="4590288"/>
            <a:ext cx="7114031" cy="130759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H₁  ·  hipótesis de trabajo</a:t>
            </a:r>
          </a:p>
          <a:p>
            <a:pPr algn="l">
              <a:lnSpc>
                <a:spcPct val="126000"/>
              </a:lnSpc>
              <a:spcBef>
                <a:spcPts val="0"/>
              </a:spcBef>
              <a:spcAft>
                <a:spcPts val="0"/>
              </a:spcAft>
            </a:pPr>
            <a:r>
              <a:rPr sz="1450" b="0" i="0">
                <a:solidFill>
                  <a:srgbClr val="394049"/>
                </a:solidFill>
                <a:latin typeface="Open Sans"/>
              </a:rPr>
              <a:t>El WAPE esperado de la arquitectura ES-GBM es inferior al de los benchmarks primarios de referencia.</a:t>
            </a:r>
          </a:p>
        </p:txBody>
      </p:sp>
      <p:sp>
        <p:nvSpPr>
          <p:cNvPr id="19" name="Rounded Rectangle 18"/>
          <p:cNvSpPr/>
          <p:nvPr/>
        </p:nvSpPr>
        <p:spPr>
          <a:xfrm>
            <a:off x="960120" y="6455664"/>
            <a:ext cx="16367759" cy="1783080"/>
          </a:xfrm>
          <a:prstGeom prst="roundRect">
            <a:avLst>
              <a:gd name="adj" fmla="val 282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960120" y="6455664"/>
            <a:ext cx="68580" cy="178308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1417320" y="6784848"/>
            <a:ext cx="15526512" cy="112471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Objetivo general</a:t>
            </a:r>
          </a:p>
          <a:p>
            <a:pPr algn="l">
              <a:lnSpc>
                <a:spcPct val="126000"/>
              </a:lnSpc>
              <a:spcBef>
                <a:spcPts val="0"/>
              </a:spcBef>
              <a:spcAft>
                <a:spcPts val="0"/>
              </a:spcAft>
            </a:pPr>
            <a:r>
              <a:rPr sz="1450" b="0" i="0">
                <a:solidFill>
                  <a:srgbClr val="394049"/>
                </a:solidFill>
                <a:latin typeface="Open Sans"/>
              </a:rPr>
              <a:t>Desarrollar y evaluar una arquitectura de pronóstico jerárquica de ensamble (ES-GBM con desacoplamiento jerárquico a nivel SKU) para el retail de moda femenina en Chile, que minimice el error de predicción integrando variables comerciales ex-ante y suavizamiento exponencial, con el fin de optimizar la eficiencia del capital de trabajo.</a:t>
            </a:r>
          </a:p>
        </p:txBody>
      </p:sp>
      <p:sp>
        <p:nvSpPr>
          <p:cNvPr id="22" name="Rounded Rectangle 21"/>
          <p:cNvSpPr/>
          <p:nvPr/>
        </p:nvSpPr>
        <p:spPr>
          <a:xfrm>
            <a:off x="960120" y="8513063"/>
            <a:ext cx="16367759" cy="777240"/>
          </a:xfrm>
          <a:prstGeom prst="roundRect">
            <a:avLst>
              <a:gd name="adj" fmla="val 6470"/>
            </a:avLst>
          </a:prstGeom>
          <a:solidFill>
            <a:srgbClr val="EF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417320" y="8513063"/>
            <a:ext cx="15453359" cy="777240"/>
          </a:xfrm>
          <a:prstGeom prst="rect">
            <a:avLst/>
          </a:prstGeom>
          <a:noFill/>
        </p:spPr>
        <p:txBody>
          <a:bodyPr wrap="square" lIns="0" rIns="0" tIns="0" bIns="0" anchor="ctr">
            <a:spAutoFit/>
          </a:bodyPr>
          <a:lstStyle/>
          <a:p>
            <a:pPr algn="ctr">
              <a:lnSpc>
                <a:spcPct val="118000"/>
              </a:lnSpc>
              <a:spcBef>
                <a:spcPts val="0"/>
              </a:spcBef>
              <a:spcAft>
                <a:spcPts val="0"/>
              </a:spcAft>
            </a:pPr>
            <a:r>
              <a:rPr sz="1450" b="0" i="0">
                <a:solidFill>
                  <a:srgbClr val="394049"/>
                </a:solidFill>
                <a:latin typeface="Open Sans"/>
              </a:rPr>
              <a:t>Benchmarks primarios: SARIMA · SARIMAX · LSTM      |      Referencias de frontera: Croston · SBA · Seasonal Naïve · Chronos-Bolt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03   DATOS, VARIABLES Y SUPUESTOS</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El núcleo comercial: dónde se juega el margen</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06</a:t>
            </a:r>
          </a:p>
        </p:txBody>
      </p:sp>
      <p:sp>
        <p:nvSpPr>
          <p:cNvPr id="10" name="Rounded Rectangle 9"/>
          <p:cNvSpPr/>
          <p:nvPr/>
        </p:nvSpPr>
        <p:spPr>
          <a:xfrm>
            <a:off x="960120" y="2249424"/>
            <a:ext cx="3913632" cy="1783080"/>
          </a:xfrm>
          <a:prstGeom prst="roundRect">
            <a:avLst>
              <a:gd name="adj" fmla="val 282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289304" y="2249424"/>
            <a:ext cx="3255264" cy="1783080"/>
          </a:xfrm>
          <a:prstGeom prst="rect">
            <a:avLst/>
          </a:prstGeom>
          <a:noFill/>
        </p:spPr>
        <p:txBody>
          <a:bodyPr wrap="square" lIns="0" rIns="0" tIns="0" bIns="0" anchor="ctr">
            <a:spAutoFit/>
          </a:bodyPr>
          <a:lstStyle/>
          <a:p>
            <a:pPr algn="l">
              <a:lnSpc>
                <a:spcPct val="100000"/>
              </a:lnSpc>
              <a:spcBef>
                <a:spcPts val="0"/>
              </a:spcBef>
              <a:spcAft>
                <a:spcPts val="200"/>
              </a:spcAft>
            </a:pPr>
            <a:r>
              <a:rPr sz="4000" b="1" i="0">
                <a:solidFill>
                  <a:srgbClr val="005F91"/>
                </a:solidFill>
                <a:latin typeface="Open Sans"/>
              </a:rPr>
              <a:t>Top 100</a:t>
            </a:r>
          </a:p>
          <a:p>
            <a:pPr algn="l">
              <a:lnSpc>
                <a:spcPct val="120000"/>
              </a:lnSpc>
              <a:spcBef>
                <a:spcPts val="0"/>
              </a:spcBef>
              <a:spcAft>
                <a:spcPts val="0"/>
              </a:spcAft>
            </a:pPr>
            <a:r>
              <a:rPr sz="1300" b="0" i="0">
                <a:solidFill>
                  <a:srgbClr val="394049"/>
                </a:solidFill>
                <a:latin typeface="Open Sans"/>
              </a:rPr>
              <a:t>SKUs modelados a nivel producto</a:t>
            </a:r>
          </a:p>
        </p:txBody>
      </p:sp>
      <p:sp>
        <p:nvSpPr>
          <p:cNvPr id="12" name="Rounded Rectangle 11"/>
          <p:cNvSpPr/>
          <p:nvPr/>
        </p:nvSpPr>
        <p:spPr>
          <a:xfrm>
            <a:off x="5102352" y="2249424"/>
            <a:ext cx="3913632" cy="1783080"/>
          </a:xfrm>
          <a:prstGeom prst="roundRect">
            <a:avLst>
              <a:gd name="adj" fmla="val 282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5431536" y="2249424"/>
            <a:ext cx="3255264" cy="1783080"/>
          </a:xfrm>
          <a:prstGeom prst="rect">
            <a:avLst/>
          </a:prstGeom>
          <a:noFill/>
        </p:spPr>
        <p:txBody>
          <a:bodyPr wrap="square" lIns="0" rIns="0" tIns="0" bIns="0" anchor="ctr">
            <a:spAutoFit/>
          </a:bodyPr>
          <a:lstStyle/>
          <a:p>
            <a:pPr algn="l">
              <a:lnSpc>
                <a:spcPct val="100000"/>
              </a:lnSpc>
              <a:spcBef>
                <a:spcPts val="0"/>
              </a:spcBef>
              <a:spcAft>
                <a:spcPts val="200"/>
              </a:spcAft>
            </a:pPr>
            <a:r>
              <a:rPr sz="4000" b="1" i="0">
                <a:solidFill>
                  <a:srgbClr val="005F91"/>
                </a:solidFill>
                <a:latin typeface="Open Sans"/>
              </a:rPr>
              <a:t>58</a:t>
            </a:r>
          </a:p>
          <a:p>
            <a:pPr algn="l">
              <a:lnSpc>
                <a:spcPct val="120000"/>
              </a:lnSpc>
              <a:spcBef>
                <a:spcPts val="0"/>
              </a:spcBef>
              <a:spcAft>
                <a:spcPts val="0"/>
              </a:spcAft>
            </a:pPr>
            <a:r>
              <a:rPr sz="1300" b="0" i="0">
                <a:solidFill>
                  <a:srgbClr val="394049"/>
                </a:solidFill>
                <a:latin typeface="Open Sans"/>
              </a:rPr>
              <a:t>familias comerciales activas</a:t>
            </a:r>
          </a:p>
        </p:txBody>
      </p:sp>
      <p:sp>
        <p:nvSpPr>
          <p:cNvPr id="14" name="Rounded Rectangle 13"/>
          <p:cNvSpPr/>
          <p:nvPr/>
        </p:nvSpPr>
        <p:spPr>
          <a:xfrm>
            <a:off x="9244584" y="2249424"/>
            <a:ext cx="3913632" cy="1783080"/>
          </a:xfrm>
          <a:prstGeom prst="roundRect">
            <a:avLst>
              <a:gd name="adj" fmla="val 282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9573768" y="2249424"/>
            <a:ext cx="3255264" cy="1783080"/>
          </a:xfrm>
          <a:prstGeom prst="rect">
            <a:avLst/>
          </a:prstGeom>
          <a:noFill/>
        </p:spPr>
        <p:txBody>
          <a:bodyPr wrap="square" lIns="0" rIns="0" tIns="0" bIns="0" anchor="ctr">
            <a:spAutoFit/>
          </a:bodyPr>
          <a:lstStyle/>
          <a:p>
            <a:pPr algn="l">
              <a:lnSpc>
                <a:spcPct val="100000"/>
              </a:lnSpc>
              <a:spcBef>
                <a:spcPts val="0"/>
              </a:spcBef>
              <a:spcAft>
                <a:spcPts val="200"/>
              </a:spcAft>
            </a:pPr>
            <a:r>
              <a:rPr sz="4000" b="1" i="0">
                <a:solidFill>
                  <a:srgbClr val="D10120"/>
                </a:solidFill>
                <a:latin typeface="Open Sans"/>
              </a:rPr>
              <a:t>72 %</a:t>
            </a:r>
          </a:p>
          <a:p>
            <a:pPr algn="l">
              <a:lnSpc>
                <a:spcPct val="120000"/>
              </a:lnSpc>
              <a:spcBef>
                <a:spcPts val="0"/>
              </a:spcBef>
              <a:spcAft>
                <a:spcPts val="0"/>
              </a:spcAft>
            </a:pPr>
            <a:r>
              <a:rPr sz="1300" b="0" i="0">
                <a:solidFill>
                  <a:srgbClr val="394049"/>
                </a:solidFill>
                <a:latin typeface="Open Sans"/>
              </a:rPr>
              <a:t>del volumen físico de la cadena</a:t>
            </a:r>
          </a:p>
        </p:txBody>
      </p:sp>
      <p:sp>
        <p:nvSpPr>
          <p:cNvPr id="16" name="Rounded Rectangle 15"/>
          <p:cNvSpPr/>
          <p:nvPr/>
        </p:nvSpPr>
        <p:spPr>
          <a:xfrm>
            <a:off x="13386816" y="2249424"/>
            <a:ext cx="3913632" cy="1783080"/>
          </a:xfrm>
          <a:prstGeom prst="roundRect">
            <a:avLst>
              <a:gd name="adj" fmla="val 282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3716000" y="2249424"/>
            <a:ext cx="3255264" cy="1783080"/>
          </a:xfrm>
          <a:prstGeom prst="rect">
            <a:avLst/>
          </a:prstGeom>
          <a:noFill/>
        </p:spPr>
        <p:txBody>
          <a:bodyPr wrap="square" lIns="0" rIns="0" tIns="0" bIns="0" anchor="ctr">
            <a:spAutoFit/>
          </a:bodyPr>
          <a:lstStyle/>
          <a:p>
            <a:pPr algn="l">
              <a:lnSpc>
                <a:spcPct val="100000"/>
              </a:lnSpc>
              <a:spcBef>
                <a:spcPts val="0"/>
              </a:spcBef>
              <a:spcAft>
                <a:spcPts val="200"/>
              </a:spcAft>
            </a:pPr>
            <a:r>
              <a:rPr sz="4000" b="1" i="0">
                <a:solidFill>
                  <a:srgbClr val="D10120"/>
                </a:solidFill>
                <a:latin typeface="Open Sans"/>
              </a:rPr>
              <a:t>78 %</a:t>
            </a:r>
          </a:p>
          <a:p>
            <a:pPr algn="l">
              <a:lnSpc>
                <a:spcPct val="120000"/>
              </a:lnSpc>
              <a:spcBef>
                <a:spcPts val="0"/>
              </a:spcBef>
              <a:spcAft>
                <a:spcPts val="0"/>
              </a:spcAft>
            </a:pPr>
            <a:r>
              <a:rPr sz="1300" b="0" i="0">
                <a:solidFill>
                  <a:srgbClr val="394049"/>
                </a:solidFill>
                <a:latin typeface="Open Sans"/>
              </a:rPr>
              <a:t>del margen de contribución</a:t>
            </a:r>
          </a:p>
        </p:txBody>
      </p:sp>
      <p:sp>
        <p:nvSpPr>
          <p:cNvPr id="18" name="Rounded Rectangle 17"/>
          <p:cNvSpPr/>
          <p:nvPr/>
        </p:nvSpPr>
        <p:spPr>
          <a:xfrm>
            <a:off x="960120" y="4306824"/>
            <a:ext cx="6766560" cy="4846320"/>
          </a:xfrm>
          <a:prstGeom prst="roundRect">
            <a:avLst>
              <a:gd name="adj" fmla="val 1037"/>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960120" y="4306824"/>
            <a:ext cx="68580" cy="484632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1417320" y="4636008"/>
            <a:ext cx="5925312" cy="4187952"/>
          </a:xfrm>
          <a:prstGeom prst="rect">
            <a:avLst/>
          </a:prstGeom>
          <a:noFill/>
        </p:spPr>
        <p:txBody>
          <a:bodyPr wrap="square" lIns="0" rIns="0" tIns="0" bIns="0" anchor="t">
            <a:spAutoFit/>
          </a:bodyPr>
          <a:lstStyle/>
          <a:p>
            <a:pPr algn="l">
              <a:lnSpc>
                <a:spcPct val="112000"/>
              </a:lnSpc>
              <a:spcBef>
                <a:spcPts val="0"/>
              </a:spcBef>
              <a:spcAft>
                <a:spcPts val="0"/>
              </a:spcAft>
            </a:pPr>
            <a:r>
              <a:rPr sz="1700" b="1" i="0">
                <a:solidFill>
                  <a:srgbClr val="13161B"/>
                </a:solidFill>
                <a:latin typeface="Open Sans"/>
              </a:rPr>
              <a:t>Jerarquía de agregación</a:t>
            </a:r>
          </a:p>
        </p:txBody>
      </p:sp>
      <p:sp>
        <p:nvSpPr>
          <p:cNvPr id="21" name="Rounded Rectangle 20"/>
          <p:cNvSpPr/>
          <p:nvPr/>
        </p:nvSpPr>
        <p:spPr>
          <a:xfrm>
            <a:off x="1417320" y="5038344"/>
            <a:ext cx="5852160" cy="749808"/>
          </a:xfrm>
          <a:prstGeom prst="roundRect">
            <a:avLst>
              <a:gd name="adj" fmla="val 9756"/>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1737360" y="5038344"/>
            <a:ext cx="2743200" cy="749808"/>
          </a:xfrm>
          <a:prstGeom prst="rect">
            <a:avLst/>
          </a:prstGeom>
          <a:noFill/>
        </p:spPr>
        <p:txBody>
          <a:bodyPr wrap="square" lIns="0" rIns="0" tIns="0" bIns="0" anchor="ctr">
            <a:spAutoFit/>
          </a:bodyPr>
          <a:lstStyle/>
          <a:p>
            <a:pPr algn="l">
              <a:lnSpc>
                <a:spcPct val="116000"/>
              </a:lnSpc>
              <a:spcBef>
                <a:spcPts val="0"/>
              </a:spcBef>
              <a:spcAft>
                <a:spcPts val="0"/>
              </a:spcAft>
            </a:pPr>
            <a:r>
              <a:rPr sz="1500" b="1" i="0">
                <a:solidFill>
                  <a:srgbClr val="13161B"/>
                </a:solidFill>
                <a:latin typeface="Open Sans"/>
              </a:rPr>
              <a:t>Departamento</a:t>
            </a:r>
          </a:p>
        </p:txBody>
      </p:sp>
      <p:sp>
        <p:nvSpPr>
          <p:cNvPr id="23" name="TextBox 22"/>
          <p:cNvSpPr txBox="1"/>
          <p:nvPr/>
        </p:nvSpPr>
        <p:spPr>
          <a:xfrm>
            <a:off x="4251960" y="5038344"/>
            <a:ext cx="2743200" cy="749808"/>
          </a:xfrm>
          <a:prstGeom prst="rect">
            <a:avLst/>
          </a:prstGeom>
          <a:noFill/>
        </p:spPr>
        <p:txBody>
          <a:bodyPr wrap="square" lIns="0" rIns="0" tIns="0" bIns="0" anchor="ctr">
            <a:spAutoFit/>
          </a:bodyPr>
          <a:lstStyle/>
          <a:p>
            <a:pPr algn="r">
              <a:lnSpc>
                <a:spcPct val="116000"/>
              </a:lnSpc>
              <a:spcBef>
                <a:spcPts val="0"/>
              </a:spcBef>
              <a:spcAft>
                <a:spcPts val="0"/>
              </a:spcAft>
            </a:pPr>
            <a:r>
              <a:rPr sz="1250" b="0" i="0">
                <a:solidFill>
                  <a:srgbClr val="6E6E6E"/>
                </a:solidFill>
                <a:latin typeface="Open Sans"/>
              </a:rPr>
              <a:t>3 superfamilias</a:t>
            </a:r>
          </a:p>
        </p:txBody>
      </p:sp>
      <p:cxnSp>
        <p:nvCxnSpPr>
          <p:cNvPr id="24" name="Connector 23"/>
          <p:cNvCxnSpPr/>
          <p:nvPr/>
        </p:nvCxnSpPr>
        <p:spPr>
          <a:xfrm>
            <a:off x="4343400" y="5806440"/>
            <a:ext cx="0" cy="219456"/>
          </a:xfrm>
          <a:prstGeom prst="line">
            <a:avLst/>
          </a:prstGeom>
          <a:ln w="1778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417320" y="6062472"/>
            <a:ext cx="5852160" cy="749808"/>
          </a:xfrm>
          <a:prstGeom prst="roundRect">
            <a:avLst>
              <a:gd name="adj" fmla="val 9756"/>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1737360" y="6062472"/>
            <a:ext cx="2743200" cy="749808"/>
          </a:xfrm>
          <a:prstGeom prst="rect">
            <a:avLst/>
          </a:prstGeom>
          <a:noFill/>
        </p:spPr>
        <p:txBody>
          <a:bodyPr wrap="square" lIns="0" rIns="0" tIns="0" bIns="0" anchor="ctr">
            <a:spAutoFit/>
          </a:bodyPr>
          <a:lstStyle/>
          <a:p>
            <a:pPr algn="l">
              <a:lnSpc>
                <a:spcPct val="116000"/>
              </a:lnSpc>
              <a:spcBef>
                <a:spcPts val="0"/>
              </a:spcBef>
              <a:spcAft>
                <a:spcPts val="0"/>
              </a:spcAft>
            </a:pPr>
            <a:r>
              <a:rPr sz="1500" b="1" i="0">
                <a:solidFill>
                  <a:srgbClr val="13161B"/>
                </a:solidFill>
                <a:latin typeface="Open Sans"/>
              </a:rPr>
              <a:t>Familia</a:t>
            </a:r>
          </a:p>
        </p:txBody>
      </p:sp>
      <p:sp>
        <p:nvSpPr>
          <p:cNvPr id="27" name="TextBox 26"/>
          <p:cNvSpPr txBox="1"/>
          <p:nvPr/>
        </p:nvSpPr>
        <p:spPr>
          <a:xfrm>
            <a:off x="4251960" y="6062472"/>
            <a:ext cx="2743200" cy="749808"/>
          </a:xfrm>
          <a:prstGeom prst="rect">
            <a:avLst/>
          </a:prstGeom>
          <a:noFill/>
        </p:spPr>
        <p:txBody>
          <a:bodyPr wrap="square" lIns="0" rIns="0" tIns="0" bIns="0" anchor="ctr">
            <a:spAutoFit/>
          </a:bodyPr>
          <a:lstStyle/>
          <a:p>
            <a:pPr algn="r">
              <a:lnSpc>
                <a:spcPct val="116000"/>
              </a:lnSpc>
              <a:spcBef>
                <a:spcPts val="0"/>
              </a:spcBef>
              <a:spcAft>
                <a:spcPts val="0"/>
              </a:spcAft>
            </a:pPr>
            <a:r>
              <a:rPr sz="1250" b="0" i="0">
                <a:solidFill>
                  <a:srgbClr val="6E6E6E"/>
                </a:solidFill>
                <a:latin typeface="Open Sans"/>
              </a:rPr>
              <a:t>58 series agregadas</a:t>
            </a:r>
          </a:p>
        </p:txBody>
      </p:sp>
      <p:cxnSp>
        <p:nvCxnSpPr>
          <p:cNvPr id="28" name="Connector 27"/>
          <p:cNvCxnSpPr/>
          <p:nvPr/>
        </p:nvCxnSpPr>
        <p:spPr>
          <a:xfrm>
            <a:off x="4343400" y="6830568"/>
            <a:ext cx="0" cy="219456"/>
          </a:xfrm>
          <a:prstGeom prst="line">
            <a:avLst/>
          </a:prstGeom>
          <a:ln w="1778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417320" y="7086600"/>
            <a:ext cx="5852160" cy="749808"/>
          </a:xfrm>
          <a:prstGeom prst="roundRect">
            <a:avLst>
              <a:gd name="adj" fmla="val 9756"/>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1737360" y="7086600"/>
            <a:ext cx="2743200" cy="749808"/>
          </a:xfrm>
          <a:prstGeom prst="rect">
            <a:avLst/>
          </a:prstGeom>
          <a:noFill/>
        </p:spPr>
        <p:txBody>
          <a:bodyPr wrap="square" lIns="0" rIns="0" tIns="0" bIns="0" anchor="ctr">
            <a:spAutoFit/>
          </a:bodyPr>
          <a:lstStyle/>
          <a:p>
            <a:pPr algn="l">
              <a:lnSpc>
                <a:spcPct val="116000"/>
              </a:lnSpc>
              <a:spcBef>
                <a:spcPts val="0"/>
              </a:spcBef>
              <a:spcAft>
                <a:spcPts val="0"/>
              </a:spcAft>
            </a:pPr>
            <a:r>
              <a:rPr sz="1500" b="1" i="0">
                <a:solidFill>
                  <a:srgbClr val="13161B"/>
                </a:solidFill>
                <a:latin typeface="Open Sans"/>
              </a:rPr>
              <a:t>Sub-familia</a:t>
            </a:r>
          </a:p>
        </p:txBody>
      </p:sp>
      <p:sp>
        <p:nvSpPr>
          <p:cNvPr id="31" name="TextBox 30"/>
          <p:cNvSpPr txBox="1"/>
          <p:nvPr/>
        </p:nvSpPr>
        <p:spPr>
          <a:xfrm>
            <a:off x="4251960" y="7086600"/>
            <a:ext cx="2743200" cy="749808"/>
          </a:xfrm>
          <a:prstGeom prst="rect">
            <a:avLst/>
          </a:prstGeom>
          <a:noFill/>
        </p:spPr>
        <p:txBody>
          <a:bodyPr wrap="square" lIns="0" rIns="0" tIns="0" bIns="0" anchor="ctr">
            <a:spAutoFit/>
          </a:bodyPr>
          <a:lstStyle/>
          <a:p>
            <a:pPr algn="r">
              <a:lnSpc>
                <a:spcPct val="116000"/>
              </a:lnSpc>
              <a:spcBef>
                <a:spcPts val="0"/>
              </a:spcBef>
              <a:spcAft>
                <a:spcPts val="0"/>
              </a:spcAft>
            </a:pPr>
            <a:r>
              <a:rPr sz="1250" b="0" i="0">
                <a:solidFill>
                  <a:srgbClr val="6E6E6E"/>
                </a:solidFill>
                <a:latin typeface="Open Sans"/>
              </a:rPr>
              <a:t>agrupación intermedia</a:t>
            </a:r>
          </a:p>
        </p:txBody>
      </p:sp>
      <p:cxnSp>
        <p:nvCxnSpPr>
          <p:cNvPr id="32" name="Connector 31"/>
          <p:cNvCxnSpPr/>
          <p:nvPr/>
        </p:nvCxnSpPr>
        <p:spPr>
          <a:xfrm>
            <a:off x="4343400" y="7854696"/>
            <a:ext cx="0" cy="219456"/>
          </a:xfrm>
          <a:prstGeom prst="line">
            <a:avLst/>
          </a:prstGeom>
          <a:ln w="1778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417320" y="8110728"/>
            <a:ext cx="5852160" cy="749808"/>
          </a:xfrm>
          <a:prstGeom prst="roundRect">
            <a:avLst>
              <a:gd name="adj" fmla="val 9756"/>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1737360" y="8110728"/>
            <a:ext cx="2743200" cy="749808"/>
          </a:xfrm>
          <a:prstGeom prst="rect">
            <a:avLst/>
          </a:prstGeom>
          <a:noFill/>
        </p:spPr>
        <p:txBody>
          <a:bodyPr wrap="square" lIns="0" rIns="0" tIns="0" bIns="0" anchor="ctr">
            <a:spAutoFit/>
          </a:bodyPr>
          <a:lstStyle/>
          <a:p>
            <a:pPr algn="l">
              <a:lnSpc>
                <a:spcPct val="116000"/>
              </a:lnSpc>
              <a:spcBef>
                <a:spcPts val="0"/>
              </a:spcBef>
              <a:spcAft>
                <a:spcPts val="0"/>
              </a:spcAft>
            </a:pPr>
            <a:r>
              <a:rPr sz="1500" b="1" i="0">
                <a:solidFill>
                  <a:srgbClr val="13161B"/>
                </a:solidFill>
                <a:latin typeface="Open Sans"/>
              </a:rPr>
              <a:t>SKU</a:t>
            </a:r>
          </a:p>
        </p:txBody>
      </p:sp>
      <p:sp>
        <p:nvSpPr>
          <p:cNvPr id="35" name="TextBox 34"/>
          <p:cNvSpPr txBox="1"/>
          <p:nvPr/>
        </p:nvSpPr>
        <p:spPr>
          <a:xfrm>
            <a:off x="4251960" y="8110728"/>
            <a:ext cx="2743200" cy="749808"/>
          </a:xfrm>
          <a:prstGeom prst="rect">
            <a:avLst/>
          </a:prstGeom>
          <a:noFill/>
        </p:spPr>
        <p:txBody>
          <a:bodyPr wrap="square" lIns="0" rIns="0" tIns="0" bIns="0" anchor="ctr">
            <a:spAutoFit/>
          </a:bodyPr>
          <a:lstStyle/>
          <a:p>
            <a:pPr algn="r">
              <a:lnSpc>
                <a:spcPct val="116000"/>
              </a:lnSpc>
              <a:spcBef>
                <a:spcPts val="0"/>
              </a:spcBef>
              <a:spcAft>
                <a:spcPts val="0"/>
              </a:spcAft>
            </a:pPr>
            <a:r>
              <a:rPr sz="1250" b="0" i="0">
                <a:solidFill>
                  <a:srgbClr val="6E6E6E"/>
                </a:solidFill>
                <a:latin typeface="Open Sans"/>
              </a:rPr>
              <a:t>Top 100 productos</a:t>
            </a:r>
          </a:p>
        </p:txBody>
      </p:sp>
      <p:sp>
        <p:nvSpPr>
          <p:cNvPr id="36" name="Rounded Rectangle 35"/>
          <p:cNvSpPr/>
          <p:nvPr/>
        </p:nvSpPr>
        <p:spPr>
          <a:xfrm>
            <a:off x="8183880" y="4306824"/>
            <a:ext cx="9144000" cy="4846320"/>
          </a:xfrm>
          <a:prstGeom prst="roundRect">
            <a:avLst>
              <a:gd name="adj" fmla="val 1037"/>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8567928" y="4636008"/>
            <a:ext cx="8375904" cy="418795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Origen y ventana de los datos</a:t>
            </a:r>
          </a:p>
          <a:p>
            <a:pPr algn="l" marL="274320" indent="-274320">
              <a:lnSpc>
                <a:spcPct val="118000"/>
              </a:lnSpc>
              <a:spcBef>
                <a:spcPts val="0"/>
              </a:spcBef>
              <a:spcAft>
                <a:spcPts val="700"/>
              </a:spcAft>
            </a:pPr>
            <a:r>
              <a:rPr sz="1420" b="0" i="0">
                <a:solidFill>
                  <a:srgbClr val="394049"/>
                </a:solidFill>
                <a:latin typeface="Open Sans"/>
              </a:rPr>
              <a:t>•	Registros POS reales de una cadena líder de moda femenina en Chile (“Empresa X”), segmento premium-mass market.</a:t>
            </a:r>
          </a:p>
          <a:p>
            <a:pPr algn="l" marL="274320" indent="-274320">
              <a:lnSpc>
                <a:spcPct val="118000"/>
              </a:lnSpc>
              <a:spcBef>
                <a:spcPts val="0"/>
              </a:spcBef>
              <a:spcAft>
                <a:spcPts val="700"/>
              </a:spcAft>
            </a:pPr>
            <a:r>
              <a:rPr sz="1420" b="0" i="0">
                <a:solidFill>
                  <a:srgbClr val="394049"/>
                </a:solidFill>
                <a:latin typeface="Open Sans"/>
              </a:rPr>
              <a:t>•	66 meses de historia mensual, 2020–2025; catálogo activo de 1.457 SKUs en 3 superfamilias y 58 familias.</a:t>
            </a:r>
          </a:p>
          <a:p>
            <a:pPr algn="l" marL="274320" indent="-274320">
              <a:lnSpc>
                <a:spcPct val="118000"/>
              </a:lnSpc>
              <a:spcBef>
                <a:spcPts val="0"/>
              </a:spcBef>
              <a:spcAft>
                <a:spcPts val="700"/>
              </a:spcAft>
            </a:pPr>
            <a:r>
              <a:rPr sz="1420" b="0" i="0">
                <a:solidFill>
                  <a:srgbClr val="394049"/>
                </a:solidFill>
                <a:latin typeface="Open Sans"/>
              </a:rPr>
              <a:t>•	El Top 100 se define únicamente con datos previos al corte de calibración: la selección no mira el período de prueba.</a:t>
            </a:r>
          </a:p>
          <a:p>
            <a:pPr algn="l" marL="274320" indent="-274320">
              <a:lnSpc>
                <a:spcPct val="118000"/>
              </a:lnSpc>
              <a:spcBef>
                <a:spcPts val="0"/>
              </a:spcBef>
              <a:spcAft>
                <a:spcPts val="700"/>
              </a:spcAft>
            </a:pPr>
            <a:r>
              <a:rPr sz="1420" b="0" i="0">
                <a:solidFill>
                  <a:srgbClr val="394049"/>
                </a:solidFill>
                <a:latin typeface="Open Sans"/>
              </a:rPr>
              <a:t>•	Regla ex-ante para familias descontinuadas y regularización de la grilla temporal (zero-filling) antes de agregar.</a:t>
            </a:r>
          </a:p>
          <a:p>
            <a:pPr algn="l" marL="274320" indent="-274320">
              <a:lnSpc>
                <a:spcPct val="118000"/>
              </a:lnSpc>
              <a:spcBef>
                <a:spcPts val="0"/>
              </a:spcBef>
              <a:spcAft>
                <a:spcPts val="700"/>
              </a:spcAft>
            </a:pPr>
            <a:r>
              <a:rPr sz="1420" b="0" i="0">
                <a:solidFill>
                  <a:srgbClr val="394049"/>
                </a:solidFill>
                <a:latin typeface="Open Sans"/>
              </a:rPr>
              <a:t>•	Granularidad mensual: la unidad de decisión de compra y reposición de la cadena.</a:t>
            </a:r>
          </a:p>
          <a:p>
            <a:pPr algn="l" marL="274320" indent="-274320">
              <a:lnSpc>
                <a:spcPct val="118000"/>
              </a:lnSpc>
              <a:spcBef>
                <a:spcPts val="0"/>
              </a:spcBef>
              <a:spcAft>
                <a:spcPts val="0"/>
              </a:spcAft>
            </a:pPr>
            <a:r>
              <a:rPr sz="1420" b="0" i="0">
                <a:solidFill>
                  <a:srgbClr val="394049"/>
                </a:solidFill>
                <a:latin typeface="Open Sans"/>
              </a:rPr>
              <a:t>•	Variable objetivo: unidades vendidas; el monto neto se usa para ponderar el impacto financiero de cada familia.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03   DATOS, VARIABLES Y SUPUESTOS</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Variables del modelo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07</a:t>
            </a:r>
          </a:p>
        </p:txBody>
      </p:sp>
      <p:sp>
        <p:nvSpPr>
          <p:cNvPr id="10" name="Rounded Rectangle 9"/>
          <p:cNvSpPr/>
          <p:nvPr/>
        </p:nvSpPr>
        <p:spPr>
          <a:xfrm>
            <a:off x="960120" y="2249424"/>
            <a:ext cx="5239512" cy="3931920"/>
          </a:xfrm>
          <a:prstGeom prst="roundRect">
            <a:avLst>
              <a:gd name="adj" fmla="val 1279"/>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249424"/>
            <a:ext cx="68580" cy="393192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417320" y="2578608"/>
            <a:ext cx="4398264" cy="3273552"/>
          </a:xfrm>
          <a:prstGeom prst="rect">
            <a:avLst/>
          </a:prstGeom>
          <a:noFill/>
        </p:spPr>
        <p:txBody>
          <a:bodyPr wrap="square" lIns="0" rIns="0" tIns="0" bIns="0" anchor="t">
            <a:spAutoFit/>
          </a:bodyPr>
          <a:lstStyle/>
          <a:p>
            <a:pPr algn="l">
              <a:lnSpc>
                <a:spcPct val="112000"/>
              </a:lnSpc>
              <a:spcBef>
                <a:spcPts val="0"/>
              </a:spcBef>
              <a:spcAft>
                <a:spcPts val="800"/>
              </a:spcAft>
            </a:pPr>
            <a:r>
              <a:rPr sz="1750" b="1" i="0">
                <a:solidFill>
                  <a:srgbClr val="13161B"/>
                </a:solidFill>
                <a:latin typeface="Open Sans"/>
              </a:rPr>
              <a:t>Target e identificación</a:t>
            </a:r>
          </a:p>
          <a:p>
            <a:pPr algn="l" marL="274320" indent="-274320">
              <a:lnSpc>
                <a:spcPct val="118000"/>
              </a:lnSpc>
              <a:spcBef>
                <a:spcPts val="0"/>
              </a:spcBef>
              <a:spcAft>
                <a:spcPts val="1300"/>
              </a:spcAft>
            </a:pPr>
            <a:r>
              <a:rPr sz="1480" b="0" i="0">
                <a:solidFill>
                  <a:srgbClr val="394049"/>
                </a:solidFill>
                <a:latin typeface="Open Sans"/>
              </a:rPr>
              <a:t>•	Venta cantidad — variable objetivo</a:t>
            </a:r>
          </a:p>
          <a:p>
            <a:pPr algn="l" marL="274320" indent="-274320">
              <a:lnSpc>
                <a:spcPct val="118000"/>
              </a:lnSpc>
              <a:spcBef>
                <a:spcPts val="0"/>
              </a:spcBef>
              <a:spcAft>
                <a:spcPts val="1300"/>
              </a:spcAft>
            </a:pPr>
            <a:r>
              <a:rPr sz="1480" b="0" i="0">
                <a:solidFill>
                  <a:srgbClr val="394049"/>
                </a:solidFill>
                <a:latin typeface="Open Sans"/>
              </a:rPr>
              <a:t>•	Venta monto neto — ponderación financiera</a:t>
            </a:r>
          </a:p>
          <a:p>
            <a:pPr algn="l" marL="274320" indent="-274320">
              <a:lnSpc>
                <a:spcPct val="118000"/>
              </a:lnSpc>
              <a:spcBef>
                <a:spcPts val="0"/>
              </a:spcBef>
              <a:spcAft>
                <a:spcPts val="1300"/>
              </a:spcAft>
            </a:pPr>
            <a:r>
              <a:rPr sz="1480" b="0" i="0">
                <a:solidFill>
                  <a:srgbClr val="394049"/>
                </a:solidFill>
                <a:latin typeface="Open Sans"/>
              </a:rPr>
              <a:t>•	Jerarquía: departamento, familia, sub-familia y SKU</a:t>
            </a:r>
          </a:p>
          <a:p>
            <a:pPr algn="l" marL="274320" indent="-274320">
              <a:lnSpc>
                <a:spcPct val="118000"/>
              </a:lnSpc>
              <a:spcBef>
                <a:spcPts val="0"/>
              </a:spcBef>
              <a:spcAft>
                <a:spcPts val="1300"/>
              </a:spcAft>
            </a:pPr>
            <a:r>
              <a:rPr sz="1480" b="0" i="0">
                <a:solidFill>
                  <a:srgbClr val="394049"/>
                </a:solidFill>
                <a:latin typeface="Open Sans"/>
              </a:rPr>
              <a:t>•	Mes calendario</a:t>
            </a:r>
          </a:p>
        </p:txBody>
      </p:sp>
      <p:sp>
        <p:nvSpPr>
          <p:cNvPr id="13" name="Rounded Rectangle 12"/>
          <p:cNvSpPr/>
          <p:nvPr/>
        </p:nvSpPr>
        <p:spPr>
          <a:xfrm>
            <a:off x="6519672" y="2249424"/>
            <a:ext cx="5239512" cy="3931920"/>
          </a:xfrm>
          <a:prstGeom prst="roundRect">
            <a:avLst>
              <a:gd name="adj" fmla="val 1279"/>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6519672" y="2249424"/>
            <a:ext cx="68580" cy="393192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976872" y="2578608"/>
            <a:ext cx="4398264" cy="3273552"/>
          </a:xfrm>
          <a:prstGeom prst="rect">
            <a:avLst/>
          </a:prstGeom>
          <a:noFill/>
        </p:spPr>
        <p:txBody>
          <a:bodyPr wrap="square" lIns="0" rIns="0" tIns="0" bIns="0" anchor="t">
            <a:spAutoFit/>
          </a:bodyPr>
          <a:lstStyle/>
          <a:p>
            <a:pPr algn="l">
              <a:lnSpc>
                <a:spcPct val="112000"/>
              </a:lnSpc>
              <a:spcBef>
                <a:spcPts val="0"/>
              </a:spcBef>
              <a:spcAft>
                <a:spcPts val="800"/>
              </a:spcAft>
            </a:pPr>
            <a:r>
              <a:rPr sz="1750" b="1" i="0">
                <a:solidFill>
                  <a:srgbClr val="13161B"/>
                </a:solidFill>
                <a:latin typeface="Open Sans"/>
              </a:rPr>
              <a:t>Plan comercial ex-ante</a:t>
            </a:r>
          </a:p>
          <a:p>
            <a:pPr algn="l" marL="274320" indent="-274320">
              <a:lnSpc>
                <a:spcPct val="118000"/>
              </a:lnSpc>
              <a:spcBef>
                <a:spcPts val="0"/>
              </a:spcBef>
              <a:spcAft>
                <a:spcPts val="1300"/>
              </a:spcAft>
            </a:pPr>
            <a:r>
              <a:rPr sz="1480" b="0" i="0">
                <a:solidFill>
                  <a:srgbClr val="394049"/>
                </a:solidFill>
                <a:latin typeface="Open Sans"/>
              </a:rPr>
              <a:t>•	Precio promedio proyectado del mes t</a:t>
            </a:r>
          </a:p>
          <a:p>
            <a:pPr algn="l" marL="274320" indent="-274320">
              <a:lnSpc>
                <a:spcPct val="118000"/>
              </a:lnSpc>
              <a:spcBef>
                <a:spcPts val="0"/>
              </a:spcBef>
              <a:spcAft>
                <a:spcPts val="1300"/>
              </a:spcAft>
            </a:pPr>
            <a:r>
              <a:rPr sz="1480" b="0" i="0">
                <a:solidFill>
                  <a:srgbClr val="394049"/>
                </a:solidFill>
                <a:latin typeface="Open Sans"/>
              </a:rPr>
              <a:t>•	Descuento comercial promedio planificado</a:t>
            </a:r>
          </a:p>
          <a:p>
            <a:pPr algn="l" marL="274320" indent="-274320">
              <a:lnSpc>
                <a:spcPct val="118000"/>
              </a:lnSpc>
              <a:spcBef>
                <a:spcPts val="0"/>
              </a:spcBef>
              <a:spcAft>
                <a:spcPts val="1300"/>
              </a:spcAft>
            </a:pPr>
            <a:r>
              <a:rPr sz="1480" b="0" i="0">
                <a:solidFill>
                  <a:srgbClr val="394049"/>
                </a:solidFill>
                <a:latin typeface="Open Sans"/>
              </a:rPr>
              <a:t>•	Son decisiones de la empresa: se conocen antes de que ocurra la demanda</a:t>
            </a:r>
          </a:p>
          <a:p>
            <a:pPr algn="l" marL="274320" indent="-274320">
              <a:lnSpc>
                <a:spcPct val="118000"/>
              </a:lnSpc>
              <a:spcBef>
                <a:spcPts val="0"/>
              </a:spcBef>
              <a:spcAft>
                <a:spcPts val="1300"/>
              </a:spcAft>
            </a:pPr>
            <a:r>
              <a:rPr sz="1480" b="0" i="0">
                <a:solidFill>
                  <a:srgbClr val="394049"/>
                </a:solidFill>
                <a:latin typeface="Open Sans"/>
              </a:rPr>
              <a:t>•	Constituyen la señal predictiva más potente del ensamble</a:t>
            </a:r>
          </a:p>
        </p:txBody>
      </p:sp>
      <p:sp>
        <p:nvSpPr>
          <p:cNvPr id="16" name="Rounded Rectangle 15"/>
          <p:cNvSpPr/>
          <p:nvPr/>
        </p:nvSpPr>
        <p:spPr>
          <a:xfrm>
            <a:off x="12079224" y="2249424"/>
            <a:ext cx="5239512" cy="3931920"/>
          </a:xfrm>
          <a:prstGeom prst="roundRect">
            <a:avLst>
              <a:gd name="adj" fmla="val 1279"/>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12079224" y="2249424"/>
            <a:ext cx="68580" cy="393192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2536424" y="2578608"/>
            <a:ext cx="4398264" cy="3273552"/>
          </a:xfrm>
          <a:prstGeom prst="rect">
            <a:avLst/>
          </a:prstGeom>
          <a:noFill/>
        </p:spPr>
        <p:txBody>
          <a:bodyPr wrap="square" lIns="0" rIns="0" tIns="0" bIns="0" anchor="t">
            <a:spAutoFit/>
          </a:bodyPr>
          <a:lstStyle/>
          <a:p>
            <a:pPr algn="l">
              <a:lnSpc>
                <a:spcPct val="112000"/>
              </a:lnSpc>
              <a:spcBef>
                <a:spcPts val="0"/>
              </a:spcBef>
              <a:spcAft>
                <a:spcPts val="800"/>
              </a:spcAft>
            </a:pPr>
            <a:r>
              <a:rPr sz="1750" b="1" i="0">
                <a:solidFill>
                  <a:srgbClr val="13161B"/>
                </a:solidFill>
                <a:latin typeface="Open Sans"/>
              </a:rPr>
              <a:t>Temporales y de rezago</a:t>
            </a:r>
          </a:p>
          <a:p>
            <a:pPr algn="l" marL="274320" indent="-274320">
              <a:lnSpc>
                <a:spcPct val="118000"/>
              </a:lnSpc>
              <a:spcBef>
                <a:spcPts val="0"/>
              </a:spcBef>
              <a:spcAft>
                <a:spcPts val="1300"/>
              </a:spcAft>
            </a:pPr>
            <a:r>
              <a:rPr sz="1480" b="0" i="0">
                <a:solidFill>
                  <a:srgbClr val="394049"/>
                </a:solidFill>
                <a:latin typeface="Open Sans"/>
              </a:rPr>
              <a:t>•	Demanda rezagada y estadísticas móviles de 12 meses</a:t>
            </a:r>
          </a:p>
          <a:p>
            <a:pPr algn="l" marL="274320" indent="-274320">
              <a:lnSpc>
                <a:spcPct val="118000"/>
              </a:lnSpc>
              <a:spcBef>
                <a:spcPts val="0"/>
              </a:spcBef>
              <a:spcAft>
                <a:spcPts val="1300"/>
              </a:spcAft>
            </a:pPr>
            <a:r>
              <a:rPr sz="1480" b="0" i="0">
                <a:solidFill>
                  <a:srgbClr val="394049"/>
                </a:solidFill>
                <a:latin typeface="Open Sans"/>
              </a:rPr>
              <a:t>•	Estacionalidad armónica (seno y coseno del mes)</a:t>
            </a:r>
          </a:p>
          <a:p>
            <a:pPr algn="l" marL="274320" indent="-274320">
              <a:lnSpc>
                <a:spcPct val="118000"/>
              </a:lnSpc>
              <a:spcBef>
                <a:spcPts val="0"/>
              </a:spcBef>
              <a:spcAft>
                <a:spcPts val="1300"/>
              </a:spcAft>
            </a:pPr>
            <a:r>
              <a:rPr sz="1480" b="0" i="0">
                <a:solidFill>
                  <a:srgbClr val="394049"/>
                </a:solidFill>
                <a:latin typeface="Open Sans"/>
              </a:rPr>
              <a:t>•	Días de venta efectiva del período</a:t>
            </a:r>
          </a:p>
          <a:p>
            <a:pPr algn="l" marL="274320" indent="-274320">
              <a:lnSpc>
                <a:spcPct val="118000"/>
              </a:lnSpc>
              <a:spcBef>
                <a:spcPts val="0"/>
              </a:spcBef>
              <a:spcAft>
                <a:spcPts val="1300"/>
              </a:spcAft>
            </a:pPr>
            <a:r>
              <a:rPr sz="1480" b="0" i="0">
                <a:solidFill>
                  <a:srgbClr val="394049"/>
                </a:solidFill>
                <a:latin typeface="Open Sans"/>
              </a:rPr>
              <a:t>•	Variación porcentual de la demanda en t−1</a:t>
            </a:r>
          </a:p>
        </p:txBody>
      </p:sp>
      <p:sp>
        <p:nvSpPr>
          <p:cNvPr id="19" name="Rounded Rectangle 18"/>
          <p:cNvSpPr/>
          <p:nvPr/>
        </p:nvSpPr>
        <p:spPr>
          <a:xfrm>
            <a:off x="960120" y="6501384"/>
            <a:ext cx="16367759" cy="2011680"/>
          </a:xfrm>
          <a:prstGeom prst="roundRect">
            <a:avLst>
              <a:gd name="adj" fmla="val 2500"/>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1417320" y="6501384"/>
            <a:ext cx="15453359" cy="2011680"/>
          </a:xfrm>
          <a:prstGeom prst="rect">
            <a:avLst/>
          </a:prstGeom>
          <a:noFill/>
        </p:spPr>
        <p:txBody>
          <a:bodyPr wrap="square" lIns="0" rIns="0" tIns="0" bIns="0" anchor="ctr">
            <a:spAutoFit/>
          </a:bodyPr>
          <a:lstStyle/>
          <a:p>
            <a:pPr algn="ctr">
              <a:lnSpc>
                <a:spcPct val="118000"/>
              </a:lnSpc>
              <a:spcBef>
                <a:spcPts val="0"/>
              </a:spcBef>
              <a:spcAft>
                <a:spcPts val="0"/>
              </a:spcAft>
            </a:pPr>
            <a:r>
              <a:rPr sz="1700" b="1" i="0">
                <a:solidFill>
                  <a:srgbClr val="FFFFFF"/>
                </a:solidFill>
                <a:latin typeface="Open Sans"/>
              </a:rPr>
              <a:t>Regla de oro anti-leakage: toda variable usa información disponible en t−1, salvo el plan comercial que la propia empresa fija ex-ante. Pruebas automatizadas sobre rezagos verifican que ninguna variable filtre información del futuro.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03   DATOS, VARIABLES Y SUPUESTOS</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Supuestos y consideraciones relevantes</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08</a:t>
            </a:r>
          </a:p>
        </p:txBody>
      </p:sp>
      <p:sp>
        <p:nvSpPr>
          <p:cNvPr id="10" name="Rounded Rectangle 9"/>
          <p:cNvSpPr/>
          <p:nvPr/>
        </p:nvSpPr>
        <p:spPr>
          <a:xfrm>
            <a:off x="960120" y="2249424"/>
            <a:ext cx="8001000" cy="2926080"/>
          </a:xfrm>
          <a:prstGeom prst="roundRect">
            <a:avLst>
              <a:gd name="adj" fmla="val 171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249424"/>
            <a:ext cx="68580" cy="292608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417320" y="2578608"/>
            <a:ext cx="7159752" cy="226771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Supuestos base</a:t>
            </a:r>
          </a:p>
          <a:p>
            <a:pPr algn="l" marL="274320" indent="-274320">
              <a:lnSpc>
                <a:spcPct val="118000"/>
              </a:lnSpc>
              <a:spcBef>
                <a:spcPts val="0"/>
              </a:spcBef>
              <a:spcAft>
                <a:spcPts val="700"/>
              </a:spcAft>
            </a:pPr>
            <a:r>
              <a:rPr sz="1420" b="0" i="0">
                <a:solidFill>
                  <a:srgbClr val="394049"/>
                </a:solidFill>
                <a:latin typeface="Open Sans"/>
              </a:rPr>
              <a:t>•	Venta cero con inventario disponible se interpreta como demanda cero.</a:t>
            </a:r>
          </a:p>
          <a:p>
            <a:pPr algn="l" marL="274320" indent="-274320">
              <a:lnSpc>
                <a:spcPct val="118000"/>
              </a:lnSpc>
              <a:spcBef>
                <a:spcPts val="0"/>
              </a:spcBef>
              <a:spcAft>
                <a:spcPts val="700"/>
              </a:spcAft>
            </a:pPr>
            <a:r>
              <a:rPr sz="1420" b="0" i="0">
                <a:solidFill>
                  <a:srgbClr val="394049"/>
                </a:solidFill>
                <a:latin typeface="Open Sans"/>
              </a:rPr>
              <a:t>•	Precio y descuento son conocidos ex-ante por la planificación comercial.</a:t>
            </a:r>
          </a:p>
          <a:p>
            <a:pPr algn="l" marL="274320" indent="-274320">
              <a:lnSpc>
                <a:spcPct val="118000"/>
              </a:lnSpc>
              <a:spcBef>
                <a:spcPts val="0"/>
              </a:spcBef>
              <a:spcAft>
                <a:spcPts val="0"/>
              </a:spcAft>
            </a:pPr>
            <a:r>
              <a:rPr sz="1420" b="0" i="0">
                <a:solidFill>
                  <a:srgbClr val="394049"/>
                </a:solidFill>
                <a:latin typeface="Open Sans"/>
              </a:rPr>
              <a:t>•	El target son ventas observadas en POS, no demanda latente no censurada.</a:t>
            </a:r>
          </a:p>
        </p:txBody>
      </p:sp>
      <p:sp>
        <p:nvSpPr>
          <p:cNvPr id="13" name="Rounded Rectangle 12"/>
          <p:cNvSpPr/>
          <p:nvPr/>
        </p:nvSpPr>
        <p:spPr>
          <a:xfrm>
            <a:off x="9326880" y="2249424"/>
            <a:ext cx="8001000" cy="2926080"/>
          </a:xfrm>
          <a:prstGeom prst="roundRect">
            <a:avLst>
              <a:gd name="adj" fmla="val 171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9326880" y="2249424"/>
            <a:ext cx="68580" cy="292608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9784080" y="2578608"/>
            <a:ext cx="7159752" cy="226771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Foco estratégico</a:t>
            </a:r>
          </a:p>
          <a:p>
            <a:pPr algn="l" marL="274320" indent="-274320">
              <a:lnSpc>
                <a:spcPct val="118000"/>
              </a:lnSpc>
              <a:spcBef>
                <a:spcPts val="0"/>
              </a:spcBef>
              <a:spcAft>
                <a:spcPts val="700"/>
              </a:spcAft>
            </a:pPr>
            <a:r>
              <a:rPr sz="1420" b="0" i="0">
                <a:solidFill>
                  <a:srgbClr val="394049"/>
                </a:solidFill>
                <a:latin typeface="Open Sans"/>
              </a:rPr>
              <a:t>•	Se modela el núcleo comercial: Top 100 SKUs y 58 familias activas.</a:t>
            </a:r>
          </a:p>
          <a:p>
            <a:pPr algn="l" marL="274320" indent="-274320">
              <a:lnSpc>
                <a:spcPct val="118000"/>
              </a:lnSpc>
              <a:spcBef>
                <a:spcPts val="0"/>
              </a:spcBef>
              <a:spcAft>
                <a:spcPts val="700"/>
              </a:spcAft>
            </a:pPr>
            <a:r>
              <a:rPr sz="1420" b="0" i="0">
                <a:solidFill>
                  <a:srgbClr val="394049"/>
                </a:solidFill>
                <a:latin typeface="Open Sans"/>
              </a:rPr>
              <a:t>•	Concentra 72 % del volumen y 78 % del margen: máximo impacto financiero por unidad de esfuerzo.</a:t>
            </a:r>
          </a:p>
          <a:p>
            <a:pPr algn="l" marL="274320" indent="-274320">
              <a:lnSpc>
                <a:spcPct val="118000"/>
              </a:lnSpc>
              <a:spcBef>
                <a:spcPts val="0"/>
              </a:spcBef>
              <a:spcAft>
                <a:spcPts val="0"/>
              </a:spcAft>
            </a:pPr>
            <a:r>
              <a:rPr sz="1420" b="0" i="0">
                <a:solidFill>
                  <a:srgbClr val="394049"/>
                </a:solidFill>
                <a:latin typeface="Open Sans"/>
              </a:rPr>
              <a:t>•	La cola larga (1.357 SKUs de baja rotación) se plantea como trabajo futuro.</a:t>
            </a:r>
          </a:p>
        </p:txBody>
      </p:sp>
      <p:sp>
        <p:nvSpPr>
          <p:cNvPr id="16" name="Rounded Rectangle 15"/>
          <p:cNvSpPr/>
          <p:nvPr/>
        </p:nvSpPr>
        <p:spPr>
          <a:xfrm>
            <a:off x="960120" y="5449824"/>
            <a:ext cx="8001000" cy="3063240"/>
          </a:xfrm>
          <a:prstGeom prst="roundRect">
            <a:avLst>
              <a:gd name="adj" fmla="val 164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960120" y="5449824"/>
            <a:ext cx="68580" cy="306324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417320" y="5779008"/>
            <a:ext cx="7159752" cy="24048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Qué implica al leer los resultados</a:t>
            </a:r>
          </a:p>
          <a:p>
            <a:pPr algn="l" marL="274320" indent="-274320">
              <a:lnSpc>
                <a:spcPct val="118000"/>
              </a:lnSpc>
              <a:spcBef>
                <a:spcPts val="0"/>
              </a:spcBef>
              <a:spcAft>
                <a:spcPts val="700"/>
              </a:spcAft>
            </a:pPr>
            <a:r>
              <a:rPr sz="1420" b="0" i="0">
                <a:solidFill>
                  <a:srgbClr val="394049"/>
                </a:solidFill>
                <a:latin typeface="Open Sans"/>
              </a:rPr>
              <a:t>•	Ante quiebres de stock la venta observada se trunca: se pronostica demanda orgánica bajo las condiciones de disponibilidad históricas.</a:t>
            </a:r>
          </a:p>
          <a:p>
            <a:pPr algn="l" marL="274320" indent="-274320">
              <a:lnSpc>
                <a:spcPct val="118000"/>
              </a:lnSpc>
              <a:spcBef>
                <a:spcPts val="0"/>
              </a:spcBef>
              <a:spcAft>
                <a:spcPts val="0"/>
              </a:spcAft>
            </a:pPr>
            <a:r>
              <a:rPr sz="1420" b="0" i="0">
                <a:solidFill>
                  <a:srgbClr val="394049"/>
                </a:solidFill>
                <a:latin typeface="Open Sans"/>
              </a:rPr>
              <a:t>•	No se capturan liquidaciones reactivas intramensuales (mark-downs de emergencia de última semana).</a:t>
            </a:r>
          </a:p>
        </p:txBody>
      </p:sp>
      <p:sp>
        <p:nvSpPr>
          <p:cNvPr id="19" name="Rounded Rectangle 18"/>
          <p:cNvSpPr/>
          <p:nvPr/>
        </p:nvSpPr>
        <p:spPr>
          <a:xfrm>
            <a:off x="9326880" y="5449824"/>
            <a:ext cx="8001000" cy="3063240"/>
          </a:xfrm>
          <a:prstGeom prst="roundRect">
            <a:avLst>
              <a:gd name="adj" fmla="val 164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9326880" y="5449824"/>
            <a:ext cx="68580" cy="306324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9784080" y="5779008"/>
            <a:ext cx="7159752" cy="24048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Asimetría metodológica declarada</a:t>
            </a:r>
          </a:p>
          <a:p>
            <a:pPr algn="l" marL="274320" indent="-274320">
              <a:lnSpc>
                <a:spcPct val="118000"/>
              </a:lnSpc>
              <a:spcBef>
                <a:spcPts val="0"/>
              </a:spcBef>
              <a:spcAft>
                <a:spcPts val="700"/>
              </a:spcAft>
            </a:pPr>
            <a:r>
              <a:rPr sz="1420" b="0" i="0">
                <a:solidFill>
                  <a:srgbClr val="394049"/>
                </a:solidFill>
                <a:latin typeface="Open Sans"/>
              </a:rPr>
              <a:t>•	Las líneas base econométricas usan una parametrización global parsimoniosa estándar (1,1,1)×(1,1,1) con período estacional 12, sin selección de órdenes por SKU.</a:t>
            </a:r>
          </a:p>
          <a:p>
            <a:pPr algn="l" marL="274320" indent="-274320">
              <a:lnSpc>
                <a:spcPct val="118000"/>
              </a:lnSpc>
              <a:spcBef>
                <a:spcPts val="0"/>
              </a:spcBef>
              <a:spcAft>
                <a:spcPts val="0"/>
              </a:spcAft>
            </a:pPr>
            <a:r>
              <a:rPr sz="1420" b="0" i="0">
                <a:solidFill>
                  <a:srgbClr val="394049"/>
                </a:solidFill>
                <a:latin typeface="Open Sans"/>
              </a:rPr>
              <a:t>•	La arquitectura propuesta sí contó con ingeniería de variables y calibración por fases: esto debe considerarse al interpretar la magnitud del diferencial.</a:t>
            </a:r>
          </a:p>
        </p:txBody>
      </p:sp>
      <p:sp>
        <p:nvSpPr>
          <p:cNvPr id="22" name="Rounded Rectangle 21"/>
          <p:cNvSpPr/>
          <p:nvPr/>
        </p:nvSpPr>
        <p:spPr>
          <a:xfrm>
            <a:off x="960120" y="8650224"/>
            <a:ext cx="16367759" cy="658368"/>
          </a:xfrm>
          <a:prstGeom prst="roundRect">
            <a:avLst>
              <a:gd name="adj" fmla="val 7638"/>
            </a:avLst>
          </a:prstGeom>
          <a:solidFill>
            <a:srgbClr val="EF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417320" y="8650224"/>
            <a:ext cx="15453359" cy="658368"/>
          </a:xfrm>
          <a:prstGeom prst="rect">
            <a:avLst/>
          </a:prstGeom>
          <a:noFill/>
        </p:spPr>
        <p:txBody>
          <a:bodyPr wrap="square" lIns="0" rIns="0" tIns="0" bIns="0" anchor="ctr">
            <a:spAutoFit/>
          </a:bodyPr>
          <a:lstStyle/>
          <a:p>
            <a:pPr algn="ctr">
              <a:lnSpc>
                <a:spcPct val="118000"/>
              </a:lnSpc>
              <a:spcBef>
                <a:spcPts val="0"/>
              </a:spcBef>
              <a:spcAft>
                <a:spcPts val="0"/>
              </a:spcAft>
            </a:pPr>
            <a:r>
              <a:rPr sz="1500" b="0" i="0">
                <a:solidFill>
                  <a:srgbClr val="394049"/>
                </a:solidFill>
                <a:latin typeface="Open Sans"/>
              </a:rPr>
              <a:t>Declarar los supuestos por adelantado es lo que permite interpretar correctamente la magnitud de los resultados.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04   METODOLOGÍA Y ARQUITECTURA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WAPE: la métrica que resiste la demanda cero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09</a:t>
            </a:r>
          </a:p>
        </p:txBody>
      </p:sp>
      <p:sp>
        <p:nvSpPr>
          <p:cNvPr id="10" name="Rounded Rectangle 9"/>
          <p:cNvSpPr/>
          <p:nvPr/>
        </p:nvSpPr>
        <p:spPr>
          <a:xfrm>
            <a:off x="960120" y="2249424"/>
            <a:ext cx="7863840" cy="3108960"/>
          </a:xfrm>
          <a:prstGeom prst="roundRect">
            <a:avLst>
              <a:gd name="adj" fmla="val 1764"/>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5.png"/>
          <p:cNvPicPr>
            <a:picLocks noChangeAspect="1"/>
          </p:cNvPicPr>
          <p:nvPr/>
        </p:nvPicPr>
        <p:blipFill>
          <a:blip r:embed="rId2"/>
          <a:stretch>
            <a:fillRect/>
          </a:stretch>
        </p:blipFill>
        <p:spPr>
          <a:xfrm>
            <a:off x="2464185" y="2615184"/>
            <a:ext cx="4855708" cy="2377440"/>
          </a:xfrm>
          <a:prstGeom prst="rect">
            <a:avLst/>
          </a:prstGeom>
        </p:spPr>
      </p:pic>
      <p:sp>
        <p:nvSpPr>
          <p:cNvPr id="12" name="Rounded Rectangle 11"/>
          <p:cNvSpPr/>
          <p:nvPr/>
        </p:nvSpPr>
        <p:spPr>
          <a:xfrm>
            <a:off x="960120" y="5632704"/>
            <a:ext cx="7863840" cy="3520440"/>
          </a:xfrm>
          <a:prstGeom prst="roundRect">
            <a:avLst>
              <a:gd name="adj" fmla="val 142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960120" y="5632704"/>
            <a:ext cx="68580" cy="352044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417320" y="5961888"/>
            <a:ext cx="7022592" cy="2862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Por qué WAPE y no MAPE</a:t>
            </a:r>
          </a:p>
          <a:p>
            <a:pPr algn="l" marL="274320" indent="-274320">
              <a:lnSpc>
                <a:spcPct val="118000"/>
              </a:lnSpc>
              <a:spcBef>
                <a:spcPts val="0"/>
              </a:spcBef>
              <a:spcAft>
                <a:spcPts val="700"/>
              </a:spcAft>
            </a:pPr>
            <a:r>
              <a:rPr sz="1420" b="0" i="0">
                <a:solidFill>
                  <a:srgbClr val="394049"/>
                </a:solidFill>
                <a:latin typeface="Open Sans"/>
              </a:rPr>
              <a:t>•	El MAPE divide por la demanda de cada mes: con ceros o valores unitarios pequeños se indetermina o explota.</a:t>
            </a:r>
          </a:p>
          <a:p>
            <a:pPr algn="l" marL="274320" indent="-274320">
              <a:lnSpc>
                <a:spcPct val="118000"/>
              </a:lnSpc>
              <a:spcBef>
                <a:spcPts val="0"/>
              </a:spcBef>
              <a:spcAft>
                <a:spcPts val="700"/>
              </a:spcAft>
            </a:pPr>
            <a:r>
              <a:rPr sz="1420" b="0" i="0">
                <a:solidFill>
                  <a:srgbClr val="394049"/>
                </a:solidFill>
                <a:latin typeface="Open Sans"/>
              </a:rPr>
              <a:t>•	El WAPE agrega errores y volumen antes de dividir: pondera por unidades físicas y refleja el impacto operacional real.</a:t>
            </a:r>
          </a:p>
          <a:p>
            <a:pPr algn="l" marL="274320" indent="-274320">
              <a:lnSpc>
                <a:spcPct val="118000"/>
              </a:lnSpc>
              <a:spcBef>
                <a:spcPts val="0"/>
              </a:spcBef>
              <a:spcAft>
                <a:spcPts val="0"/>
              </a:spcAft>
            </a:pPr>
            <a:r>
              <a:rPr sz="1420" b="0" i="0">
                <a:solidFill>
                  <a:srgbClr val="394049"/>
                </a:solidFill>
                <a:latin typeface="Open Sans"/>
              </a:rPr>
              <a:t>•	Ejemplo del propio benchmark: SARIMA obtiene sMAPE 309,88 % frente a un WAPE de 76,74 %; SARIMAX, 170,87 % frente a 73,24 %.</a:t>
            </a:r>
          </a:p>
        </p:txBody>
      </p:sp>
      <p:sp>
        <p:nvSpPr>
          <p:cNvPr id="15" name="Rounded Rectangle 14"/>
          <p:cNvSpPr/>
          <p:nvPr/>
        </p:nvSpPr>
        <p:spPr>
          <a:xfrm>
            <a:off x="9326880" y="2249424"/>
            <a:ext cx="8001000" cy="5120640"/>
          </a:xfrm>
          <a:prstGeom prst="roundRect">
            <a:avLst>
              <a:gd name="adj" fmla="val 1071"/>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image6.png"/>
          <p:cNvPicPr>
            <a:picLocks noChangeAspect="1"/>
          </p:cNvPicPr>
          <p:nvPr/>
        </p:nvPicPr>
        <p:blipFill>
          <a:blip r:embed="rId3"/>
          <a:stretch>
            <a:fillRect/>
          </a:stretch>
        </p:blipFill>
        <p:spPr>
          <a:xfrm>
            <a:off x="9678414" y="2505456"/>
            <a:ext cx="7297930" cy="4608576"/>
          </a:xfrm>
          <a:prstGeom prst="rect">
            <a:avLst/>
          </a:prstGeom>
        </p:spPr>
      </p:pic>
      <p:sp>
        <p:nvSpPr>
          <p:cNvPr id="17" name="Rounded Rectangle 16"/>
          <p:cNvSpPr/>
          <p:nvPr/>
        </p:nvSpPr>
        <p:spPr>
          <a:xfrm>
            <a:off x="9326880" y="7644383"/>
            <a:ext cx="8001000" cy="1508760"/>
          </a:xfrm>
          <a:prstGeom prst="roundRect">
            <a:avLst>
              <a:gd name="adj" fmla="val 3333"/>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9326880" y="7644383"/>
            <a:ext cx="68580" cy="150876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9710928" y="7900415"/>
            <a:ext cx="7306056" cy="996695"/>
          </a:xfrm>
          <a:prstGeom prst="rect">
            <a:avLst/>
          </a:prstGeom>
          <a:noFill/>
        </p:spPr>
        <p:txBody>
          <a:bodyPr wrap="square" lIns="0" rIns="0" tIns="0" bIns="0" anchor="t">
            <a:spAutoFit/>
          </a:bodyPr>
          <a:lstStyle/>
          <a:p>
            <a:pPr algn="l">
              <a:lnSpc>
                <a:spcPct val="112000"/>
              </a:lnSpc>
              <a:spcBef>
                <a:spcPts val="0"/>
              </a:spcBef>
              <a:spcAft>
                <a:spcPts val="800"/>
              </a:spcAft>
            </a:pPr>
            <a:r>
              <a:rPr sz="1600" b="1" i="0">
                <a:solidFill>
                  <a:srgbClr val="13161B"/>
                </a:solidFill>
                <a:latin typeface="Open Sans"/>
              </a:rPr>
              <a:t>Métricas complementarias</a:t>
            </a:r>
          </a:p>
          <a:p>
            <a:pPr algn="l">
              <a:lnSpc>
                <a:spcPct val="122000"/>
              </a:lnSpc>
              <a:spcBef>
                <a:spcPts val="0"/>
              </a:spcBef>
              <a:spcAft>
                <a:spcPts val="0"/>
              </a:spcAft>
            </a:pPr>
            <a:r>
              <a:rPr sz="1380" b="0" i="0">
                <a:solidFill>
                  <a:srgbClr val="394049"/>
                </a:solidFill>
                <a:latin typeface="Open Sans"/>
              </a:rPr>
              <a:t>RMSE, MAE, sesgo y R² acompañan la evaluación; el WRMSSE (0,2017) da comparabilidad con el marco de la competencia M5.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04   METODOLOGÍA Y ARQUITECTURA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Protocolo de validación: 80 / 10 / 10 cronológico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10</a:t>
            </a:r>
          </a:p>
        </p:txBody>
      </p:sp>
      <p:sp>
        <p:nvSpPr>
          <p:cNvPr id="10" name="Rounded Rectangle 9"/>
          <p:cNvSpPr/>
          <p:nvPr/>
        </p:nvSpPr>
        <p:spPr>
          <a:xfrm>
            <a:off x="960120" y="3063240"/>
            <a:ext cx="13039344" cy="1051560"/>
          </a:xfrm>
          <a:prstGeom prst="roundRect">
            <a:avLst>
              <a:gd name="adj" fmla="val 4347"/>
            </a:avLst>
          </a:prstGeom>
          <a:solidFill>
            <a:srgbClr val="D8DEE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960120" y="3063240"/>
            <a:ext cx="13039344" cy="1051560"/>
          </a:xfrm>
          <a:prstGeom prst="rect">
            <a:avLst/>
          </a:prstGeom>
          <a:noFill/>
        </p:spPr>
        <p:txBody>
          <a:bodyPr wrap="square" lIns="0" rIns="0" tIns="0" bIns="0" anchor="ctr">
            <a:spAutoFit/>
          </a:bodyPr>
          <a:lstStyle/>
          <a:p>
            <a:pPr algn="ctr">
              <a:lnSpc>
                <a:spcPct val="116000"/>
              </a:lnSpc>
              <a:spcBef>
                <a:spcPts val="0"/>
              </a:spcBef>
              <a:spcAft>
                <a:spcPts val="0"/>
              </a:spcAft>
            </a:pPr>
            <a:r>
              <a:rPr sz="1900" b="1" i="0">
                <a:solidFill>
                  <a:srgbClr val="13161B"/>
                </a:solidFill>
                <a:latin typeface="Open Sans"/>
              </a:rPr>
              <a:t>80 %</a:t>
            </a:r>
          </a:p>
        </p:txBody>
      </p:sp>
      <p:sp>
        <p:nvSpPr>
          <p:cNvPr id="12" name="TextBox 11"/>
          <p:cNvSpPr txBox="1"/>
          <p:nvPr/>
        </p:nvSpPr>
        <p:spPr>
          <a:xfrm>
            <a:off x="960120" y="2697480"/>
            <a:ext cx="13039344" cy="320040"/>
          </a:xfrm>
          <a:prstGeom prst="rect">
            <a:avLst/>
          </a:prstGeom>
          <a:noFill/>
        </p:spPr>
        <p:txBody>
          <a:bodyPr wrap="square" lIns="0" rIns="0" tIns="0" bIns="0" anchor="t">
            <a:spAutoFit/>
          </a:bodyPr>
          <a:lstStyle/>
          <a:p>
            <a:pPr algn="ctr">
              <a:lnSpc>
                <a:spcPct val="116000"/>
              </a:lnSpc>
              <a:spcBef>
                <a:spcPts val="0"/>
              </a:spcBef>
              <a:spcAft>
                <a:spcPts val="0"/>
              </a:spcAft>
            </a:pPr>
            <a:r>
              <a:rPr sz="1450" b="1" i="0">
                <a:solidFill>
                  <a:srgbClr val="13161B"/>
                </a:solidFill>
                <a:latin typeface="Open Sans"/>
              </a:rPr>
              <a:t>Entrenamiento</a:t>
            </a:r>
          </a:p>
        </p:txBody>
      </p:sp>
      <p:sp>
        <p:nvSpPr>
          <p:cNvPr id="13" name="Rounded Rectangle 12"/>
          <p:cNvSpPr/>
          <p:nvPr/>
        </p:nvSpPr>
        <p:spPr>
          <a:xfrm>
            <a:off x="14054328" y="3063240"/>
            <a:ext cx="1581912" cy="1051560"/>
          </a:xfrm>
          <a:prstGeom prst="roundRect">
            <a:avLst>
              <a:gd name="adj" fmla="val 4347"/>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4054328" y="3063240"/>
            <a:ext cx="1581912" cy="1051560"/>
          </a:xfrm>
          <a:prstGeom prst="rect">
            <a:avLst/>
          </a:prstGeom>
          <a:noFill/>
        </p:spPr>
        <p:txBody>
          <a:bodyPr wrap="square" lIns="0" rIns="0" tIns="0" bIns="0" anchor="ctr">
            <a:spAutoFit/>
          </a:bodyPr>
          <a:lstStyle/>
          <a:p>
            <a:pPr algn="ctr">
              <a:lnSpc>
                <a:spcPct val="116000"/>
              </a:lnSpc>
              <a:spcBef>
                <a:spcPts val="0"/>
              </a:spcBef>
              <a:spcAft>
                <a:spcPts val="0"/>
              </a:spcAft>
            </a:pPr>
            <a:r>
              <a:rPr sz="1900" b="1" i="0">
                <a:solidFill>
                  <a:srgbClr val="13161B"/>
                </a:solidFill>
                <a:latin typeface="Open Sans"/>
              </a:rPr>
              <a:t>10 %</a:t>
            </a:r>
          </a:p>
        </p:txBody>
      </p:sp>
      <p:sp>
        <p:nvSpPr>
          <p:cNvPr id="15" name="TextBox 14"/>
          <p:cNvSpPr txBox="1"/>
          <p:nvPr/>
        </p:nvSpPr>
        <p:spPr>
          <a:xfrm>
            <a:off x="14054328" y="2697480"/>
            <a:ext cx="1581912" cy="320040"/>
          </a:xfrm>
          <a:prstGeom prst="rect">
            <a:avLst/>
          </a:prstGeom>
          <a:noFill/>
        </p:spPr>
        <p:txBody>
          <a:bodyPr wrap="square" lIns="0" rIns="0" tIns="0" bIns="0" anchor="t">
            <a:spAutoFit/>
          </a:bodyPr>
          <a:lstStyle/>
          <a:p>
            <a:pPr algn="ctr">
              <a:lnSpc>
                <a:spcPct val="116000"/>
              </a:lnSpc>
              <a:spcBef>
                <a:spcPts val="0"/>
              </a:spcBef>
              <a:spcAft>
                <a:spcPts val="0"/>
              </a:spcAft>
            </a:pPr>
            <a:r>
              <a:rPr sz="1450" b="1" i="0">
                <a:solidFill>
                  <a:srgbClr val="13161B"/>
                </a:solidFill>
                <a:latin typeface="Open Sans"/>
              </a:rPr>
              <a:t>Validación</a:t>
            </a:r>
          </a:p>
        </p:txBody>
      </p:sp>
      <p:sp>
        <p:nvSpPr>
          <p:cNvPr id="16" name="Rounded Rectangle 15"/>
          <p:cNvSpPr/>
          <p:nvPr/>
        </p:nvSpPr>
        <p:spPr>
          <a:xfrm>
            <a:off x="15691104" y="3063240"/>
            <a:ext cx="1581912" cy="1051560"/>
          </a:xfrm>
          <a:prstGeom prst="roundRect">
            <a:avLst>
              <a:gd name="adj" fmla="val 4347"/>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5691104" y="3063240"/>
            <a:ext cx="1581912" cy="1051560"/>
          </a:xfrm>
          <a:prstGeom prst="rect">
            <a:avLst/>
          </a:prstGeom>
          <a:noFill/>
        </p:spPr>
        <p:txBody>
          <a:bodyPr wrap="square" lIns="0" rIns="0" tIns="0" bIns="0" anchor="ctr">
            <a:spAutoFit/>
          </a:bodyPr>
          <a:lstStyle/>
          <a:p>
            <a:pPr algn="ctr">
              <a:lnSpc>
                <a:spcPct val="116000"/>
              </a:lnSpc>
              <a:spcBef>
                <a:spcPts val="0"/>
              </a:spcBef>
              <a:spcAft>
                <a:spcPts val="0"/>
              </a:spcAft>
            </a:pPr>
            <a:r>
              <a:rPr sz="1900" b="1" i="0">
                <a:solidFill>
                  <a:srgbClr val="FFFFFF"/>
                </a:solidFill>
                <a:latin typeface="Open Sans"/>
              </a:rPr>
              <a:t>10 %</a:t>
            </a:r>
          </a:p>
        </p:txBody>
      </p:sp>
      <p:sp>
        <p:nvSpPr>
          <p:cNvPr id="18" name="TextBox 17"/>
          <p:cNvSpPr txBox="1"/>
          <p:nvPr/>
        </p:nvSpPr>
        <p:spPr>
          <a:xfrm>
            <a:off x="15691104" y="2697480"/>
            <a:ext cx="1581912" cy="320040"/>
          </a:xfrm>
          <a:prstGeom prst="rect">
            <a:avLst/>
          </a:prstGeom>
          <a:noFill/>
        </p:spPr>
        <p:txBody>
          <a:bodyPr wrap="square" lIns="0" rIns="0" tIns="0" bIns="0" anchor="t">
            <a:spAutoFit/>
          </a:bodyPr>
          <a:lstStyle/>
          <a:p>
            <a:pPr algn="ctr">
              <a:lnSpc>
                <a:spcPct val="116000"/>
              </a:lnSpc>
              <a:spcBef>
                <a:spcPts val="0"/>
              </a:spcBef>
              <a:spcAft>
                <a:spcPts val="0"/>
              </a:spcAft>
            </a:pPr>
            <a:r>
              <a:rPr sz="1450" b="1" i="0">
                <a:solidFill>
                  <a:srgbClr val="13161B"/>
                </a:solidFill>
                <a:latin typeface="Open Sans"/>
              </a:rPr>
              <a:t>Prueba ciega</a:t>
            </a:r>
          </a:p>
        </p:txBody>
      </p:sp>
      <p:sp>
        <p:nvSpPr>
          <p:cNvPr id="19" name="TextBox 18"/>
          <p:cNvSpPr txBox="1"/>
          <p:nvPr/>
        </p:nvSpPr>
        <p:spPr>
          <a:xfrm>
            <a:off x="960120" y="4224528"/>
            <a:ext cx="13094208" cy="320040"/>
          </a:xfrm>
          <a:prstGeom prst="rect">
            <a:avLst/>
          </a:prstGeom>
          <a:noFill/>
        </p:spPr>
        <p:txBody>
          <a:bodyPr wrap="square" lIns="0" rIns="0" tIns="0" bIns="0" anchor="t">
            <a:spAutoFit/>
          </a:bodyPr>
          <a:lstStyle/>
          <a:p>
            <a:pPr algn="l">
              <a:lnSpc>
                <a:spcPct val="116000"/>
              </a:lnSpc>
              <a:spcBef>
                <a:spcPts val="0"/>
              </a:spcBef>
              <a:spcAft>
                <a:spcPts val="0"/>
              </a:spcAft>
            </a:pPr>
            <a:r>
              <a:rPr sz="1300" b="0" i="0">
                <a:solidFill>
                  <a:srgbClr val="6E6E6E"/>
                </a:solidFill>
                <a:latin typeface="Open Sans"/>
              </a:rPr>
              <a:t>Enero 2020  →  corte de calibración: enero 2025</a:t>
            </a:r>
          </a:p>
        </p:txBody>
      </p:sp>
      <p:sp>
        <p:nvSpPr>
          <p:cNvPr id="20" name="TextBox 19"/>
          <p:cNvSpPr txBox="1"/>
          <p:nvPr/>
        </p:nvSpPr>
        <p:spPr>
          <a:xfrm>
            <a:off x="11841480" y="4224528"/>
            <a:ext cx="5486400" cy="320040"/>
          </a:xfrm>
          <a:prstGeom prst="rect">
            <a:avLst/>
          </a:prstGeom>
          <a:noFill/>
        </p:spPr>
        <p:txBody>
          <a:bodyPr wrap="square" lIns="0" rIns="0" tIns="0" bIns="0" anchor="t">
            <a:spAutoFit/>
          </a:bodyPr>
          <a:lstStyle/>
          <a:p>
            <a:pPr algn="r">
              <a:lnSpc>
                <a:spcPct val="116000"/>
              </a:lnSpc>
              <a:spcBef>
                <a:spcPts val="0"/>
              </a:spcBef>
              <a:spcAft>
                <a:spcPts val="0"/>
              </a:spcAft>
            </a:pPr>
            <a:r>
              <a:rPr sz="1300" b="1" i="0">
                <a:solidFill>
                  <a:srgbClr val="005F91"/>
                </a:solidFill>
                <a:latin typeface="Open Sans"/>
              </a:rPr>
              <a:t>Febrero – agosto 2025  ·  7 meses fuera de muestra</a:t>
            </a:r>
          </a:p>
        </p:txBody>
      </p:sp>
      <p:sp>
        <p:nvSpPr>
          <p:cNvPr id="21" name="Rounded Rectangle 20"/>
          <p:cNvSpPr/>
          <p:nvPr/>
        </p:nvSpPr>
        <p:spPr>
          <a:xfrm>
            <a:off x="960120" y="5029200"/>
            <a:ext cx="5239512" cy="2148840"/>
          </a:xfrm>
          <a:prstGeom prst="roundRect">
            <a:avLst>
              <a:gd name="adj" fmla="val 234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960120" y="5029200"/>
            <a:ext cx="68580" cy="214884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417320" y="5358384"/>
            <a:ext cx="4398264" cy="14904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Entrenamiento</a:t>
            </a:r>
          </a:p>
          <a:p>
            <a:pPr algn="l">
              <a:lnSpc>
                <a:spcPct val="124000"/>
              </a:lnSpc>
              <a:spcBef>
                <a:spcPts val="0"/>
              </a:spcBef>
              <a:spcAft>
                <a:spcPts val="0"/>
              </a:spcAft>
            </a:pPr>
            <a:r>
              <a:rPr sz="1400" b="0" i="0">
                <a:solidFill>
                  <a:srgbClr val="394049"/>
                </a:solidFill>
                <a:latin typeface="Open Sans"/>
              </a:rPr>
              <a:t>Aprende los patrones históricos de nivel, estacionalidad y respuesta comercial.</a:t>
            </a:r>
          </a:p>
        </p:txBody>
      </p:sp>
      <p:sp>
        <p:nvSpPr>
          <p:cNvPr id="24" name="Rounded Rectangle 23"/>
          <p:cNvSpPr/>
          <p:nvPr/>
        </p:nvSpPr>
        <p:spPr>
          <a:xfrm>
            <a:off x="6519672" y="5029200"/>
            <a:ext cx="5239512" cy="2148840"/>
          </a:xfrm>
          <a:prstGeom prst="roundRect">
            <a:avLst>
              <a:gd name="adj" fmla="val 234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Rectangle 24"/>
          <p:cNvSpPr/>
          <p:nvPr/>
        </p:nvSpPr>
        <p:spPr>
          <a:xfrm>
            <a:off x="6519672" y="5029200"/>
            <a:ext cx="68580" cy="214884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6976872" y="5358384"/>
            <a:ext cx="4398264" cy="14904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Validación</a:t>
            </a:r>
          </a:p>
          <a:p>
            <a:pPr algn="l">
              <a:lnSpc>
                <a:spcPct val="124000"/>
              </a:lnSpc>
              <a:spcBef>
                <a:spcPts val="0"/>
              </a:spcBef>
              <a:spcAft>
                <a:spcPts val="0"/>
              </a:spcAft>
            </a:pPr>
            <a:r>
              <a:rPr sz="1400" b="0" i="0">
                <a:solidFill>
                  <a:srgbClr val="394049"/>
                </a:solidFill>
                <a:latin typeface="Open Sans"/>
              </a:rPr>
              <a:t>Calibra pesos NNLS del ensamble y el umbral de ruteo τ* sin observar el futuro.</a:t>
            </a:r>
          </a:p>
        </p:txBody>
      </p:sp>
      <p:sp>
        <p:nvSpPr>
          <p:cNvPr id="27" name="Rounded Rectangle 26"/>
          <p:cNvSpPr/>
          <p:nvPr/>
        </p:nvSpPr>
        <p:spPr>
          <a:xfrm>
            <a:off x="12079224" y="5029200"/>
            <a:ext cx="5239512" cy="2148840"/>
          </a:xfrm>
          <a:prstGeom prst="roundRect">
            <a:avLst>
              <a:gd name="adj" fmla="val 234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Rectangle 27"/>
          <p:cNvSpPr/>
          <p:nvPr/>
        </p:nvSpPr>
        <p:spPr>
          <a:xfrm>
            <a:off x="12079224" y="5029200"/>
            <a:ext cx="68580" cy="214884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12536424" y="5358384"/>
            <a:ext cx="4398264" cy="14904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Prueba ciega</a:t>
            </a:r>
          </a:p>
          <a:p>
            <a:pPr algn="l">
              <a:lnSpc>
                <a:spcPct val="124000"/>
              </a:lnSpc>
              <a:spcBef>
                <a:spcPts val="0"/>
              </a:spcBef>
              <a:spcAft>
                <a:spcPts val="0"/>
              </a:spcAft>
            </a:pPr>
            <a:r>
              <a:rPr sz="1400" b="0" i="0">
                <a:solidFill>
                  <a:srgbClr val="394049"/>
                </a:solidFill>
                <a:latin typeface="Open Sans"/>
              </a:rPr>
              <a:t>Horizonte h = 1: cada mes se pronostica a un mes vista, encadenando siete orígenes con los pesos congelados.</a:t>
            </a:r>
          </a:p>
        </p:txBody>
      </p:sp>
      <p:sp>
        <p:nvSpPr>
          <p:cNvPr id="30" name="Rounded Rectangle 29"/>
          <p:cNvSpPr/>
          <p:nvPr/>
        </p:nvSpPr>
        <p:spPr>
          <a:xfrm>
            <a:off x="960120" y="7452360"/>
            <a:ext cx="16367759" cy="1463040"/>
          </a:xfrm>
          <a:prstGeom prst="roundRect">
            <a:avLst>
              <a:gd name="adj" fmla="val 3437"/>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1417320" y="7452360"/>
            <a:ext cx="15453359" cy="1463040"/>
          </a:xfrm>
          <a:prstGeom prst="rect">
            <a:avLst/>
          </a:prstGeom>
          <a:noFill/>
        </p:spPr>
        <p:txBody>
          <a:bodyPr wrap="square" lIns="0" rIns="0" tIns="0" bIns="0" anchor="ctr">
            <a:spAutoFit/>
          </a:bodyPr>
          <a:lstStyle/>
          <a:p>
            <a:pPr algn="ctr">
              <a:lnSpc>
                <a:spcPct val="118000"/>
              </a:lnSpc>
              <a:spcBef>
                <a:spcPts val="0"/>
              </a:spcBef>
              <a:spcAft>
                <a:spcPts val="0"/>
              </a:spcAft>
            </a:pPr>
            <a:r>
              <a:rPr sz="1550" b="1" i="0">
                <a:solidFill>
                  <a:srgbClr val="FFFFFF"/>
                </a:solidFill>
                <a:latin typeface="Open Sans"/>
              </a:rPr>
              <a:t>En series de tiempo el orden temporal es innegociable: partición estrictamente cronológica, rezagos seguros en t−1 y pesos congelados desde el corte. Cualquier aleatorización filtraría el futuro hacia el pasado.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04   METODOLOGÍA Y ARQUITECTURA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Fase 0 · La frontera de información</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0120" y="2103120"/>
            <a:ext cx="14076273" cy="457200"/>
          </a:xfrm>
          <a:prstGeom prst="rect">
            <a:avLst/>
          </a:prstGeom>
          <a:noFill/>
        </p:spPr>
        <p:txBody>
          <a:bodyPr wrap="square" lIns="0" rIns="0" tIns="0" bIns="0" anchor="t">
            <a:spAutoFit/>
          </a:bodyPr>
          <a:lstStyle/>
          <a:p>
            <a:pPr algn="l">
              <a:lnSpc>
                <a:spcPct val="120000"/>
              </a:lnSpc>
              <a:spcBef>
                <a:spcPts val="0"/>
              </a:spcBef>
              <a:spcAft>
                <a:spcPts val="0"/>
              </a:spcAft>
            </a:pPr>
            <a:r>
              <a:rPr sz="1650" b="0" i="0">
                <a:solidFill>
                  <a:srgbClr val="6E6E6E"/>
                </a:solidFill>
                <a:latin typeface="Open Sans"/>
              </a:rPr>
              <a:t>La etapa que consumió más tiempo del proyecto: garantizar que ninguna variable conozca el futuro.</a:t>
            </a:r>
          </a:p>
        </p:txBody>
      </p:sp>
      <p:cxnSp>
        <p:nvCxnSpPr>
          <p:cNvPr id="8" name="Connector 7"/>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10" name="TextBox 9"/>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11</a:t>
            </a:r>
          </a:p>
        </p:txBody>
      </p:sp>
      <p:sp>
        <p:nvSpPr>
          <p:cNvPr id="11" name="Rounded Rectangle 10"/>
          <p:cNvSpPr/>
          <p:nvPr/>
        </p:nvSpPr>
        <p:spPr>
          <a:xfrm>
            <a:off x="960120" y="2971800"/>
            <a:ext cx="11795760" cy="548640"/>
          </a:xfrm>
          <a:prstGeom prst="roundRect">
            <a:avLst>
              <a:gd name="adj" fmla="val 8333"/>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960120" y="2971800"/>
            <a:ext cx="11795760" cy="548640"/>
          </a:xfrm>
          <a:prstGeom prst="rect">
            <a:avLst/>
          </a:prstGeom>
          <a:noFill/>
        </p:spPr>
        <p:txBody>
          <a:bodyPr wrap="square" lIns="0" rIns="0" tIns="0" bIns="0" anchor="ctr">
            <a:spAutoFit/>
          </a:bodyPr>
          <a:lstStyle/>
          <a:p>
            <a:pPr algn="ctr">
              <a:lnSpc>
                <a:spcPct val="116000"/>
              </a:lnSpc>
              <a:spcBef>
                <a:spcPts val="0"/>
              </a:spcBef>
              <a:spcAft>
                <a:spcPts val="0"/>
              </a:spcAft>
            </a:pPr>
            <a:r>
              <a:rPr sz="1350" b="1" i="0" spc="200">
                <a:solidFill>
                  <a:srgbClr val="FFFFFF"/>
                </a:solidFill>
                <a:latin typeface="Open Sans"/>
              </a:rPr>
              <a:t>INFORMACIÓN DISPONIBLE  ·  HASTA t−1</a:t>
            </a:r>
          </a:p>
        </p:txBody>
      </p:sp>
      <p:sp>
        <p:nvSpPr>
          <p:cNvPr id="13" name="Rounded Rectangle 12"/>
          <p:cNvSpPr/>
          <p:nvPr/>
        </p:nvSpPr>
        <p:spPr>
          <a:xfrm>
            <a:off x="13121640" y="2971800"/>
            <a:ext cx="4206240" cy="548640"/>
          </a:xfrm>
          <a:prstGeom prst="roundRect">
            <a:avLst>
              <a:gd name="adj" fmla="val 8333"/>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3121640" y="2971800"/>
            <a:ext cx="4206240" cy="548640"/>
          </a:xfrm>
          <a:prstGeom prst="rect">
            <a:avLst/>
          </a:prstGeom>
          <a:noFill/>
        </p:spPr>
        <p:txBody>
          <a:bodyPr wrap="square" lIns="0" rIns="0" tIns="0" bIns="0" anchor="ctr">
            <a:spAutoFit/>
          </a:bodyPr>
          <a:lstStyle/>
          <a:p>
            <a:pPr algn="ctr">
              <a:lnSpc>
                <a:spcPct val="116000"/>
              </a:lnSpc>
              <a:spcBef>
                <a:spcPts val="0"/>
              </a:spcBef>
              <a:spcAft>
                <a:spcPts val="0"/>
              </a:spcAft>
            </a:pPr>
            <a:r>
              <a:rPr sz="1350" b="1" i="0" spc="200">
                <a:solidFill>
                  <a:srgbClr val="FFFFFF"/>
                </a:solidFill>
                <a:latin typeface="Open Sans"/>
              </a:rPr>
              <a:t>MES t  ·  POR PRONOSTICAR</a:t>
            </a:r>
          </a:p>
        </p:txBody>
      </p:sp>
      <p:cxnSp>
        <p:nvCxnSpPr>
          <p:cNvPr id="15" name="Connector 14"/>
          <p:cNvCxnSpPr/>
          <p:nvPr/>
        </p:nvCxnSpPr>
        <p:spPr>
          <a:xfrm>
            <a:off x="12938760" y="2880360"/>
            <a:ext cx="0" cy="2377440"/>
          </a:xfrm>
          <a:prstGeom prst="line">
            <a:avLst/>
          </a:prstGeom>
          <a:ln w="25400">
            <a:solidFill>
              <a:srgbClr val="D1012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0120" y="3703320"/>
            <a:ext cx="2788920" cy="1371600"/>
          </a:xfrm>
          <a:prstGeom prst="roundRect">
            <a:avLst>
              <a:gd name="adj" fmla="val 3333"/>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143000" y="3703320"/>
            <a:ext cx="2423160" cy="1371600"/>
          </a:xfrm>
          <a:prstGeom prst="rect">
            <a:avLst/>
          </a:prstGeom>
          <a:noFill/>
        </p:spPr>
        <p:txBody>
          <a:bodyPr wrap="square" lIns="0" rIns="0" tIns="0" bIns="0" anchor="ctr">
            <a:spAutoFit/>
          </a:bodyPr>
          <a:lstStyle/>
          <a:p>
            <a:pPr algn="ctr">
              <a:lnSpc>
                <a:spcPct val="122000"/>
              </a:lnSpc>
              <a:spcBef>
                <a:spcPts val="0"/>
              </a:spcBef>
              <a:spcAft>
                <a:spcPts val="0"/>
              </a:spcAft>
            </a:pPr>
            <a:r>
              <a:rPr sz="1350" b="0" i="0">
                <a:solidFill>
                  <a:srgbClr val="394049"/>
                </a:solidFill>
                <a:latin typeface="Open Sans"/>
              </a:rPr>
              <a:t>Demanda rezagada</a:t>
            </a:r>
          </a:p>
          <a:p>
            <a:pPr algn="ctr">
              <a:lnSpc>
                <a:spcPct val="122000"/>
              </a:lnSpc>
              <a:spcBef>
                <a:spcPts val="0"/>
              </a:spcBef>
              <a:spcAft>
                <a:spcPts val="0"/>
              </a:spcAft>
            </a:pPr>
            <a:r>
              <a:rPr sz="1350" b="0" i="0">
                <a:solidFill>
                  <a:srgbClr val="394049"/>
                </a:solidFill>
                <a:latin typeface="Open Sans"/>
              </a:rPr>
              <a:t>t−1 y t−12</a:t>
            </a:r>
          </a:p>
        </p:txBody>
      </p:sp>
      <p:sp>
        <p:nvSpPr>
          <p:cNvPr id="18" name="Rounded Rectangle 17"/>
          <p:cNvSpPr/>
          <p:nvPr/>
        </p:nvSpPr>
        <p:spPr>
          <a:xfrm>
            <a:off x="3950208" y="3703320"/>
            <a:ext cx="2788920" cy="1371600"/>
          </a:xfrm>
          <a:prstGeom prst="roundRect">
            <a:avLst>
              <a:gd name="adj" fmla="val 3333"/>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4133088" y="3703320"/>
            <a:ext cx="2423160" cy="1371600"/>
          </a:xfrm>
          <a:prstGeom prst="rect">
            <a:avLst/>
          </a:prstGeom>
          <a:noFill/>
        </p:spPr>
        <p:txBody>
          <a:bodyPr wrap="square" lIns="0" rIns="0" tIns="0" bIns="0" anchor="ctr">
            <a:spAutoFit/>
          </a:bodyPr>
          <a:lstStyle/>
          <a:p>
            <a:pPr algn="ctr">
              <a:lnSpc>
                <a:spcPct val="122000"/>
              </a:lnSpc>
              <a:spcBef>
                <a:spcPts val="0"/>
              </a:spcBef>
              <a:spcAft>
                <a:spcPts val="0"/>
              </a:spcAft>
            </a:pPr>
            <a:r>
              <a:rPr sz="1350" b="0" i="0">
                <a:solidFill>
                  <a:srgbClr val="394049"/>
                </a:solidFill>
                <a:latin typeface="Open Sans"/>
              </a:rPr>
              <a:t>Medias móviles</a:t>
            </a:r>
          </a:p>
          <a:p>
            <a:pPr algn="ctr">
              <a:lnSpc>
                <a:spcPct val="122000"/>
              </a:lnSpc>
              <a:spcBef>
                <a:spcPts val="0"/>
              </a:spcBef>
              <a:spcAft>
                <a:spcPts val="0"/>
              </a:spcAft>
            </a:pPr>
            <a:r>
              <a:rPr sz="1350" b="0" i="0">
                <a:solidFill>
                  <a:srgbClr val="394049"/>
                </a:solidFill>
                <a:latin typeface="Open Sans"/>
              </a:rPr>
              <a:t>de 3 y 12 meses</a:t>
            </a:r>
          </a:p>
        </p:txBody>
      </p:sp>
      <p:sp>
        <p:nvSpPr>
          <p:cNvPr id="20" name="Rounded Rectangle 19"/>
          <p:cNvSpPr/>
          <p:nvPr/>
        </p:nvSpPr>
        <p:spPr>
          <a:xfrm>
            <a:off x="6940296" y="3703320"/>
            <a:ext cx="2788920" cy="1371600"/>
          </a:xfrm>
          <a:prstGeom prst="roundRect">
            <a:avLst>
              <a:gd name="adj" fmla="val 3333"/>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7123176" y="3703320"/>
            <a:ext cx="2423160" cy="1371600"/>
          </a:xfrm>
          <a:prstGeom prst="rect">
            <a:avLst/>
          </a:prstGeom>
          <a:noFill/>
        </p:spPr>
        <p:txBody>
          <a:bodyPr wrap="square" lIns="0" rIns="0" tIns="0" bIns="0" anchor="ctr">
            <a:spAutoFit/>
          </a:bodyPr>
          <a:lstStyle/>
          <a:p>
            <a:pPr algn="ctr">
              <a:lnSpc>
                <a:spcPct val="122000"/>
              </a:lnSpc>
              <a:spcBef>
                <a:spcPts val="0"/>
              </a:spcBef>
              <a:spcAft>
                <a:spcPts val="0"/>
              </a:spcAft>
            </a:pPr>
            <a:r>
              <a:rPr sz="1350" b="0" i="0">
                <a:solidFill>
                  <a:srgbClr val="394049"/>
                </a:solidFill>
                <a:latin typeface="Open Sans"/>
              </a:rPr>
              <a:t>IPC de vestuario</a:t>
            </a:r>
          </a:p>
          <a:p>
            <a:pPr algn="ctr">
              <a:lnSpc>
                <a:spcPct val="122000"/>
              </a:lnSpc>
              <a:spcBef>
                <a:spcPts val="0"/>
              </a:spcBef>
              <a:spcAft>
                <a:spcPts val="0"/>
              </a:spcAft>
            </a:pPr>
            <a:r>
              <a:rPr sz="1350" b="0" i="0">
                <a:solidFill>
                  <a:srgbClr val="394049"/>
                </a:solidFill>
                <a:latin typeface="Open Sans"/>
              </a:rPr>
              <a:t>y macro en t−1</a:t>
            </a:r>
          </a:p>
        </p:txBody>
      </p:sp>
      <p:sp>
        <p:nvSpPr>
          <p:cNvPr id="22" name="Rounded Rectangle 21"/>
          <p:cNvSpPr/>
          <p:nvPr/>
        </p:nvSpPr>
        <p:spPr>
          <a:xfrm>
            <a:off x="9930384" y="3703320"/>
            <a:ext cx="2788920" cy="1371600"/>
          </a:xfrm>
          <a:prstGeom prst="roundRect">
            <a:avLst>
              <a:gd name="adj" fmla="val 3333"/>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0113264" y="3703320"/>
            <a:ext cx="2423160" cy="1371600"/>
          </a:xfrm>
          <a:prstGeom prst="rect">
            <a:avLst/>
          </a:prstGeom>
          <a:noFill/>
        </p:spPr>
        <p:txBody>
          <a:bodyPr wrap="square" lIns="0" rIns="0" tIns="0" bIns="0" anchor="ctr">
            <a:spAutoFit/>
          </a:bodyPr>
          <a:lstStyle/>
          <a:p>
            <a:pPr algn="ctr">
              <a:lnSpc>
                <a:spcPct val="122000"/>
              </a:lnSpc>
              <a:spcBef>
                <a:spcPts val="0"/>
              </a:spcBef>
              <a:spcAft>
                <a:spcPts val="0"/>
              </a:spcAft>
            </a:pPr>
            <a:r>
              <a:rPr sz="1350" b="0" i="0">
                <a:solidFill>
                  <a:srgbClr val="394049"/>
                </a:solidFill>
                <a:latin typeface="Open Sans"/>
              </a:rPr>
              <a:t>Meses desde</a:t>
            </a:r>
          </a:p>
          <a:p>
            <a:pPr algn="ctr">
              <a:lnSpc>
                <a:spcPct val="122000"/>
              </a:lnSpc>
              <a:spcBef>
                <a:spcPts val="0"/>
              </a:spcBef>
              <a:spcAft>
                <a:spcPts val="0"/>
              </a:spcAft>
            </a:pPr>
            <a:r>
              <a:rPr sz="1350" b="0" i="0">
                <a:solidFill>
                  <a:srgbClr val="394049"/>
                </a:solidFill>
                <a:latin typeface="Open Sans"/>
              </a:rPr>
              <a:t>la última venta</a:t>
            </a:r>
          </a:p>
        </p:txBody>
      </p:sp>
      <p:sp>
        <p:nvSpPr>
          <p:cNvPr id="24" name="Rounded Rectangle 23"/>
          <p:cNvSpPr/>
          <p:nvPr/>
        </p:nvSpPr>
        <p:spPr>
          <a:xfrm>
            <a:off x="13121640" y="3703320"/>
            <a:ext cx="4206240" cy="1371600"/>
          </a:xfrm>
          <a:prstGeom prst="roundRect">
            <a:avLst>
              <a:gd name="adj" fmla="val 3333"/>
            </a:avLst>
          </a:prstGeom>
          <a:solidFill>
            <a:srgbClr val="FDECEF"/>
          </a:solidFill>
          <a:ln w="9525">
            <a:solidFill>
              <a:srgbClr val="D10120"/>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13304520" y="3703320"/>
            <a:ext cx="3840480" cy="1371600"/>
          </a:xfrm>
          <a:prstGeom prst="rect">
            <a:avLst/>
          </a:prstGeom>
          <a:noFill/>
        </p:spPr>
        <p:txBody>
          <a:bodyPr wrap="square" lIns="0" rIns="0" tIns="0" bIns="0" anchor="ctr">
            <a:spAutoFit/>
          </a:bodyPr>
          <a:lstStyle/>
          <a:p>
            <a:pPr algn="ctr">
              <a:lnSpc>
                <a:spcPct val="116000"/>
              </a:lnSpc>
              <a:spcBef>
                <a:spcPts val="0"/>
              </a:spcBef>
              <a:spcAft>
                <a:spcPts val="400"/>
              </a:spcAft>
            </a:pPr>
            <a:r>
              <a:rPr sz="1400" b="1" i="0">
                <a:solidFill>
                  <a:srgbClr val="D10120"/>
                </a:solidFill>
                <a:latin typeface="Open Sans"/>
              </a:rPr>
              <a:t>Plan comercial ex-ante</a:t>
            </a:r>
          </a:p>
          <a:p>
            <a:pPr algn="ctr">
              <a:lnSpc>
                <a:spcPct val="120000"/>
              </a:lnSpc>
              <a:spcBef>
                <a:spcPts val="0"/>
              </a:spcBef>
              <a:spcAft>
                <a:spcPts val="0"/>
              </a:spcAft>
            </a:pPr>
            <a:r>
              <a:rPr sz="1250" b="0" i="0">
                <a:solidFill>
                  <a:srgbClr val="394049"/>
                </a:solidFill>
                <a:latin typeface="Open Sans"/>
              </a:rPr>
              <a:t>precio y descuento del mes t: única señal del presente, porque la decide la empresa</a:t>
            </a:r>
          </a:p>
        </p:txBody>
      </p:sp>
      <p:sp>
        <p:nvSpPr>
          <p:cNvPr id="26" name="Rounded Rectangle 25"/>
          <p:cNvSpPr/>
          <p:nvPr/>
        </p:nvSpPr>
        <p:spPr>
          <a:xfrm>
            <a:off x="960120" y="5440680"/>
            <a:ext cx="5239512" cy="2377440"/>
          </a:xfrm>
          <a:prstGeom prst="roundRect">
            <a:avLst>
              <a:gd name="adj" fmla="val 211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960120" y="5440680"/>
            <a:ext cx="68580" cy="237744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1417320" y="5769864"/>
            <a:ext cx="4398264" cy="1719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Auditoría variable por variable</a:t>
            </a:r>
          </a:p>
          <a:p>
            <a:pPr algn="l">
              <a:lnSpc>
                <a:spcPct val="124000"/>
              </a:lnSpc>
              <a:spcBef>
                <a:spcPts val="0"/>
              </a:spcBef>
              <a:spcAft>
                <a:spcPts val="0"/>
              </a:spcAft>
            </a:pPr>
            <a:r>
              <a:rPr sz="1380" b="0" i="0">
                <a:solidFill>
                  <a:srgbClr val="394049"/>
                </a:solidFill>
                <a:latin typeface="Open Sans"/>
              </a:rPr>
              <a:t>Se revisó una a una la disponibilidad temporal de cada variable y de cada transformación: medias móviles, agregaciones y escalados pueden arrastrar señal del mes t sin que se note.</a:t>
            </a:r>
          </a:p>
        </p:txBody>
      </p:sp>
      <p:sp>
        <p:nvSpPr>
          <p:cNvPr id="29" name="Rounded Rectangle 28"/>
          <p:cNvSpPr/>
          <p:nvPr/>
        </p:nvSpPr>
        <p:spPr>
          <a:xfrm>
            <a:off x="6519672" y="5440680"/>
            <a:ext cx="5239512" cy="2377440"/>
          </a:xfrm>
          <a:prstGeom prst="roundRect">
            <a:avLst>
              <a:gd name="adj" fmla="val 211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Rectangle 29"/>
          <p:cNvSpPr/>
          <p:nvPr/>
        </p:nvSpPr>
        <p:spPr>
          <a:xfrm>
            <a:off x="6519672" y="5440680"/>
            <a:ext cx="68580" cy="237744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TextBox 30"/>
          <p:cNvSpPr txBox="1"/>
          <p:nvPr/>
        </p:nvSpPr>
        <p:spPr>
          <a:xfrm>
            <a:off x="6976872" y="5769864"/>
            <a:ext cx="4398264" cy="1719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Decenas de iteraciones</a:t>
            </a:r>
          </a:p>
          <a:p>
            <a:pPr algn="l">
              <a:lnSpc>
                <a:spcPct val="124000"/>
              </a:lnSpc>
              <a:spcBef>
                <a:spcPts val="0"/>
              </a:spcBef>
              <a:spcAft>
                <a:spcPts val="0"/>
              </a:spcAft>
            </a:pPr>
            <a:r>
              <a:rPr sz="1380" b="0" i="0">
                <a:solidFill>
                  <a:srgbClr val="394049"/>
                </a:solidFill>
                <a:latin typeface="Open Sans"/>
              </a:rPr>
              <a:t>Cada corrección de rezago cambiaba el comportamiento del ensamble. La arquitectura final es el resultado de ese ciclo de revisión, reajuste y nueva medición.</a:t>
            </a:r>
          </a:p>
        </p:txBody>
      </p:sp>
      <p:sp>
        <p:nvSpPr>
          <p:cNvPr id="32" name="Rounded Rectangle 31"/>
          <p:cNvSpPr/>
          <p:nvPr/>
        </p:nvSpPr>
        <p:spPr>
          <a:xfrm>
            <a:off x="12079224" y="5440680"/>
            <a:ext cx="5239512" cy="2377440"/>
          </a:xfrm>
          <a:prstGeom prst="roundRect">
            <a:avLst>
              <a:gd name="adj" fmla="val 211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Rectangle 32"/>
          <p:cNvSpPr/>
          <p:nvPr/>
        </p:nvSpPr>
        <p:spPr>
          <a:xfrm>
            <a:off x="12079224" y="5440680"/>
            <a:ext cx="68580" cy="237744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TextBox 33"/>
          <p:cNvSpPr txBox="1"/>
          <p:nvPr/>
        </p:nvSpPr>
        <p:spPr>
          <a:xfrm>
            <a:off x="12536424" y="5769864"/>
            <a:ext cx="4398264" cy="1719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Pruebas automatizadas de integridad</a:t>
            </a:r>
          </a:p>
          <a:p>
            <a:pPr algn="l">
              <a:lnSpc>
                <a:spcPct val="124000"/>
              </a:lnSpc>
              <a:spcBef>
                <a:spcPts val="0"/>
              </a:spcBef>
              <a:spcAft>
                <a:spcPts val="0"/>
              </a:spcAft>
            </a:pPr>
            <a:r>
              <a:rPr sz="1380" b="0" i="0">
                <a:solidFill>
                  <a:srgbClr val="394049"/>
                </a:solidFill>
                <a:latin typeface="Open Sans"/>
              </a:rPr>
              <a:t>Una batería de tests verifica los rezagos en cada corrida. Las variables identificadas como fuente de fuga se eliminaron o se rezagaron antes de volver a entrenar.</a:t>
            </a:r>
          </a:p>
        </p:txBody>
      </p:sp>
      <p:sp>
        <p:nvSpPr>
          <p:cNvPr id="35" name="Rounded Rectangle 34"/>
          <p:cNvSpPr/>
          <p:nvPr/>
        </p:nvSpPr>
        <p:spPr>
          <a:xfrm>
            <a:off x="960120" y="8001000"/>
            <a:ext cx="16367759" cy="1143000"/>
          </a:xfrm>
          <a:prstGeom prst="roundRect">
            <a:avLst>
              <a:gd name="adj" fmla="val 4400"/>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1417320" y="8001000"/>
            <a:ext cx="15453359" cy="1143000"/>
          </a:xfrm>
          <a:prstGeom prst="rect">
            <a:avLst/>
          </a:prstGeom>
          <a:noFill/>
        </p:spPr>
        <p:txBody>
          <a:bodyPr wrap="square" lIns="0" rIns="0" tIns="0" bIns="0" anchor="ctr">
            <a:spAutoFit/>
          </a:bodyPr>
          <a:lstStyle/>
          <a:p>
            <a:pPr algn="ctr">
              <a:lnSpc>
                <a:spcPct val="118000"/>
              </a:lnSpc>
              <a:spcBef>
                <a:spcPts val="0"/>
              </a:spcBef>
              <a:spcAft>
                <a:spcPts val="0"/>
              </a:spcAft>
            </a:pPr>
            <a:r>
              <a:rPr sz="1600" b="1" i="0">
                <a:solidFill>
                  <a:srgbClr val="FFFFFF"/>
                </a:solidFill>
                <a:latin typeface="Open Sans"/>
              </a:rPr>
              <a:t>Sin esta fase, cualquier resultado sería un artefacto: un modelo que ve el futuro siempre gana en el papel y falla en producción. El 16,10 % vale porque se obtuvo bajo esta restricción.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04   METODOLOGÍA Y ARQUITECTURA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Diez arquitecturas, un mismo protocolo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0120" y="2103120"/>
            <a:ext cx="14076273" cy="457200"/>
          </a:xfrm>
          <a:prstGeom prst="rect">
            <a:avLst/>
          </a:prstGeom>
          <a:noFill/>
        </p:spPr>
        <p:txBody>
          <a:bodyPr wrap="square" lIns="0" rIns="0" tIns="0" bIns="0" anchor="t">
            <a:spAutoFit/>
          </a:bodyPr>
          <a:lstStyle/>
          <a:p>
            <a:pPr algn="l">
              <a:lnSpc>
                <a:spcPct val="120000"/>
              </a:lnSpc>
              <a:spcBef>
                <a:spcPts val="0"/>
              </a:spcBef>
              <a:spcAft>
                <a:spcPts val="0"/>
              </a:spcAft>
            </a:pPr>
            <a:r>
              <a:rPr sz="1650" b="0" i="0">
                <a:solidFill>
                  <a:srgbClr val="6E6E6E"/>
                </a:solidFill>
                <a:latin typeface="Open Sans"/>
              </a:rPr>
              <a:t>Desde la heurística estacional de 1970 hasta los modelos fundacionales pre-entrenados de 2024.</a:t>
            </a:r>
          </a:p>
        </p:txBody>
      </p:sp>
      <p:cxnSp>
        <p:nvCxnSpPr>
          <p:cNvPr id="8" name="Connector 7"/>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10" name="TextBox 9"/>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12</a:t>
            </a:r>
          </a:p>
        </p:txBody>
      </p:sp>
      <p:sp>
        <p:nvSpPr>
          <p:cNvPr id="11" name="Rounded Rectangle 10"/>
          <p:cNvSpPr/>
          <p:nvPr/>
        </p:nvSpPr>
        <p:spPr>
          <a:xfrm>
            <a:off x="3063240" y="2788920"/>
            <a:ext cx="12161520" cy="5623560"/>
          </a:xfrm>
          <a:prstGeom prst="roundRect">
            <a:avLst>
              <a:gd name="adj" fmla="val 97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2" name="Picture 11" descr="image4.png"/>
          <p:cNvPicPr>
            <a:picLocks noChangeAspect="1"/>
          </p:cNvPicPr>
          <p:nvPr/>
        </p:nvPicPr>
        <p:blipFill>
          <a:blip r:embed="rId2"/>
          <a:stretch>
            <a:fillRect/>
          </a:stretch>
        </p:blipFill>
        <p:spPr>
          <a:xfrm>
            <a:off x="4283513" y="3063240"/>
            <a:ext cx="9720973" cy="5074920"/>
          </a:xfrm>
          <a:prstGeom prst="rect">
            <a:avLst/>
          </a:prstGeom>
        </p:spPr>
      </p:pic>
      <p:sp>
        <p:nvSpPr>
          <p:cNvPr id="13" name="Rounded Rectangle 12"/>
          <p:cNvSpPr/>
          <p:nvPr/>
        </p:nvSpPr>
        <p:spPr>
          <a:xfrm>
            <a:off x="960120" y="8549640"/>
            <a:ext cx="16367759" cy="612648"/>
          </a:xfrm>
          <a:prstGeom prst="roundRect">
            <a:avLst>
              <a:gd name="adj" fmla="val 8208"/>
            </a:avLst>
          </a:prstGeom>
          <a:solidFill>
            <a:srgbClr val="EF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417320" y="8549640"/>
            <a:ext cx="15453359" cy="612648"/>
          </a:xfrm>
          <a:prstGeom prst="rect">
            <a:avLst/>
          </a:prstGeom>
          <a:noFill/>
        </p:spPr>
        <p:txBody>
          <a:bodyPr wrap="square" lIns="0" rIns="0" tIns="0" bIns="0" anchor="ctr">
            <a:spAutoFit/>
          </a:bodyPr>
          <a:lstStyle/>
          <a:p>
            <a:pPr algn="ctr">
              <a:lnSpc>
                <a:spcPct val="118000"/>
              </a:lnSpc>
              <a:spcBef>
                <a:spcPts val="0"/>
              </a:spcBef>
              <a:spcAft>
                <a:spcPts val="0"/>
              </a:spcAft>
            </a:pPr>
            <a:r>
              <a:rPr sz="1450" b="0" i="0">
                <a:solidFill>
                  <a:srgbClr val="394049"/>
                </a:solidFill>
                <a:latin typeface="Open Sans"/>
              </a:rPr>
              <a:t>Todas las referencias se evalúan sobre la misma ventana, la misma jerarquía y la misma métrica: la comparación es una decisión de diseño, no un accidente.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04   METODOLOGÍA Y ARQUITECTURA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Arquitectura ES-GBM: dos tracks en paralelo, un ensamble ponderado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13</a:t>
            </a:r>
          </a:p>
        </p:txBody>
      </p:sp>
      <p:sp>
        <p:nvSpPr>
          <p:cNvPr id="10" name="Rounded Rectangle 9"/>
          <p:cNvSpPr/>
          <p:nvPr/>
        </p:nvSpPr>
        <p:spPr>
          <a:xfrm>
            <a:off x="3200400" y="2176272"/>
            <a:ext cx="11887200" cy="502920"/>
          </a:xfrm>
          <a:prstGeom prst="roundRect">
            <a:avLst>
              <a:gd name="adj" fmla="val 50000"/>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3346704" y="2176272"/>
            <a:ext cx="11594592" cy="502920"/>
          </a:xfrm>
          <a:prstGeom prst="rect">
            <a:avLst/>
          </a:prstGeom>
          <a:noFill/>
        </p:spPr>
        <p:txBody>
          <a:bodyPr wrap="square" lIns="0" rIns="0" tIns="0" bIns="0" anchor="ctr">
            <a:spAutoFit/>
          </a:bodyPr>
          <a:lstStyle/>
          <a:p>
            <a:pPr algn="ctr">
              <a:lnSpc>
                <a:spcPct val="110000"/>
              </a:lnSpc>
              <a:spcBef>
                <a:spcPts val="0"/>
              </a:spcBef>
              <a:spcAft>
                <a:spcPts val="0"/>
              </a:spcAft>
            </a:pPr>
            <a:r>
              <a:rPr sz="1350" b="1" i="0">
                <a:solidFill>
                  <a:srgbClr val="FFFFFF"/>
                </a:solidFill>
                <a:latin typeface="Open Sans"/>
              </a:rPr>
              <a:t>Fase 0  ·  Panel Familia × Fecha con variables auditadas y rezagadas</a:t>
            </a:r>
          </a:p>
        </p:txBody>
      </p:sp>
      <p:sp>
        <p:nvSpPr>
          <p:cNvPr id="12" name="Rounded Rectangle 11"/>
          <p:cNvSpPr/>
          <p:nvPr/>
        </p:nvSpPr>
        <p:spPr>
          <a:xfrm>
            <a:off x="960120" y="2852928"/>
            <a:ext cx="6309360" cy="2395728"/>
          </a:xfrm>
          <a:prstGeom prst="roundRect">
            <a:avLst>
              <a:gd name="adj" fmla="val 2099"/>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ounded Rectangle 12"/>
          <p:cNvSpPr/>
          <p:nvPr/>
        </p:nvSpPr>
        <p:spPr>
          <a:xfrm>
            <a:off x="960120" y="2852928"/>
            <a:ext cx="6309360" cy="457200"/>
          </a:xfrm>
          <a:prstGeom prst="roundRect">
            <a:avLst>
              <a:gd name="adj" fmla="val 11000"/>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960120" y="3108960"/>
            <a:ext cx="6309360" cy="201168"/>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960120" y="2852928"/>
            <a:ext cx="6309360" cy="457200"/>
          </a:xfrm>
          <a:prstGeom prst="rect">
            <a:avLst/>
          </a:prstGeom>
          <a:noFill/>
        </p:spPr>
        <p:txBody>
          <a:bodyPr wrap="square" lIns="0" rIns="0" tIns="0" bIns="0" anchor="ctr">
            <a:spAutoFit/>
          </a:bodyPr>
          <a:lstStyle/>
          <a:p>
            <a:pPr algn="ctr">
              <a:lnSpc>
                <a:spcPct val="116000"/>
              </a:lnSpc>
              <a:spcBef>
                <a:spcPts val="0"/>
              </a:spcBef>
              <a:spcAft>
                <a:spcPts val="0"/>
              </a:spcAft>
            </a:pPr>
            <a:r>
              <a:rPr sz="1150" b="1" i="0" spc="160">
                <a:solidFill>
                  <a:srgbClr val="FFFFFF"/>
                </a:solidFill>
                <a:latin typeface="Open Sans"/>
              </a:rPr>
              <a:t>CAPA 1  ·  SIN SUAVIZAMIENTO</a:t>
            </a:r>
          </a:p>
        </p:txBody>
      </p:sp>
      <p:sp>
        <p:nvSpPr>
          <p:cNvPr id="16" name="TextBox 15"/>
          <p:cNvSpPr txBox="1"/>
          <p:nvPr/>
        </p:nvSpPr>
        <p:spPr>
          <a:xfrm>
            <a:off x="1271016" y="3419856"/>
            <a:ext cx="5687568" cy="384048"/>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3161B"/>
                </a:solidFill>
                <a:latin typeface="Open Sans"/>
              </a:rPr>
              <a:t>Modelos sobre la serie directa</a:t>
            </a:r>
          </a:p>
        </p:txBody>
      </p:sp>
      <p:sp>
        <p:nvSpPr>
          <p:cNvPr id="17" name="TextBox 16"/>
          <p:cNvSpPr txBox="1"/>
          <p:nvPr/>
        </p:nvSpPr>
        <p:spPr>
          <a:xfrm>
            <a:off x="1271016" y="3877056"/>
            <a:ext cx="5687568" cy="1252728"/>
          </a:xfrm>
          <a:prstGeom prst="rect">
            <a:avLst/>
          </a:prstGeom>
          <a:noFill/>
        </p:spPr>
        <p:txBody>
          <a:bodyPr wrap="square" lIns="0" rIns="0" tIns="0" bIns="0" anchor="t">
            <a:spAutoFit/>
          </a:bodyPr>
          <a:lstStyle/>
          <a:p>
            <a:pPr algn="l" marL="219456" indent="-219456">
              <a:lnSpc>
                <a:spcPct val="118000"/>
              </a:lnSpc>
              <a:spcBef>
                <a:spcPts val="0"/>
              </a:spcBef>
              <a:spcAft>
                <a:spcPts val="500"/>
              </a:spcAft>
            </a:pPr>
            <a:r>
              <a:rPr sz="1260" b="0" i="0">
                <a:solidFill>
                  <a:srgbClr val="394049"/>
                </a:solidFill>
                <a:latin typeface="Open Sans"/>
              </a:rPr>
              <a:t>•	XGBoost · LightGBM · CatBoost</a:t>
            </a:r>
          </a:p>
          <a:p>
            <a:pPr algn="l" marL="219456" indent="-219456">
              <a:lnSpc>
                <a:spcPct val="118000"/>
              </a:lnSpc>
              <a:spcBef>
                <a:spcPts val="0"/>
              </a:spcBef>
              <a:spcAft>
                <a:spcPts val="500"/>
              </a:spcAft>
            </a:pPr>
            <a:r>
              <a:rPr sz="1260" b="0" i="0">
                <a:solidFill>
                  <a:srgbClr val="394049"/>
                </a:solidFill>
                <a:latin typeface="Open Sans"/>
              </a:rPr>
              <a:t>•	Escala arcsinh con decay de 24 meses</a:t>
            </a:r>
          </a:p>
          <a:p>
            <a:pPr algn="l" marL="219456" indent="-219456">
              <a:lnSpc>
                <a:spcPct val="118000"/>
              </a:lnSpc>
              <a:spcBef>
                <a:spcPts val="0"/>
              </a:spcBef>
              <a:spcAft>
                <a:spcPts val="500"/>
              </a:spcAft>
            </a:pPr>
            <a:r>
              <a:rPr sz="1260" b="0" i="0">
                <a:solidFill>
                  <a:srgbClr val="394049"/>
                </a:solidFill>
                <a:latin typeface="Open Sans"/>
              </a:rPr>
              <a:t>•	Reactiva: sigue los giros bruscos</a:t>
            </a:r>
          </a:p>
          <a:p>
            <a:pPr algn="l" marL="219456" indent="-219456">
              <a:lnSpc>
                <a:spcPct val="118000"/>
              </a:lnSpc>
              <a:spcBef>
                <a:spcPts val="0"/>
              </a:spcBef>
              <a:spcAft>
                <a:spcPts val="500"/>
              </a:spcAft>
            </a:pPr>
            <a:r>
              <a:rPr sz="1260" b="0" i="0">
                <a:solidFill>
                  <a:srgbClr val="394049"/>
                </a:solidFill>
                <a:latin typeface="Open Sans"/>
              </a:rPr>
              <a:t>•	3 predicciones</a:t>
            </a:r>
          </a:p>
        </p:txBody>
      </p:sp>
      <p:sp>
        <p:nvSpPr>
          <p:cNvPr id="18" name="Rounded Rectangle 17"/>
          <p:cNvSpPr/>
          <p:nvPr/>
        </p:nvSpPr>
        <p:spPr>
          <a:xfrm>
            <a:off x="7543800" y="2852928"/>
            <a:ext cx="6309360" cy="2395728"/>
          </a:xfrm>
          <a:prstGeom prst="roundRect">
            <a:avLst>
              <a:gd name="adj" fmla="val 2099"/>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ounded Rectangle 18"/>
          <p:cNvSpPr/>
          <p:nvPr/>
        </p:nvSpPr>
        <p:spPr>
          <a:xfrm>
            <a:off x="7543800" y="2852928"/>
            <a:ext cx="6309360" cy="457200"/>
          </a:xfrm>
          <a:prstGeom prst="roundRect">
            <a:avLst>
              <a:gd name="adj" fmla="val 11000"/>
            </a:avLst>
          </a:prstGeom>
          <a:solidFill>
            <a:srgbClr val="B07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7543800" y="3108960"/>
            <a:ext cx="6309360" cy="201168"/>
          </a:xfrm>
          <a:prstGeom prst="rect">
            <a:avLst/>
          </a:prstGeom>
          <a:solidFill>
            <a:srgbClr val="B07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7543800" y="2852928"/>
            <a:ext cx="6309360" cy="457200"/>
          </a:xfrm>
          <a:prstGeom prst="rect">
            <a:avLst/>
          </a:prstGeom>
          <a:noFill/>
        </p:spPr>
        <p:txBody>
          <a:bodyPr wrap="square" lIns="0" rIns="0" tIns="0" bIns="0" anchor="ctr">
            <a:spAutoFit/>
          </a:bodyPr>
          <a:lstStyle/>
          <a:p>
            <a:pPr algn="ctr">
              <a:lnSpc>
                <a:spcPct val="116000"/>
              </a:lnSpc>
              <a:spcBef>
                <a:spcPts val="0"/>
              </a:spcBef>
              <a:spcAft>
                <a:spcPts val="0"/>
              </a:spcAft>
            </a:pPr>
            <a:r>
              <a:rPr sz="1150" b="1" i="0" spc="160">
                <a:solidFill>
                  <a:srgbClr val="FFFFFF"/>
                </a:solidFill>
                <a:latin typeface="Open Sans"/>
              </a:rPr>
              <a:t>CAPA 2  ·  CON SUAVIZAMIENTO</a:t>
            </a:r>
          </a:p>
        </p:txBody>
      </p:sp>
      <p:sp>
        <p:nvSpPr>
          <p:cNvPr id="22" name="TextBox 21"/>
          <p:cNvSpPr txBox="1"/>
          <p:nvPr/>
        </p:nvSpPr>
        <p:spPr>
          <a:xfrm>
            <a:off x="7854696" y="3419856"/>
            <a:ext cx="5687568" cy="384048"/>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3161B"/>
                </a:solidFill>
                <a:latin typeface="Open Sans"/>
              </a:rPr>
              <a:t>Modelos sobre la serie relativa al nivel</a:t>
            </a:r>
          </a:p>
        </p:txBody>
      </p:sp>
      <p:sp>
        <p:nvSpPr>
          <p:cNvPr id="23" name="TextBox 22"/>
          <p:cNvSpPr txBox="1"/>
          <p:nvPr/>
        </p:nvSpPr>
        <p:spPr>
          <a:xfrm>
            <a:off x="7854696" y="3877056"/>
            <a:ext cx="5687568" cy="1252728"/>
          </a:xfrm>
          <a:prstGeom prst="rect">
            <a:avLst/>
          </a:prstGeom>
          <a:noFill/>
        </p:spPr>
        <p:txBody>
          <a:bodyPr wrap="square" lIns="0" rIns="0" tIns="0" bIns="0" anchor="t">
            <a:spAutoFit/>
          </a:bodyPr>
          <a:lstStyle/>
          <a:p>
            <a:pPr algn="l" marL="219456" indent="-219456">
              <a:lnSpc>
                <a:spcPct val="118000"/>
              </a:lnSpc>
              <a:spcBef>
                <a:spcPts val="0"/>
              </a:spcBef>
              <a:spcAft>
                <a:spcPts val="500"/>
              </a:spcAft>
            </a:pPr>
            <a:r>
              <a:rPr sz="1260" b="0" i="0">
                <a:solidFill>
                  <a:srgbClr val="394049"/>
                </a:solidFill>
                <a:latin typeface="Open Sans"/>
              </a:rPr>
              <a:t>•	LightGBM · CatBoost</a:t>
            </a:r>
          </a:p>
          <a:p>
            <a:pPr algn="l" marL="219456" indent="-219456">
              <a:lnSpc>
                <a:spcPct val="118000"/>
              </a:lnSpc>
              <a:spcBef>
                <a:spcPts val="0"/>
              </a:spcBef>
              <a:spcAft>
                <a:spcPts val="500"/>
              </a:spcAft>
            </a:pPr>
            <a:r>
              <a:rPr sz="1260" b="0" i="0">
                <a:solidFill>
                  <a:srgbClr val="394049"/>
                </a:solidFill>
                <a:latin typeface="Open Sans"/>
              </a:rPr>
              <a:t>•	Escala log(1 + unidades / nivel)</a:t>
            </a:r>
          </a:p>
          <a:p>
            <a:pPr algn="l" marL="219456" indent="-219456">
              <a:lnSpc>
                <a:spcPct val="118000"/>
              </a:lnSpc>
              <a:spcBef>
                <a:spcPts val="0"/>
              </a:spcBef>
              <a:spcAft>
                <a:spcPts val="500"/>
              </a:spcAft>
            </a:pPr>
            <a:r>
              <a:rPr sz="1260" b="0" i="0">
                <a:solidFill>
                  <a:srgbClr val="394049"/>
                </a:solidFill>
                <a:latin typeface="Open Sans"/>
              </a:rPr>
              <a:t>•	Nivel base extraído por Holt amortiguado</a:t>
            </a:r>
          </a:p>
          <a:p>
            <a:pPr algn="l" marL="219456" indent="-219456">
              <a:lnSpc>
                <a:spcPct val="118000"/>
              </a:lnSpc>
              <a:spcBef>
                <a:spcPts val="0"/>
              </a:spcBef>
              <a:spcAft>
                <a:spcPts val="500"/>
              </a:spcAft>
            </a:pPr>
            <a:r>
              <a:rPr sz="1260" b="0" i="0">
                <a:solidFill>
                  <a:srgbClr val="394049"/>
                </a:solidFill>
                <a:latin typeface="Open Sans"/>
              </a:rPr>
              <a:t>•	2 predicciones</a:t>
            </a:r>
          </a:p>
        </p:txBody>
      </p:sp>
      <p:sp>
        <p:nvSpPr>
          <p:cNvPr id="24" name="Rounded Rectangle 23"/>
          <p:cNvSpPr/>
          <p:nvPr/>
        </p:nvSpPr>
        <p:spPr>
          <a:xfrm>
            <a:off x="14127480" y="2852928"/>
            <a:ext cx="3200400" cy="2395728"/>
          </a:xfrm>
          <a:prstGeom prst="roundRect">
            <a:avLst>
              <a:gd name="adj" fmla="val 2099"/>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Rounded Rectangle 24"/>
          <p:cNvSpPr/>
          <p:nvPr/>
        </p:nvSpPr>
        <p:spPr>
          <a:xfrm>
            <a:off x="14127480" y="2852928"/>
            <a:ext cx="3200400" cy="457200"/>
          </a:xfrm>
          <a:prstGeom prst="roundRect">
            <a:avLst>
              <a:gd name="adj" fmla="val 11000"/>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Rectangle 25"/>
          <p:cNvSpPr/>
          <p:nvPr/>
        </p:nvSpPr>
        <p:spPr>
          <a:xfrm>
            <a:off x="14127480" y="3108960"/>
            <a:ext cx="3200400" cy="201168"/>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4127480" y="2852928"/>
            <a:ext cx="3200400" cy="457200"/>
          </a:xfrm>
          <a:prstGeom prst="rect">
            <a:avLst/>
          </a:prstGeom>
          <a:noFill/>
        </p:spPr>
        <p:txBody>
          <a:bodyPr wrap="square" lIns="0" rIns="0" tIns="0" bIns="0" anchor="ctr">
            <a:spAutoFit/>
          </a:bodyPr>
          <a:lstStyle/>
          <a:p>
            <a:pPr algn="ctr">
              <a:lnSpc>
                <a:spcPct val="116000"/>
              </a:lnSpc>
              <a:spcBef>
                <a:spcPts val="0"/>
              </a:spcBef>
              <a:spcAft>
                <a:spcPts val="0"/>
              </a:spcAft>
            </a:pPr>
            <a:r>
              <a:rPr sz="1150" b="1" i="0" spc="160">
                <a:solidFill>
                  <a:srgbClr val="FFFFFF"/>
                </a:solidFill>
                <a:latin typeface="Open Sans"/>
              </a:rPr>
              <a:t>EN PARALELO</a:t>
            </a:r>
          </a:p>
        </p:txBody>
      </p:sp>
      <p:sp>
        <p:nvSpPr>
          <p:cNvPr id="28" name="TextBox 27"/>
          <p:cNvSpPr txBox="1"/>
          <p:nvPr/>
        </p:nvSpPr>
        <p:spPr>
          <a:xfrm>
            <a:off x="14438376" y="3419856"/>
            <a:ext cx="2578608" cy="384048"/>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3161B"/>
                </a:solidFill>
                <a:latin typeface="Open Sans"/>
              </a:rPr>
              <a:t>TabPFN</a:t>
            </a:r>
          </a:p>
        </p:txBody>
      </p:sp>
      <p:sp>
        <p:nvSpPr>
          <p:cNvPr id="29" name="TextBox 28"/>
          <p:cNvSpPr txBox="1"/>
          <p:nvPr/>
        </p:nvSpPr>
        <p:spPr>
          <a:xfrm>
            <a:off x="14438376" y="3877056"/>
            <a:ext cx="2578608" cy="1252728"/>
          </a:xfrm>
          <a:prstGeom prst="rect">
            <a:avLst/>
          </a:prstGeom>
          <a:noFill/>
        </p:spPr>
        <p:txBody>
          <a:bodyPr wrap="square" lIns="0" rIns="0" tIns="0" bIns="0" anchor="t">
            <a:spAutoFit/>
          </a:bodyPr>
          <a:lstStyle/>
          <a:p>
            <a:pPr algn="l" marL="219456" indent="-219456">
              <a:lnSpc>
                <a:spcPct val="118000"/>
              </a:lnSpc>
              <a:spcBef>
                <a:spcPts val="0"/>
              </a:spcBef>
              <a:spcAft>
                <a:spcPts val="500"/>
              </a:spcAft>
            </a:pPr>
            <a:r>
              <a:rPr sz="1260" b="0" i="0">
                <a:solidFill>
                  <a:srgbClr val="394049"/>
                </a:solidFill>
                <a:latin typeface="Open Sans"/>
              </a:rPr>
              <a:t>•	Modelo fundacional tabular</a:t>
            </a:r>
          </a:p>
          <a:p>
            <a:pPr algn="l" marL="219456" indent="-219456">
              <a:lnSpc>
                <a:spcPct val="118000"/>
              </a:lnSpc>
              <a:spcBef>
                <a:spcPts val="0"/>
              </a:spcBef>
              <a:spcAft>
                <a:spcPts val="500"/>
              </a:spcAft>
            </a:pPr>
            <a:r>
              <a:rPr sz="1260" b="0" i="0">
                <a:solidFill>
                  <a:srgbClr val="394049"/>
                </a:solidFill>
                <a:latin typeface="Open Sans"/>
              </a:rPr>
              <a:t>•	Inferencia zero-shot</a:t>
            </a:r>
          </a:p>
          <a:p>
            <a:pPr algn="l" marL="219456" indent="-219456">
              <a:lnSpc>
                <a:spcPct val="118000"/>
              </a:lnSpc>
              <a:spcBef>
                <a:spcPts val="0"/>
              </a:spcBef>
              <a:spcAft>
                <a:spcPts val="500"/>
              </a:spcAft>
            </a:pPr>
            <a:r>
              <a:rPr sz="1260" b="0" i="0">
                <a:solidFill>
                  <a:srgbClr val="394049"/>
                </a:solidFill>
                <a:latin typeface="Open Sans"/>
              </a:rPr>
              <a:t>•	1 predicción</a:t>
            </a:r>
          </a:p>
        </p:txBody>
      </p:sp>
      <p:cxnSp>
        <p:nvCxnSpPr>
          <p:cNvPr id="30" name="Connector 29"/>
          <p:cNvCxnSpPr/>
          <p:nvPr/>
        </p:nvCxnSpPr>
        <p:spPr>
          <a:xfrm>
            <a:off x="4114800" y="5285232"/>
            <a:ext cx="0" cy="146304"/>
          </a:xfrm>
          <a:prstGeom prst="line">
            <a:avLst/>
          </a:prstGeom>
          <a:ln w="19050">
            <a:solidFill>
              <a:srgbClr val="9AA1A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698480" y="5285232"/>
            <a:ext cx="0" cy="146304"/>
          </a:xfrm>
          <a:prstGeom prst="line">
            <a:avLst/>
          </a:prstGeom>
          <a:ln w="19050">
            <a:solidFill>
              <a:srgbClr val="9AA1A9"/>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5727680" y="5285232"/>
            <a:ext cx="0" cy="146304"/>
          </a:xfrm>
          <a:prstGeom prst="line">
            <a:avLst/>
          </a:prstGeom>
          <a:ln w="19050">
            <a:solidFill>
              <a:srgbClr val="9AA1A9"/>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114800" y="5431536"/>
            <a:ext cx="11612880" cy="0"/>
          </a:xfrm>
          <a:prstGeom prst="line">
            <a:avLst/>
          </a:prstGeom>
          <a:ln w="19050">
            <a:solidFill>
              <a:srgbClr val="9AA1A9"/>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144000" y="5431536"/>
            <a:ext cx="0" cy="109728"/>
          </a:xfrm>
          <a:prstGeom prst="line">
            <a:avLst/>
          </a:prstGeom>
          <a:ln w="2032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303520" y="5577840"/>
            <a:ext cx="7680960" cy="502920"/>
          </a:xfrm>
          <a:prstGeom prst="roundRect">
            <a:avLst>
              <a:gd name="adj" fmla="val 50000"/>
            </a:avLst>
          </a:prstGeom>
          <a:solidFill>
            <a:srgbClr val="EF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TextBox 35"/>
          <p:cNvSpPr txBox="1"/>
          <p:nvPr/>
        </p:nvSpPr>
        <p:spPr>
          <a:xfrm>
            <a:off x="5449824" y="5577840"/>
            <a:ext cx="7388352" cy="502920"/>
          </a:xfrm>
          <a:prstGeom prst="rect">
            <a:avLst/>
          </a:prstGeom>
          <a:noFill/>
        </p:spPr>
        <p:txBody>
          <a:bodyPr wrap="square" lIns="0" rIns="0" tIns="0" bIns="0" anchor="ctr">
            <a:spAutoFit/>
          </a:bodyPr>
          <a:lstStyle/>
          <a:p>
            <a:pPr algn="ctr">
              <a:lnSpc>
                <a:spcPct val="110000"/>
              </a:lnSpc>
              <a:spcBef>
                <a:spcPts val="0"/>
              </a:spcBef>
              <a:spcAft>
                <a:spcPts val="0"/>
              </a:spcAft>
            </a:pPr>
            <a:r>
              <a:rPr sz="1450" b="1" i="0">
                <a:solidFill>
                  <a:srgbClr val="13161B"/>
                </a:solidFill>
                <a:latin typeface="Open Sans"/>
              </a:rPr>
              <a:t>6 predicciones candidatas por familia</a:t>
            </a:r>
          </a:p>
        </p:txBody>
      </p:sp>
      <p:cxnSp>
        <p:nvCxnSpPr>
          <p:cNvPr id="37" name="Connector 36"/>
          <p:cNvCxnSpPr/>
          <p:nvPr/>
        </p:nvCxnSpPr>
        <p:spPr>
          <a:xfrm>
            <a:off x="9144000" y="6108192"/>
            <a:ext cx="0" cy="182880"/>
          </a:xfrm>
          <a:prstGeom prst="line">
            <a:avLst/>
          </a:prstGeom>
          <a:ln w="2032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60120" y="6355080"/>
            <a:ext cx="16367759" cy="749808"/>
          </a:xfrm>
          <a:prstGeom prst="roundRect">
            <a:avLst>
              <a:gd name="adj" fmla="val 6707"/>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9" name="TextBox 38"/>
          <p:cNvSpPr txBox="1"/>
          <p:nvPr/>
        </p:nvSpPr>
        <p:spPr>
          <a:xfrm>
            <a:off x="1417320" y="6355080"/>
            <a:ext cx="15453359" cy="749808"/>
          </a:xfrm>
          <a:prstGeom prst="rect">
            <a:avLst/>
          </a:prstGeom>
          <a:noFill/>
        </p:spPr>
        <p:txBody>
          <a:bodyPr wrap="square" lIns="0" rIns="0" tIns="0" bIns="0" anchor="ctr">
            <a:spAutoFit/>
          </a:bodyPr>
          <a:lstStyle/>
          <a:p>
            <a:pPr algn="ctr">
              <a:lnSpc>
                <a:spcPct val="118000"/>
              </a:lnSpc>
              <a:spcBef>
                <a:spcPts val="0"/>
              </a:spcBef>
              <a:spcAft>
                <a:spcPts val="0"/>
              </a:spcAft>
            </a:pPr>
            <a:r>
              <a:rPr sz="1450" b="1" i="0">
                <a:solidFill>
                  <a:srgbClr val="FFFFFF"/>
                </a:solidFill>
                <a:latin typeface="Open Sans"/>
              </a:rPr>
              <a:t>VALIDACIÓN  ·  Ponderación NNLS y búsqueda en grilla: se fija el peso de cada modelo y el umbral de ruteo minimizando el WAPE</a:t>
            </a:r>
          </a:p>
        </p:txBody>
      </p:sp>
      <p:cxnSp>
        <p:nvCxnSpPr>
          <p:cNvPr id="40" name="Connector 39"/>
          <p:cNvCxnSpPr/>
          <p:nvPr/>
        </p:nvCxnSpPr>
        <p:spPr>
          <a:xfrm>
            <a:off x="9144000" y="7178040"/>
            <a:ext cx="0" cy="182880"/>
          </a:xfrm>
          <a:prstGeom prst="line">
            <a:avLst/>
          </a:prstGeom>
          <a:ln w="2032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4343400" y="7406640"/>
            <a:ext cx="9601200" cy="502920"/>
          </a:xfrm>
          <a:prstGeom prst="roundRect">
            <a:avLst>
              <a:gd name="adj" fmla="val 50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TextBox 41"/>
          <p:cNvSpPr txBox="1"/>
          <p:nvPr/>
        </p:nvSpPr>
        <p:spPr>
          <a:xfrm>
            <a:off x="4489704" y="7406640"/>
            <a:ext cx="9308592" cy="502920"/>
          </a:xfrm>
          <a:prstGeom prst="rect">
            <a:avLst/>
          </a:prstGeom>
          <a:noFill/>
        </p:spPr>
        <p:txBody>
          <a:bodyPr wrap="square" lIns="0" rIns="0" tIns="0" bIns="0" anchor="ctr">
            <a:spAutoFit/>
          </a:bodyPr>
          <a:lstStyle/>
          <a:p>
            <a:pPr algn="ctr">
              <a:lnSpc>
                <a:spcPct val="110000"/>
              </a:lnSpc>
              <a:spcBef>
                <a:spcPts val="0"/>
              </a:spcBef>
              <a:spcAft>
                <a:spcPts val="0"/>
              </a:spcAft>
            </a:pPr>
            <a:r>
              <a:rPr sz="1450" b="1" i="0">
                <a:solidFill>
                  <a:srgbClr val="003F62"/>
                </a:solidFill>
                <a:latin typeface="Open Sans"/>
              </a:rPr>
              <a:t>Demanda proyectada por familia  ·  WAPE 12,89 %</a:t>
            </a:r>
          </a:p>
        </p:txBody>
      </p:sp>
      <p:cxnSp>
        <p:nvCxnSpPr>
          <p:cNvPr id="43" name="Connector 42"/>
          <p:cNvCxnSpPr/>
          <p:nvPr/>
        </p:nvCxnSpPr>
        <p:spPr>
          <a:xfrm>
            <a:off x="9144000" y="7973568"/>
            <a:ext cx="0" cy="182880"/>
          </a:xfrm>
          <a:prstGeom prst="line">
            <a:avLst/>
          </a:prstGeom>
          <a:ln w="2032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60120" y="8202168"/>
            <a:ext cx="16367759" cy="566928"/>
          </a:xfrm>
          <a:prstGeom prst="roundRect">
            <a:avLst>
              <a:gd name="adj" fmla="val 8064"/>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TextBox 44"/>
          <p:cNvSpPr txBox="1"/>
          <p:nvPr/>
        </p:nvSpPr>
        <p:spPr>
          <a:xfrm>
            <a:off x="1325880" y="8202168"/>
            <a:ext cx="15636239" cy="566928"/>
          </a:xfrm>
          <a:prstGeom prst="rect">
            <a:avLst/>
          </a:prstGeom>
          <a:noFill/>
        </p:spPr>
        <p:txBody>
          <a:bodyPr wrap="square" lIns="0" rIns="0" tIns="0" bIns="0" anchor="ctr">
            <a:spAutoFit/>
          </a:bodyPr>
          <a:lstStyle/>
          <a:p>
            <a:pPr algn="ctr">
              <a:lnSpc>
                <a:spcPct val="116000"/>
              </a:lnSpc>
              <a:spcBef>
                <a:spcPts val="0"/>
              </a:spcBef>
              <a:spcAft>
                <a:spcPts val="0"/>
              </a:spcAft>
            </a:pPr>
            <a:r>
              <a:rPr sz="1400" b="1" i="0">
                <a:solidFill>
                  <a:srgbClr val="13161B"/>
                </a:solidFill>
                <a:latin typeface="Open Sans"/>
              </a:rPr>
              <a:t>CAPA 3  ·  los mismos modelos estiman la cuota de cada SKU dentro de su familia → desagregación top-down</a:t>
            </a:r>
          </a:p>
        </p:txBody>
      </p:sp>
      <p:cxnSp>
        <p:nvCxnSpPr>
          <p:cNvPr id="46" name="Connector 45"/>
          <p:cNvCxnSpPr/>
          <p:nvPr/>
        </p:nvCxnSpPr>
        <p:spPr>
          <a:xfrm>
            <a:off x="9144000" y="8814816"/>
            <a:ext cx="0" cy="164592"/>
          </a:xfrm>
          <a:prstGeom prst="line">
            <a:avLst/>
          </a:prstGeom>
          <a:ln w="2032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60120" y="9006840"/>
            <a:ext cx="16367759" cy="365760"/>
          </a:xfrm>
          <a:prstGeom prst="rect">
            <a:avLst/>
          </a:prstGeom>
          <a:noFill/>
        </p:spPr>
        <p:txBody>
          <a:bodyPr wrap="square" lIns="0" rIns="0" tIns="0" bIns="0" anchor="t">
            <a:spAutoFit/>
          </a:bodyPr>
          <a:lstStyle/>
          <a:p>
            <a:pPr algn="ctr">
              <a:lnSpc>
                <a:spcPct val="116000"/>
              </a:lnSpc>
              <a:spcBef>
                <a:spcPts val="0"/>
              </a:spcBef>
              <a:spcAft>
                <a:spcPts val="0"/>
              </a:spcAft>
            </a:pPr>
            <a:r>
              <a:rPr sz="1500" b="1" i="0">
                <a:solidFill>
                  <a:srgbClr val="005F91"/>
                </a:solidFill>
                <a:latin typeface="Open Sans"/>
              </a:rPr>
              <a:t>Pronóstico por SKU  ·  Top 100  ·  WAPE 16,10 %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04   METODOLOGÍA Y ARQUITECTURA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Capas 1 y 2 · Por qué entrenar dos veces lo mismo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14</a:t>
            </a:r>
          </a:p>
        </p:txBody>
      </p:sp>
      <p:sp>
        <p:nvSpPr>
          <p:cNvPr id="10" name="Rounded Rectangle 9"/>
          <p:cNvSpPr/>
          <p:nvPr/>
        </p:nvSpPr>
        <p:spPr>
          <a:xfrm>
            <a:off x="960120" y="2249424"/>
            <a:ext cx="8595360" cy="4572000"/>
          </a:xfrm>
          <a:prstGeom prst="roundRect">
            <a:avLst>
              <a:gd name="adj" fmla="val 1200"/>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tracks.png"/>
          <p:cNvPicPr>
            <a:picLocks noChangeAspect="1"/>
          </p:cNvPicPr>
          <p:nvPr/>
        </p:nvPicPr>
        <p:blipFill>
          <a:blip r:embed="rId2"/>
          <a:stretch>
            <a:fillRect/>
          </a:stretch>
        </p:blipFill>
        <p:spPr>
          <a:xfrm>
            <a:off x="1234440" y="2532694"/>
            <a:ext cx="8046720" cy="4005458"/>
          </a:xfrm>
          <a:prstGeom prst="rect">
            <a:avLst/>
          </a:prstGeom>
        </p:spPr>
      </p:pic>
      <p:sp>
        <p:nvSpPr>
          <p:cNvPr id="12" name="TextBox 11"/>
          <p:cNvSpPr txBox="1"/>
          <p:nvPr/>
        </p:nvSpPr>
        <p:spPr>
          <a:xfrm>
            <a:off x="960120" y="6958584"/>
            <a:ext cx="859536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Comportamiento esperado de cada track frente a la demanda real.</a:t>
            </a:r>
          </a:p>
        </p:txBody>
      </p:sp>
      <p:sp>
        <p:nvSpPr>
          <p:cNvPr id="13" name="Rounded Rectangle 12"/>
          <p:cNvSpPr/>
          <p:nvPr/>
        </p:nvSpPr>
        <p:spPr>
          <a:xfrm>
            <a:off x="10104120" y="2249424"/>
            <a:ext cx="7223760" cy="2194560"/>
          </a:xfrm>
          <a:prstGeom prst="roundRect">
            <a:avLst>
              <a:gd name="adj" fmla="val 229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10104120" y="2249424"/>
            <a:ext cx="68580" cy="219456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0561320" y="2578608"/>
            <a:ext cx="6382512" cy="153619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Capa 1 · sin suavizamiento</a:t>
            </a:r>
          </a:p>
          <a:p>
            <a:pPr algn="l" marL="274320" indent="-274320">
              <a:lnSpc>
                <a:spcPct val="118000"/>
              </a:lnSpc>
              <a:spcBef>
                <a:spcPts val="0"/>
              </a:spcBef>
              <a:spcAft>
                <a:spcPts val="700"/>
              </a:spcAft>
            </a:pPr>
            <a:r>
              <a:rPr sz="1360" b="0" i="0">
                <a:solidFill>
                  <a:srgbClr val="394049"/>
                </a:solidFill>
                <a:latin typeface="Open Sans"/>
              </a:rPr>
              <a:t>•	Los modelos ven la serie tal cual, en escala arcsinh.</a:t>
            </a:r>
          </a:p>
          <a:p>
            <a:pPr algn="l" marL="274320" indent="-274320">
              <a:lnSpc>
                <a:spcPct val="118000"/>
              </a:lnSpc>
              <a:spcBef>
                <a:spcPts val="0"/>
              </a:spcBef>
              <a:spcAft>
                <a:spcPts val="0"/>
              </a:spcAft>
            </a:pPr>
            <a:r>
              <a:rPr sz="1360" b="0" i="0">
                <a:solidFill>
                  <a:srgbClr val="394049"/>
                </a:solidFill>
                <a:latin typeface="Open Sans"/>
              </a:rPr>
              <a:t>•	Reacciona rápido a shocks comerciales, pero hereda el ruido: mayor varianza.</a:t>
            </a:r>
          </a:p>
        </p:txBody>
      </p:sp>
      <p:sp>
        <p:nvSpPr>
          <p:cNvPr id="16" name="Rounded Rectangle 15"/>
          <p:cNvSpPr/>
          <p:nvPr/>
        </p:nvSpPr>
        <p:spPr>
          <a:xfrm>
            <a:off x="10104120" y="4718304"/>
            <a:ext cx="7223760" cy="2240280"/>
          </a:xfrm>
          <a:prstGeom prst="roundRect">
            <a:avLst>
              <a:gd name="adj" fmla="val 2244"/>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10104120" y="4718304"/>
            <a:ext cx="68580" cy="224028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0561320" y="5047488"/>
            <a:ext cx="6382512" cy="158191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Capa 2 · con suavizamiento</a:t>
            </a:r>
          </a:p>
          <a:p>
            <a:pPr algn="l" marL="274320" indent="-274320">
              <a:lnSpc>
                <a:spcPct val="118000"/>
              </a:lnSpc>
              <a:spcBef>
                <a:spcPts val="0"/>
              </a:spcBef>
              <a:spcAft>
                <a:spcPts val="700"/>
              </a:spcAft>
            </a:pPr>
            <a:r>
              <a:rPr sz="1360" b="0" i="0">
                <a:solidFill>
                  <a:srgbClr val="394049"/>
                </a:solidFill>
                <a:latin typeface="Open Sans"/>
              </a:rPr>
              <a:t>•	Holt amortiguado extrae el nivel base y los modelos trabajan en escala relativa a ese nivel.</a:t>
            </a:r>
          </a:p>
          <a:p>
            <a:pPr algn="l" marL="274320" indent="-274320">
              <a:lnSpc>
                <a:spcPct val="118000"/>
              </a:lnSpc>
              <a:spcBef>
                <a:spcPts val="0"/>
              </a:spcBef>
              <a:spcAft>
                <a:spcPts val="0"/>
              </a:spcAft>
            </a:pPr>
            <a:r>
              <a:rPr sz="1360" b="0" i="0">
                <a:solidFill>
                  <a:srgbClr val="394049"/>
                </a:solidFill>
                <a:latin typeface="Open Sans"/>
              </a:rPr>
              <a:t>•	Filtra ruido y conserva estacionalidad: menor varianza, pero reacciona más tarde.</a:t>
            </a:r>
          </a:p>
        </p:txBody>
      </p:sp>
      <p:sp>
        <p:nvSpPr>
          <p:cNvPr id="19" name="Rounded Rectangle 18"/>
          <p:cNvSpPr/>
          <p:nvPr/>
        </p:nvSpPr>
        <p:spPr>
          <a:xfrm>
            <a:off x="960120" y="7461504"/>
            <a:ext cx="16367759" cy="1691640"/>
          </a:xfrm>
          <a:prstGeom prst="roundRect">
            <a:avLst>
              <a:gd name="adj" fmla="val 2972"/>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1417320" y="7461504"/>
            <a:ext cx="15453359" cy="1691640"/>
          </a:xfrm>
          <a:prstGeom prst="rect">
            <a:avLst/>
          </a:prstGeom>
          <a:noFill/>
        </p:spPr>
        <p:txBody>
          <a:bodyPr wrap="square" lIns="0" rIns="0" tIns="0" bIns="0" anchor="ctr">
            <a:spAutoFit/>
          </a:bodyPr>
          <a:lstStyle/>
          <a:p>
            <a:pPr algn="ctr">
              <a:lnSpc>
                <a:spcPct val="118000"/>
              </a:lnSpc>
              <a:spcBef>
                <a:spcPts val="0"/>
              </a:spcBef>
              <a:spcAft>
                <a:spcPts val="0"/>
              </a:spcAft>
            </a:pPr>
            <a:r>
              <a:rPr sz="1600" b="1" i="0">
                <a:solidFill>
                  <a:srgbClr val="FFFFFF"/>
                </a:solidFill>
                <a:latin typeface="Open Sans"/>
              </a:rPr>
              <a:t>La clave es la diversificación de errores: cuando el mercado gira, la Capa 1 llega antes; cuando hay ruido, la Capa 2 no se deja arrastrar. Sus errores no están correlacionados, y por eso la combinación pondera mejor que cualquiera de los dos por separado.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04   METODOLOGÍA Y ARQUITECTURA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Cómo se combinan: pesos calibrados en validación</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15</a:t>
            </a:r>
          </a:p>
        </p:txBody>
      </p:sp>
      <p:sp>
        <p:nvSpPr>
          <p:cNvPr id="10" name="Rounded Rectangle 9"/>
          <p:cNvSpPr/>
          <p:nvPr/>
        </p:nvSpPr>
        <p:spPr>
          <a:xfrm>
            <a:off x="960120" y="2249424"/>
            <a:ext cx="5239512" cy="3200400"/>
          </a:xfrm>
          <a:prstGeom prst="roundRect">
            <a:avLst>
              <a:gd name="adj" fmla="val 157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249424"/>
            <a:ext cx="68580" cy="320040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417320" y="2578608"/>
            <a:ext cx="4398264" cy="2542032"/>
          </a:xfrm>
          <a:prstGeom prst="rect">
            <a:avLst/>
          </a:prstGeom>
          <a:noFill/>
        </p:spPr>
        <p:txBody>
          <a:bodyPr wrap="square" lIns="0" rIns="0" tIns="0" bIns="0" anchor="t">
            <a:spAutoFit/>
          </a:bodyPr>
          <a:lstStyle/>
          <a:p>
            <a:pPr algn="l">
              <a:lnSpc>
                <a:spcPct val="112000"/>
              </a:lnSpc>
              <a:spcBef>
                <a:spcPts val="0"/>
              </a:spcBef>
              <a:spcAft>
                <a:spcPts val="800"/>
              </a:spcAft>
            </a:pPr>
            <a:r>
              <a:rPr sz="1750" b="1" i="0">
                <a:solidFill>
                  <a:srgbClr val="13161B"/>
                </a:solidFill>
                <a:latin typeface="Open Sans"/>
              </a:rPr>
              <a:t>Ponderación NNLS</a:t>
            </a:r>
          </a:p>
          <a:p>
            <a:pPr algn="l" marL="274320" indent="-274320">
              <a:lnSpc>
                <a:spcPct val="118000"/>
              </a:lnSpc>
              <a:spcBef>
                <a:spcPts val="0"/>
              </a:spcBef>
              <a:spcAft>
                <a:spcPts val="700"/>
              </a:spcAft>
            </a:pPr>
            <a:r>
              <a:rPr sz="1360" b="0" i="0">
                <a:solidFill>
                  <a:srgbClr val="394049"/>
                </a:solidFill>
                <a:latin typeface="Open Sans"/>
              </a:rPr>
              <a:t>•	Mínimos cuadrados no negativos: pesos mayores o iguales a cero que suman exactamente 1.</a:t>
            </a:r>
          </a:p>
          <a:p>
            <a:pPr algn="l" marL="274320" indent="-274320">
              <a:lnSpc>
                <a:spcPct val="118000"/>
              </a:lnSpc>
              <a:spcBef>
                <a:spcPts val="0"/>
              </a:spcBef>
              <a:spcAft>
                <a:spcPts val="0"/>
              </a:spcAft>
            </a:pPr>
            <a:r>
              <a:rPr sz="1360" b="0" i="0">
                <a:solidFill>
                  <a:srgbClr val="394049"/>
                </a:solidFill>
                <a:latin typeface="Open Sans"/>
              </a:rPr>
              <a:t>•	Ningún modelo puede entrar con signo invertido ni dominar por construcción.</a:t>
            </a:r>
          </a:p>
        </p:txBody>
      </p:sp>
      <p:sp>
        <p:nvSpPr>
          <p:cNvPr id="13" name="Rounded Rectangle 12"/>
          <p:cNvSpPr/>
          <p:nvPr/>
        </p:nvSpPr>
        <p:spPr>
          <a:xfrm>
            <a:off x="6519672" y="2249424"/>
            <a:ext cx="5239512" cy="3200400"/>
          </a:xfrm>
          <a:prstGeom prst="roundRect">
            <a:avLst>
              <a:gd name="adj" fmla="val 157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6519672" y="2249424"/>
            <a:ext cx="68580" cy="320040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976872" y="2578608"/>
            <a:ext cx="4398264" cy="2542032"/>
          </a:xfrm>
          <a:prstGeom prst="rect">
            <a:avLst/>
          </a:prstGeom>
          <a:noFill/>
        </p:spPr>
        <p:txBody>
          <a:bodyPr wrap="square" lIns="0" rIns="0" tIns="0" bIns="0" anchor="t">
            <a:spAutoFit/>
          </a:bodyPr>
          <a:lstStyle/>
          <a:p>
            <a:pPr algn="l">
              <a:lnSpc>
                <a:spcPct val="112000"/>
              </a:lnSpc>
              <a:spcBef>
                <a:spcPts val="0"/>
              </a:spcBef>
              <a:spcAft>
                <a:spcPts val="800"/>
              </a:spcAft>
            </a:pPr>
            <a:r>
              <a:rPr sz="1750" b="1" i="0">
                <a:solidFill>
                  <a:srgbClr val="13161B"/>
                </a:solidFill>
                <a:latin typeface="Open Sans"/>
              </a:rPr>
              <a:t>Búsqueda en grilla</a:t>
            </a:r>
          </a:p>
          <a:p>
            <a:pPr algn="l" marL="274320" indent="-274320">
              <a:lnSpc>
                <a:spcPct val="118000"/>
              </a:lnSpc>
              <a:spcBef>
                <a:spcPts val="0"/>
              </a:spcBef>
              <a:spcAft>
                <a:spcPts val="700"/>
              </a:spcAft>
            </a:pPr>
            <a:r>
              <a:rPr sz="1360" b="0" i="0">
                <a:solidFill>
                  <a:srgbClr val="394049"/>
                </a:solidFill>
                <a:latin typeface="Open Sans"/>
              </a:rPr>
              <a:t>•	Se evalúa una grilla de umbrales de momentum entre 1,05 y 1,50.</a:t>
            </a:r>
          </a:p>
          <a:p>
            <a:pPr algn="l" marL="274320" indent="-274320">
              <a:lnSpc>
                <a:spcPct val="118000"/>
              </a:lnSpc>
              <a:spcBef>
                <a:spcPts val="0"/>
              </a:spcBef>
              <a:spcAft>
                <a:spcPts val="0"/>
              </a:spcAft>
            </a:pPr>
            <a:r>
              <a:rPr sz="1360" b="0" i="0">
                <a:solidFill>
                  <a:srgbClr val="394049"/>
                </a:solidFill>
                <a:latin typeface="Open Sans"/>
              </a:rPr>
              <a:t>•	Para cada valor se reoptimizan los pesos de ruteo y se elige la combinación que minimiza el WAPE en validación.</a:t>
            </a:r>
          </a:p>
        </p:txBody>
      </p:sp>
      <p:sp>
        <p:nvSpPr>
          <p:cNvPr id="16" name="Rounded Rectangle 15"/>
          <p:cNvSpPr/>
          <p:nvPr/>
        </p:nvSpPr>
        <p:spPr>
          <a:xfrm>
            <a:off x="12088368" y="2249424"/>
            <a:ext cx="5239512" cy="3200400"/>
          </a:xfrm>
          <a:prstGeom prst="roundRect">
            <a:avLst>
              <a:gd name="adj" fmla="val 157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12088368" y="2249424"/>
            <a:ext cx="68580" cy="320040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2545568" y="2578608"/>
            <a:ext cx="4398264" cy="2542032"/>
          </a:xfrm>
          <a:prstGeom prst="rect">
            <a:avLst/>
          </a:prstGeom>
          <a:noFill/>
        </p:spPr>
        <p:txBody>
          <a:bodyPr wrap="square" lIns="0" rIns="0" tIns="0" bIns="0" anchor="t">
            <a:spAutoFit/>
          </a:bodyPr>
          <a:lstStyle/>
          <a:p>
            <a:pPr algn="l">
              <a:lnSpc>
                <a:spcPct val="112000"/>
              </a:lnSpc>
              <a:spcBef>
                <a:spcPts val="0"/>
              </a:spcBef>
              <a:spcAft>
                <a:spcPts val="800"/>
              </a:spcAft>
            </a:pPr>
            <a:r>
              <a:rPr sz="1750" b="1" i="0">
                <a:solidFill>
                  <a:srgbClr val="13161B"/>
                </a:solidFill>
                <a:latin typeface="Open Sans"/>
              </a:rPr>
              <a:t>Ruteo por régimen</a:t>
            </a:r>
          </a:p>
          <a:p>
            <a:pPr algn="l" marL="274320" indent="-274320">
              <a:lnSpc>
                <a:spcPct val="118000"/>
              </a:lnSpc>
              <a:spcBef>
                <a:spcPts val="0"/>
              </a:spcBef>
              <a:spcAft>
                <a:spcPts val="700"/>
              </a:spcAft>
            </a:pPr>
            <a:r>
              <a:rPr sz="1360" b="0" i="0">
                <a:solidFill>
                  <a:srgbClr val="394049"/>
                </a:solidFill>
                <a:latin typeface="Open Sans"/>
              </a:rPr>
              <a:t>•	Indicador de momentum: media móvil de 3 meses sobre media móvil de 12.</a:t>
            </a:r>
          </a:p>
          <a:p>
            <a:pPr algn="l" marL="274320" indent="-274320">
              <a:lnSpc>
                <a:spcPct val="118000"/>
              </a:lnSpc>
              <a:spcBef>
                <a:spcPts val="0"/>
              </a:spcBef>
              <a:spcAft>
                <a:spcPts val="0"/>
              </a:spcAft>
            </a:pPr>
            <a:r>
              <a:rPr sz="1360" b="0" i="0">
                <a:solidFill>
                  <a:srgbClr val="394049"/>
                </a:solidFill>
                <a:latin typeface="Open Sans"/>
              </a:rPr>
              <a:t>•	Si la familia acelera, pesa más el componente de nivel dinámico; si está madura, la señal conservadora.</a:t>
            </a:r>
          </a:p>
        </p:txBody>
      </p:sp>
      <p:sp>
        <p:nvSpPr>
          <p:cNvPr id="19" name="TextBox 18"/>
          <p:cNvSpPr txBox="1"/>
          <p:nvPr/>
        </p:nvSpPr>
        <p:spPr>
          <a:xfrm>
            <a:off x="960120" y="5769864"/>
            <a:ext cx="16367759" cy="365760"/>
          </a:xfrm>
          <a:prstGeom prst="rect">
            <a:avLst/>
          </a:prstGeom>
          <a:noFill/>
        </p:spPr>
        <p:txBody>
          <a:bodyPr wrap="square" lIns="0" rIns="0" tIns="0" bIns="0" anchor="t">
            <a:spAutoFit/>
          </a:bodyPr>
          <a:lstStyle/>
          <a:p>
            <a:pPr algn="l">
              <a:lnSpc>
                <a:spcPct val="116000"/>
              </a:lnSpc>
              <a:spcBef>
                <a:spcPts val="0"/>
              </a:spcBef>
              <a:spcAft>
                <a:spcPts val="0"/>
              </a:spcAft>
            </a:pPr>
            <a:r>
              <a:rPr sz="1250" b="1" i="0" spc="200">
                <a:solidFill>
                  <a:srgbClr val="6E6E6E"/>
                </a:solidFill>
                <a:latin typeface="Open Sans"/>
              </a:rPr>
              <a:t>GRILLA DE UMBRALES EVALUADA EN VALIDACIÓN</a:t>
            </a:r>
          </a:p>
        </p:txBody>
      </p:sp>
      <p:sp>
        <p:nvSpPr>
          <p:cNvPr id="20" name="Rounded Rectangle 19"/>
          <p:cNvSpPr/>
          <p:nvPr/>
        </p:nvSpPr>
        <p:spPr>
          <a:xfrm>
            <a:off x="960120" y="6227064"/>
            <a:ext cx="2377440" cy="914400"/>
          </a:xfrm>
          <a:prstGeom prst="roundRect">
            <a:avLst>
              <a:gd name="adj" fmla="val 5000"/>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960120" y="6227064"/>
            <a:ext cx="2377440" cy="914400"/>
          </a:xfrm>
          <a:prstGeom prst="rect">
            <a:avLst/>
          </a:prstGeom>
          <a:noFill/>
        </p:spPr>
        <p:txBody>
          <a:bodyPr wrap="square" lIns="0" rIns="0" tIns="0" bIns="0" anchor="ctr">
            <a:spAutoFit/>
          </a:bodyPr>
          <a:lstStyle/>
          <a:p>
            <a:pPr algn="ctr">
              <a:lnSpc>
                <a:spcPct val="116000"/>
              </a:lnSpc>
              <a:spcBef>
                <a:spcPts val="0"/>
              </a:spcBef>
              <a:spcAft>
                <a:spcPts val="0"/>
              </a:spcAft>
            </a:pPr>
            <a:r>
              <a:rPr sz="1700" b="1" i="0">
                <a:solidFill>
                  <a:srgbClr val="6E6E6E"/>
                </a:solidFill>
                <a:latin typeface="Open Sans"/>
              </a:rPr>
              <a:t>1,05</a:t>
            </a:r>
          </a:p>
        </p:txBody>
      </p:sp>
      <p:sp>
        <p:nvSpPr>
          <p:cNvPr id="22" name="Rounded Rectangle 21"/>
          <p:cNvSpPr/>
          <p:nvPr/>
        </p:nvSpPr>
        <p:spPr>
          <a:xfrm>
            <a:off x="3657600" y="6227064"/>
            <a:ext cx="2377440" cy="914400"/>
          </a:xfrm>
          <a:prstGeom prst="roundRect">
            <a:avLst>
              <a:gd name="adj" fmla="val 5000"/>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3657600" y="6227064"/>
            <a:ext cx="2377440" cy="914400"/>
          </a:xfrm>
          <a:prstGeom prst="rect">
            <a:avLst/>
          </a:prstGeom>
          <a:noFill/>
        </p:spPr>
        <p:txBody>
          <a:bodyPr wrap="square" lIns="0" rIns="0" tIns="0" bIns="0" anchor="ctr">
            <a:spAutoFit/>
          </a:bodyPr>
          <a:lstStyle/>
          <a:p>
            <a:pPr algn="ctr">
              <a:lnSpc>
                <a:spcPct val="116000"/>
              </a:lnSpc>
              <a:spcBef>
                <a:spcPts val="0"/>
              </a:spcBef>
              <a:spcAft>
                <a:spcPts val="0"/>
              </a:spcAft>
            </a:pPr>
            <a:r>
              <a:rPr sz="1700" b="1" i="0">
                <a:solidFill>
                  <a:srgbClr val="6E6E6E"/>
                </a:solidFill>
                <a:latin typeface="Open Sans"/>
              </a:rPr>
              <a:t>1,15</a:t>
            </a:r>
          </a:p>
        </p:txBody>
      </p:sp>
      <p:sp>
        <p:nvSpPr>
          <p:cNvPr id="24" name="Rounded Rectangle 23"/>
          <p:cNvSpPr/>
          <p:nvPr/>
        </p:nvSpPr>
        <p:spPr>
          <a:xfrm>
            <a:off x="6355080" y="6227064"/>
            <a:ext cx="2377440" cy="914400"/>
          </a:xfrm>
          <a:prstGeom prst="roundRect">
            <a:avLst>
              <a:gd name="adj" fmla="val 5000"/>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6355080" y="6227064"/>
            <a:ext cx="2377440" cy="914400"/>
          </a:xfrm>
          <a:prstGeom prst="rect">
            <a:avLst/>
          </a:prstGeom>
          <a:noFill/>
        </p:spPr>
        <p:txBody>
          <a:bodyPr wrap="square" lIns="0" rIns="0" tIns="0" bIns="0" anchor="ctr">
            <a:spAutoFit/>
          </a:bodyPr>
          <a:lstStyle/>
          <a:p>
            <a:pPr algn="ctr">
              <a:lnSpc>
                <a:spcPct val="116000"/>
              </a:lnSpc>
              <a:spcBef>
                <a:spcPts val="0"/>
              </a:spcBef>
              <a:spcAft>
                <a:spcPts val="0"/>
              </a:spcAft>
            </a:pPr>
            <a:r>
              <a:rPr sz="1700" b="1" i="0">
                <a:solidFill>
                  <a:srgbClr val="FFFFFF"/>
                </a:solidFill>
                <a:latin typeface="Open Sans"/>
              </a:rPr>
              <a:t>1,25</a:t>
            </a:r>
          </a:p>
        </p:txBody>
      </p:sp>
      <p:sp>
        <p:nvSpPr>
          <p:cNvPr id="26" name="Rounded Rectangle 25"/>
          <p:cNvSpPr/>
          <p:nvPr/>
        </p:nvSpPr>
        <p:spPr>
          <a:xfrm>
            <a:off x="9052560" y="6227064"/>
            <a:ext cx="2377440" cy="914400"/>
          </a:xfrm>
          <a:prstGeom prst="roundRect">
            <a:avLst>
              <a:gd name="adj" fmla="val 5000"/>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9052560" y="6227064"/>
            <a:ext cx="2377440" cy="914400"/>
          </a:xfrm>
          <a:prstGeom prst="rect">
            <a:avLst/>
          </a:prstGeom>
          <a:noFill/>
        </p:spPr>
        <p:txBody>
          <a:bodyPr wrap="square" lIns="0" rIns="0" tIns="0" bIns="0" anchor="ctr">
            <a:spAutoFit/>
          </a:bodyPr>
          <a:lstStyle/>
          <a:p>
            <a:pPr algn="ctr">
              <a:lnSpc>
                <a:spcPct val="116000"/>
              </a:lnSpc>
              <a:spcBef>
                <a:spcPts val="0"/>
              </a:spcBef>
              <a:spcAft>
                <a:spcPts val="0"/>
              </a:spcAft>
            </a:pPr>
            <a:r>
              <a:rPr sz="1700" b="1" i="0">
                <a:solidFill>
                  <a:srgbClr val="6E6E6E"/>
                </a:solidFill>
                <a:latin typeface="Open Sans"/>
              </a:rPr>
              <a:t>1,35</a:t>
            </a:r>
          </a:p>
        </p:txBody>
      </p:sp>
      <p:sp>
        <p:nvSpPr>
          <p:cNvPr id="28" name="Rounded Rectangle 27"/>
          <p:cNvSpPr/>
          <p:nvPr/>
        </p:nvSpPr>
        <p:spPr>
          <a:xfrm>
            <a:off x="11750040" y="6227064"/>
            <a:ext cx="2377440" cy="914400"/>
          </a:xfrm>
          <a:prstGeom prst="roundRect">
            <a:avLst>
              <a:gd name="adj" fmla="val 5000"/>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TextBox 28"/>
          <p:cNvSpPr txBox="1"/>
          <p:nvPr/>
        </p:nvSpPr>
        <p:spPr>
          <a:xfrm>
            <a:off x="11750040" y="6227064"/>
            <a:ext cx="2377440" cy="914400"/>
          </a:xfrm>
          <a:prstGeom prst="rect">
            <a:avLst/>
          </a:prstGeom>
          <a:noFill/>
        </p:spPr>
        <p:txBody>
          <a:bodyPr wrap="square" lIns="0" rIns="0" tIns="0" bIns="0" anchor="ctr">
            <a:spAutoFit/>
          </a:bodyPr>
          <a:lstStyle/>
          <a:p>
            <a:pPr algn="ctr">
              <a:lnSpc>
                <a:spcPct val="116000"/>
              </a:lnSpc>
              <a:spcBef>
                <a:spcPts val="0"/>
              </a:spcBef>
              <a:spcAft>
                <a:spcPts val="0"/>
              </a:spcAft>
            </a:pPr>
            <a:r>
              <a:rPr sz="1700" b="1" i="0">
                <a:solidFill>
                  <a:srgbClr val="6E6E6E"/>
                </a:solidFill>
                <a:latin typeface="Open Sans"/>
              </a:rPr>
              <a:t>1,50</a:t>
            </a:r>
          </a:p>
        </p:txBody>
      </p:sp>
      <p:sp>
        <p:nvSpPr>
          <p:cNvPr id="30" name="TextBox 29"/>
          <p:cNvSpPr txBox="1"/>
          <p:nvPr/>
        </p:nvSpPr>
        <p:spPr>
          <a:xfrm>
            <a:off x="6355080" y="7232904"/>
            <a:ext cx="2377440" cy="320040"/>
          </a:xfrm>
          <a:prstGeom prst="rect">
            <a:avLst/>
          </a:prstGeom>
          <a:noFill/>
        </p:spPr>
        <p:txBody>
          <a:bodyPr wrap="square" lIns="0" rIns="0" tIns="0" bIns="0" anchor="t">
            <a:spAutoFit/>
          </a:bodyPr>
          <a:lstStyle/>
          <a:p>
            <a:pPr algn="ctr">
              <a:lnSpc>
                <a:spcPct val="116000"/>
              </a:lnSpc>
              <a:spcBef>
                <a:spcPts val="0"/>
              </a:spcBef>
              <a:spcAft>
                <a:spcPts val="0"/>
              </a:spcAft>
            </a:pPr>
            <a:r>
              <a:rPr sz="1200" b="1" i="0">
                <a:solidFill>
                  <a:srgbClr val="005F91"/>
                </a:solidFill>
                <a:latin typeface="Open Sans"/>
              </a:rPr>
              <a:t>τ* seleccionado</a:t>
            </a:r>
          </a:p>
        </p:txBody>
      </p:sp>
      <p:sp>
        <p:nvSpPr>
          <p:cNvPr id="31" name="TextBox 30"/>
          <p:cNvSpPr txBox="1"/>
          <p:nvPr/>
        </p:nvSpPr>
        <p:spPr>
          <a:xfrm>
            <a:off x="14676120" y="6227064"/>
            <a:ext cx="2651760" cy="914400"/>
          </a:xfrm>
          <a:prstGeom prst="rect">
            <a:avLst/>
          </a:prstGeom>
          <a:noFill/>
        </p:spPr>
        <p:txBody>
          <a:bodyPr wrap="square" lIns="0" rIns="0" tIns="0" bIns="0" anchor="ctr">
            <a:spAutoFit/>
          </a:bodyPr>
          <a:lstStyle/>
          <a:p>
            <a:pPr algn="l">
              <a:lnSpc>
                <a:spcPct val="120000"/>
              </a:lnSpc>
              <a:spcBef>
                <a:spcPts val="0"/>
              </a:spcBef>
              <a:spcAft>
                <a:spcPts val="0"/>
              </a:spcAft>
            </a:pPr>
            <a:r>
              <a:rPr sz="1250" b="0" i="0">
                <a:solidFill>
                  <a:srgbClr val="9AA1A9"/>
                </a:solidFill>
                <a:latin typeface="Open Sans"/>
              </a:rPr>
              <a:t>...para cada umbral se reoptimizan los pesos</a:t>
            </a:r>
          </a:p>
        </p:txBody>
      </p:sp>
      <p:sp>
        <p:nvSpPr>
          <p:cNvPr id="32" name="Rounded Rectangle 31"/>
          <p:cNvSpPr/>
          <p:nvPr/>
        </p:nvSpPr>
        <p:spPr>
          <a:xfrm>
            <a:off x="960120" y="7735824"/>
            <a:ext cx="16367759" cy="1417320"/>
          </a:xfrm>
          <a:prstGeom prst="roundRect">
            <a:avLst>
              <a:gd name="adj" fmla="val 3548"/>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1417320" y="7735824"/>
            <a:ext cx="15453359" cy="1417320"/>
          </a:xfrm>
          <a:prstGeom prst="rect">
            <a:avLst/>
          </a:prstGeom>
          <a:noFill/>
        </p:spPr>
        <p:txBody>
          <a:bodyPr wrap="square" lIns="0" rIns="0" tIns="0" bIns="0" anchor="ctr">
            <a:spAutoFit/>
          </a:bodyPr>
          <a:lstStyle/>
          <a:p>
            <a:pPr algn="ctr">
              <a:lnSpc>
                <a:spcPct val="118000"/>
              </a:lnSpc>
              <a:spcBef>
                <a:spcPts val="0"/>
              </a:spcBef>
              <a:spcAft>
                <a:spcPts val="0"/>
              </a:spcAft>
            </a:pPr>
            <a:r>
              <a:rPr sz="1600" b="1" i="0">
                <a:solidFill>
                  <a:srgbClr val="FFFFFF"/>
                </a:solidFill>
                <a:latin typeface="Open Sans"/>
              </a:rPr>
              <a:t>Esto es lo que da sostenibilidad en el tiempo: los pesos no son una constante del modelo, son un parámetro recalibrable. Si cambia la estructura del mercado, la recalibración reasigna peso hacia los modelos que mejor capturan el nuevo régimen, sin rediseñar la arquitectura.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04   METODOLOGÍA Y ARQUITECTURA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Capa 3 · De la familia al SKU: desagregación top-down</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16</a:t>
            </a:r>
          </a:p>
        </p:txBody>
      </p:sp>
      <p:sp>
        <p:nvSpPr>
          <p:cNvPr id="10" name="Rounded Rectangle 9"/>
          <p:cNvSpPr/>
          <p:nvPr/>
        </p:nvSpPr>
        <p:spPr>
          <a:xfrm>
            <a:off x="960120" y="2249424"/>
            <a:ext cx="7863840" cy="2331720"/>
          </a:xfrm>
          <a:prstGeom prst="roundRect">
            <a:avLst>
              <a:gd name="adj" fmla="val 2352"/>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ounded Rectangle 10"/>
          <p:cNvSpPr/>
          <p:nvPr/>
        </p:nvSpPr>
        <p:spPr>
          <a:xfrm>
            <a:off x="1371600" y="2962656"/>
            <a:ext cx="2286000" cy="822960"/>
          </a:xfrm>
          <a:prstGeom prst="roundRect">
            <a:avLst>
              <a:gd name="adj" fmla="val 6666"/>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371600" y="2962656"/>
            <a:ext cx="2286000" cy="822960"/>
          </a:xfrm>
          <a:prstGeom prst="rect">
            <a:avLst/>
          </a:prstGeom>
          <a:noFill/>
        </p:spPr>
        <p:txBody>
          <a:bodyPr wrap="square" lIns="0" rIns="0" tIns="0" bIns="0" anchor="ctr">
            <a:spAutoFit/>
          </a:bodyPr>
          <a:lstStyle/>
          <a:p>
            <a:pPr algn="ctr">
              <a:lnSpc>
                <a:spcPct val="116000"/>
              </a:lnSpc>
              <a:spcBef>
                <a:spcPts val="0"/>
              </a:spcBef>
              <a:spcAft>
                <a:spcPts val="200"/>
              </a:spcAft>
            </a:pPr>
            <a:r>
              <a:rPr sz="1450" b="1" i="0">
                <a:solidFill>
                  <a:srgbClr val="FFFFFF"/>
                </a:solidFill>
                <a:latin typeface="Open Sans"/>
              </a:rPr>
              <a:t>Familia</a:t>
            </a:r>
          </a:p>
          <a:p>
            <a:pPr algn="ctr">
              <a:lnSpc>
                <a:spcPct val="116000"/>
              </a:lnSpc>
              <a:spcBef>
                <a:spcPts val="0"/>
              </a:spcBef>
              <a:spcAft>
                <a:spcPts val="0"/>
              </a:spcAft>
            </a:pPr>
            <a:r>
              <a:rPr sz="1050" b="0" i="0">
                <a:solidFill>
                  <a:srgbClr val="CBDCE7"/>
                </a:solidFill>
                <a:latin typeface="Open Sans"/>
              </a:rPr>
              <a:t>demanda proyectada</a:t>
            </a:r>
          </a:p>
        </p:txBody>
      </p:sp>
      <p:sp>
        <p:nvSpPr>
          <p:cNvPr id="13" name="Rounded Rectangle 12"/>
          <p:cNvSpPr/>
          <p:nvPr/>
        </p:nvSpPr>
        <p:spPr>
          <a:xfrm>
            <a:off x="5166359" y="2487168"/>
            <a:ext cx="3200400" cy="420624"/>
          </a:xfrm>
          <a:prstGeom prst="roundRect">
            <a:avLst>
              <a:gd name="adj" fmla="val 869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5394959" y="2487168"/>
            <a:ext cx="1463040" cy="420624"/>
          </a:xfrm>
          <a:prstGeom prst="rect">
            <a:avLst/>
          </a:prstGeom>
          <a:noFill/>
        </p:spPr>
        <p:txBody>
          <a:bodyPr wrap="square" lIns="0" rIns="0" tIns="0" bIns="0" anchor="ctr">
            <a:spAutoFit/>
          </a:bodyPr>
          <a:lstStyle/>
          <a:p>
            <a:pPr algn="l">
              <a:lnSpc>
                <a:spcPct val="116000"/>
              </a:lnSpc>
              <a:spcBef>
                <a:spcPts val="0"/>
              </a:spcBef>
              <a:spcAft>
                <a:spcPts val="0"/>
              </a:spcAft>
            </a:pPr>
            <a:r>
              <a:rPr sz="1250" b="1" i="0">
                <a:solidFill>
                  <a:srgbClr val="13161B"/>
                </a:solidFill>
                <a:latin typeface="Open Sans"/>
              </a:rPr>
              <a:t>SKU A</a:t>
            </a:r>
          </a:p>
        </p:txBody>
      </p:sp>
      <p:sp>
        <p:nvSpPr>
          <p:cNvPr id="15" name="TextBox 14"/>
          <p:cNvSpPr txBox="1"/>
          <p:nvPr/>
        </p:nvSpPr>
        <p:spPr>
          <a:xfrm>
            <a:off x="6720840" y="2487168"/>
            <a:ext cx="1463040" cy="420624"/>
          </a:xfrm>
          <a:prstGeom prst="rect">
            <a:avLst/>
          </a:prstGeom>
          <a:noFill/>
        </p:spPr>
        <p:txBody>
          <a:bodyPr wrap="square" lIns="0" rIns="0" tIns="0" bIns="0" anchor="ctr">
            <a:spAutoFit/>
          </a:bodyPr>
          <a:lstStyle/>
          <a:p>
            <a:pPr algn="r">
              <a:lnSpc>
                <a:spcPct val="116000"/>
              </a:lnSpc>
              <a:spcBef>
                <a:spcPts val="0"/>
              </a:spcBef>
              <a:spcAft>
                <a:spcPts val="0"/>
              </a:spcAft>
            </a:pPr>
            <a:r>
              <a:rPr sz="1250" b="1" i="0">
                <a:solidFill>
                  <a:srgbClr val="005F91"/>
                </a:solidFill>
                <a:latin typeface="Open Sans"/>
              </a:rPr>
              <a:t>41 %</a:t>
            </a:r>
          </a:p>
        </p:txBody>
      </p:sp>
      <p:cxnSp>
        <p:nvCxnSpPr>
          <p:cNvPr id="16" name="Connector 15"/>
          <p:cNvCxnSpPr/>
          <p:nvPr/>
        </p:nvCxnSpPr>
        <p:spPr>
          <a:xfrm flipV="1">
            <a:off x="3749039" y="2697479"/>
            <a:ext cx="1325881" cy="676657"/>
          </a:xfrm>
          <a:prstGeom prst="line">
            <a:avLst/>
          </a:prstGeom>
          <a:ln w="1524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66359" y="2962656"/>
            <a:ext cx="3200400" cy="420624"/>
          </a:xfrm>
          <a:prstGeom prst="roundRect">
            <a:avLst>
              <a:gd name="adj" fmla="val 869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5394959" y="2962656"/>
            <a:ext cx="1463040" cy="420624"/>
          </a:xfrm>
          <a:prstGeom prst="rect">
            <a:avLst/>
          </a:prstGeom>
          <a:noFill/>
        </p:spPr>
        <p:txBody>
          <a:bodyPr wrap="square" lIns="0" rIns="0" tIns="0" bIns="0" anchor="ctr">
            <a:spAutoFit/>
          </a:bodyPr>
          <a:lstStyle/>
          <a:p>
            <a:pPr algn="l">
              <a:lnSpc>
                <a:spcPct val="116000"/>
              </a:lnSpc>
              <a:spcBef>
                <a:spcPts val="0"/>
              </a:spcBef>
              <a:spcAft>
                <a:spcPts val="0"/>
              </a:spcAft>
            </a:pPr>
            <a:r>
              <a:rPr sz="1250" b="1" i="0">
                <a:solidFill>
                  <a:srgbClr val="13161B"/>
                </a:solidFill>
                <a:latin typeface="Open Sans"/>
              </a:rPr>
              <a:t>SKU B</a:t>
            </a:r>
          </a:p>
        </p:txBody>
      </p:sp>
      <p:sp>
        <p:nvSpPr>
          <p:cNvPr id="19" name="TextBox 18"/>
          <p:cNvSpPr txBox="1"/>
          <p:nvPr/>
        </p:nvSpPr>
        <p:spPr>
          <a:xfrm>
            <a:off x="6720840" y="2962656"/>
            <a:ext cx="1463040" cy="420624"/>
          </a:xfrm>
          <a:prstGeom prst="rect">
            <a:avLst/>
          </a:prstGeom>
          <a:noFill/>
        </p:spPr>
        <p:txBody>
          <a:bodyPr wrap="square" lIns="0" rIns="0" tIns="0" bIns="0" anchor="ctr">
            <a:spAutoFit/>
          </a:bodyPr>
          <a:lstStyle/>
          <a:p>
            <a:pPr algn="r">
              <a:lnSpc>
                <a:spcPct val="116000"/>
              </a:lnSpc>
              <a:spcBef>
                <a:spcPts val="0"/>
              </a:spcBef>
              <a:spcAft>
                <a:spcPts val="0"/>
              </a:spcAft>
            </a:pPr>
            <a:r>
              <a:rPr sz="1250" b="1" i="0">
                <a:solidFill>
                  <a:srgbClr val="005F91"/>
                </a:solidFill>
                <a:latin typeface="Open Sans"/>
              </a:rPr>
              <a:t>27 %</a:t>
            </a:r>
          </a:p>
        </p:txBody>
      </p:sp>
      <p:cxnSp>
        <p:nvCxnSpPr>
          <p:cNvPr id="20" name="Connector 19"/>
          <p:cNvCxnSpPr/>
          <p:nvPr/>
        </p:nvCxnSpPr>
        <p:spPr>
          <a:xfrm flipV="1">
            <a:off x="3749039" y="3172968"/>
            <a:ext cx="1325881" cy="201168"/>
          </a:xfrm>
          <a:prstGeom prst="line">
            <a:avLst/>
          </a:prstGeom>
          <a:ln w="1524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66359" y="3438144"/>
            <a:ext cx="3200400" cy="420624"/>
          </a:xfrm>
          <a:prstGeom prst="roundRect">
            <a:avLst>
              <a:gd name="adj" fmla="val 869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5394959" y="3438144"/>
            <a:ext cx="1463040" cy="420624"/>
          </a:xfrm>
          <a:prstGeom prst="rect">
            <a:avLst/>
          </a:prstGeom>
          <a:noFill/>
        </p:spPr>
        <p:txBody>
          <a:bodyPr wrap="square" lIns="0" rIns="0" tIns="0" bIns="0" anchor="ctr">
            <a:spAutoFit/>
          </a:bodyPr>
          <a:lstStyle/>
          <a:p>
            <a:pPr algn="l">
              <a:lnSpc>
                <a:spcPct val="116000"/>
              </a:lnSpc>
              <a:spcBef>
                <a:spcPts val="0"/>
              </a:spcBef>
              <a:spcAft>
                <a:spcPts val="0"/>
              </a:spcAft>
            </a:pPr>
            <a:r>
              <a:rPr sz="1250" b="1" i="0">
                <a:solidFill>
                  <a:srgbClr val="13161B"/>
                </a:solidFill>
                <a:latin typeface="Open Sans"/>
              </a:rPr>
              <a:t>SKU C</a:t>
            </a:r>
          </a:p>
        </p:txBody>
      </p:sp>
      <p:sp>
        <p:nvSpPr>
          <p:cNvPr id="23" name="TextBox 22"/>
          <p:cNvSpPr txBox="1"/>
          <p:nvPr/>
        </p:nvSpPr>
        <p:spPr>
          <a:xfrm>
            <a:off x="6720840" y="3438144"/>
            <a:ext cx="1463040" cy="420624"/>
          </a:xfrm>
          <a:prstGeom prst="rect">
            <a:avLst/>
          </a:prstGeom>
          <a:noFill/>
        </p:spPr>
        <p:txBody>
          <a:bodyPr wrap="square" lIns="0" rIns="0" tIns="0" bIns="0" anchor="ctr">
            <a:spAutoFit/>
          </a:bodyPr>
          <a:lstStyle/>
          <a:p>
            <a:pPr algn="r">
              <a:lnSpc>
                <a:spcPct val="116000"/>
              </a:lnSpc>
              <a:spcBef>
                <a:spcPts val="0"/>
              </a:spcBef>
              <a:spcAft>
                <a:spcPts val="0"/>
              </a:spcAft>
            </a:pPr>
            <a:r>
              <a:rPr sz="1250" b="1" i="0">
                <a:solidFill>
                  <a:srgbClr val="005F91"/>
                </a:solidFill>
                <a:latin typeface="Open Sans"/>
              </a:rPr>
              <a:t>19 %</a:t>
            </a:r>
          </a:p>
        </p:txBody>
      </p:sp>
      <p:cxnSp>
        <p:nvCxnSpPr>
          <p:cNvPr id="24" name="Connector 23"/>
          <p:cNvCxnSpPr/>
          <p:nvPr/>
        </p:nvCxnSpPr>
        <p:spPr>
          <a:xfrm>
            <a:off x="3749039" y="3374136"/>
            <a:ext cx="1325881" cy="274320"/>
          </a:xfrm>
          <a:prstGeom prst="line">
            <a:avLst/>
          </a:prstGeom>
          <a:ln w="1524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66359" y="3913631"/>
            <a:ext cx="3200400" cy="420624"/>
          </a:xfrm>
          <a:prstGeom prst="roundRect">
            <a:avLst>
              <a:gd name="adj" fmla="val 869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5394959" y="3913631"/>
            <a:ext cx="1463040" cy="420624"/>
          </a:xfrm>
          <a:prstGeom prst="rect">
            <a:avLst/>
          </a:prstGeom>
          <a:noFill/>
        </p:spPr>
        <p:txBody>
          <a:bodyPr wrap="square" lIns="0" rIns="0" tIns="0" bIns="0" anchor="ctr">
            <a:spAutoFit/>
          </a:bodyPr>
          <a:lstStyle/>
          <a:p>
            <a:pPr algn="l">
              <a:lnSpc>
                <a:spcPct val="116000"/>
              </a:lnSpc>
              <a:spcBef>
                <a:spcPts val="0"/>
              </a:spcBef>
              <a:spcAft>
                <a:spcPts val="0"/>
              </a:spcAft>
            </a:pPr>
            <a:r>
              <a:rPr sz="1250" b="1" i="0">
                <a:solidFill>
                  <a:srgbClr val="13161B"/>
                </a:solidFill>
                <a:latin typeface="Open Sans"/>
              </a:rPr>
              <a:t>SKU D</a:t>
            </a:r>
          </a:p>
        </p:txBody>
      </p:sp>
      <p:sp>
        <p:nvSpPr>
          <p:cNvPr id="27" name="TextBox 26"/>
          <p:cNvSpPr txBox="1"/>
          <p:nvPr/>
        </p:nvSpPr>
        <p:spPr>
          <a:xfrm>
            <a:off x="6720840" y="3913631"/>
            <a:ext cx="1463040" cy="420624"/>
          </a:xfrm>
          <a:prstGeom prst="rect">
            <a:avLst/>
          </a:prstGeom>
          <a:noFill/>
        </p:spPr>
        <p:txBody>
          <a:bodyPr wrap="square" lIns="0" rIns="0" tIns="0" bIns="0" anchor="ctr">
            <a:spAutoFit/>
          </a:bodyPr>
          <a:lstStyle/>
          <a:p>
            <a:pPr algn="r">
              <a:lnSpc>
                <a:spcPct val="116000"/>
              </a:lnSpc>
              <a:spcBef>
                <a:spcPts val="0"/>
              </a:spcBef>
              <a:spcAft>
                <a:spcPts val="0"/>
              </a:spcAft>
            </a:pPr>
            <a:r>
              <a:rPr sz="1250" b="1" i="0">
                <a:solidFill>
                  <a:srgbClr val="005F91"/>
                </a:solidFill>
                <a:latin typeface="Open Sans"/>
              </a:rPr>
              <a:t>13 %</a:t>
            </a:r>
          </a:p>
        </p:txBody>
      </p:sp>
      <p:cxnSp>
        <p:nvCxnSpPr>
          <p:cNvPr id="28" name="Connector 27"/>
          <p:cNvCxnSpPr/>
          <p:nvPr/>
        </p:nvCxnSpPr>
        <p:spPr>
          <a:xfrm>
            <a:off x="3749039" y="3374136"/>
            <a:ext cx="1325881" cy="749808"/>
          </a:xfrm>
          <a:prstGeom prst="line">
            <a:avLst/>
          </a:prstGeom>
          <a:ln w="15240">
            <a:solidFill>
              <a:srgbClr val="9AA1A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371600" y="4096512"/>
            <a:ext cx="3291840" cy="365760"/>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9AA1A9"/>
                </a:solidFill>
                <a:latin typeface="Open Sans"/>
              </a:rPr>
              <a:t>Las cuotas suman 100 %</a:t>
            </a:r>
          </a:p>
        </p:txBody>
      </p:sp>
      <p:sp>
        <p:nvSpPr>
          <p:cNvPr id="30" name="Rounded Rectangle 29"/>
          <p:cNvSpPr/>
          <p:nvPr/>
        </p:nvSpPr>
        <p:spPr>
          <a:xfrm>
            <a:off x="9464040" y="2249424"/>
            <a:ext cx="7863840" cy="2331720"/>
          </a:xfrm>
          <a:prstGeom prst="roundRect">
            <a:avLst>
              <a:gd name="adj" fmla="val 2156"/>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1" name="Rectangle 30"/>
          <p:cNvSpPr/>
          <p:nvPr/>
        </p:nvSpPr>
        <p:spPr>
          <a:xfrm>
            <a:off x="9464040" y="2249424"/>
            <a:ext cx="68580" cy="233172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TextBox 31"/>
          <p:cNvSpPr txBox="1"/>
          <p:nvPr/>
        </p:nvSpPr>
        <p:spPr>
          <a:xfrm>
            <a:off x="9921240" y="2578608"/>
            <a:ext cx="7022592" cy="167335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Qué predice esta capa</a:t>
            </a:r>
          </a:p>
          <a:p>
            <a:pPr algn="l" marL="274320" indent="-274320">
              <a:lnSpc>
                <a:spcPct val="118000"/>
              </a:lnSpc>
              <a:spcBef>
                <a:spcPts val="0"/>
              </a:spcBef>
              <a:spcAft>
                <a:spcPts val="700"/>
              </a:spcAft>
            </a:pPr>
            <a:r>
              <a:rPr sz="1340" b="0" i="0">
                <a:solidFill>
                  <a:srgbClr val="394049"/>
                </a:solidFill>
                <a:latin typeface="Open Sans"/>
              </a:rPr>
              <a:t>•	No la demanda del SKU, sino su participación dentro de la familia; la demanda familiar se multiplica por esa cuota.</a:t>
            </a:r>
          </a:p>
          <a:p>
            <a:pPr algn="l" marL="274320" indent="-274320">
              <a:lnSpc>
                <a:spcPct val="118000"/>
              </a:lnSpc>
              <a:spcBef>
                <a:spcPts val="0"/>
              </a:spcBef>
              <a:spcAft>
                <a:spcPts val="0"/>
              </a:spcAft>
            </a:pPr>
            <a:r>
              <a:rPr sz="1340" b="0" i="0">
                <a:solidFill>
                  <a:srgbClr val="394049"/>
                </a:solidFill>
                <a:latin typeface="Open Sans"/>
              </a:rPr>
              <a:t>•	Restringido al catálogo estratégico: las cuotas se normalizan sobre el Top 100 de cada familia.</a:t>
            </a:r>
          </a:p>
        </p:txBody>
      </p:sp>
      <p:sp>
        <p:nvSpPr>
          <p:cNvPr id="33" name="Rounded Rectangle 32"/>
          <p:cNvSpPr/>
          <p:nvPr/>
        </p:nvSpPr>
        <p:spPr>
          <a:xfrm>
            <a:off x="960120" y="4855464"/>
            <a:ext cx="5239512" cy="3520440"/>
          </a:xfrm>
          <a:prstGeom prst="roundRect">
            <a:avLst>
              <a:gd name="adj" fmla="val 142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4" name="Rectangle 33"/>
          <p:cNvSpPr/>
          <p:nvPr/>
        </p:nvSpPr>
        <p:spPr>
          <a:xfrm>
            <a:off x="960120" y="4855464"/>
            <a:ext cx="68580" cy="352044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5" name="TextBox 34"/>
          <p:cNvSpPr txBox="1"/>
          <p:nvPr/>
        </p:nvSpPr>
        <p:spPr>
          <a:xfrm>
            <a:off x="1417320" y="5184648"/>
            <a:ext cx="4398264" cy="2862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Vía A · proporciones históricas</a:t>
            </a:r>
          </a:p>
          <a:p>
            <a:pPr algn="l" marL="274320" indent="-274320">
              <a:lnSpc>
                <a:spcPct val="118000"/>
              </a:lnSpc>
              <a:spcBef>
                <a:spcPts val="0"/>
              </a:spcBef>
              <a:spcAft>
                <a:spcPts val="1000"/>
              </a:spcAft>
            </a:pPr>
            <a:r>
              <a:rPr sz="1340" b="0" i="0">
                <a:solidFill>
                  <a:srgbClr val="394049"/>
                </a:solidFill>
                <a:latin typeface="Open Sans"/>
              </a:rPr>
              <a:t>•	La cuota se calcula con las ventas del período de entrenamiento y se mantiene fija durante el test.</a:t>
            </a:r>
          </a:p>
          <a:p>
            <a:pPr algn="l" marL="274320" indent="-274320">
              <a:lnSpc>
                <a:spcPct val="118000"/>
              </a:lnSpc>
              <a:spcBef>
                <a:spcPts val="0"/>
              </a:spcBef>
              <a:spcAft>
                <a:spcPts val="1000"/>
              </a:spcAft>
            </a:pPr>
            <a:r>
              <a:rPr sz="1340" b="0" i="0">
                <a:solidFill>
                  <a:srgbClr val="394049"/>
                </a:solidFill>
                <a:latin typeface="Open Sans"/>
              </a:rPr>
              <a:t>•	Es el esquema que usan todos los modelos comparados: garantiza una comparación justa.</a:t>
            </a:r>
          </a:p>
          <a:p>
            <a:pPr algn="l" marL="274320" indent="-274320">
              <a:lnSpc>
                <a:spcPct val="118000"/>
              </a:lnSpc>
              <a:spcBef>
                <a:spcPts val="0"/>
              </a:spcBef>
              <a:spcAft>
                <a:spcPts val="1000"/>
              </a:spcAft>
            </a:pPr>
            <a:r>
              <a:rPr sz="1340" b="1" i="0">
                <a:solidFill>
                  <a:srgbClr val="13161B"/>
                </a:solidFill>
                <a:latin typeface="Open Sans"/>
              </a:rPr>
              <a:t>•	Resultado principal: WAPE 16,10 %.</a:t>
            </a:r>
          </a:p>
        </p:txBody>
      </p:sp>
      <p:sp>
        <p:nvSpPr>
          <p:cNvPr id="36" name="Rounded Rectangle 35"/>
          <p:cNvSpPr/>
          <p:nvPr/>
        </p:nvSpPr>
        <p:spPr>
          <a:xfrm>
            <a:off x="6519672" y="4855464"/>
            <a:ext cx="5239512" cy="3520440"/>
          </a:xfrm>
          <a:prstGeom prst="roundRect">
            <a:avLst>
              <a:gd name="adj" fmla="val 142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Rectangle 36"/>
          <p:cNvSpPr/>
          <p:nvPr/>
        </p:nvSpPr>
        <p:spPr>
          <a:xfrm>
            <a:off x="6519672" y="4855464"/>
            <a:ext cx="68580" cy="352044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6976872" y="5184648"/>
            <a:ext cx="4398264" cy="2862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Vía B · cuotas supervisadas</a:t>
            </a:r>
          </a:p>
          <a:p>
            <a:pPr algn="l" marL="274320" indent="-274320">
              <a:lnSpc>
                <a:spcPct val="118000"/>
              </a:lnSpc>
              <a:spcBef>
                <a:spcPts val="0"/>
              </a:spcBef>
              <a:spcAft>
                <a:spcPts val="1000"/>
              </a:spcAft>
            </a:pPr>
            <a:r>
              <a:rPr sz="1340" b="0" i="0">
                <a:solidFill>
                  <a:srgbClr val="394049"/>
                </a:solidFill>
                <a:latin typeface="Open Sans"/>
              </a:rPr>
              <a:t>•	LightGBM, XGBoost y CatBoost predicen la cuota mes a mes con la historia que va surgiendo.</a:t>
            </a:r>
          </a:p>
          <a:p>
            <a:pPr algn="l" marL="274320" indent="-274320">
              <a:lnSpc>
                <a:spcPct val="118000"/>
              </a:lnSpc>
              <a:spcBef>
                <a:spcPts val="0"/>
              </a:spcBef>
              <a:spcAft>
                <a:spcPts val="1000"/>
              </a:spcAft>
            </a:pPr>
            <a:r>
              <a:rPr sz="1340" b="0" i="0">
                <a:solidFill>
                  <a:srgbClr val="394049"/>
                </a:solidFill>
                <a:latin typeface="Open Sans"/>
              </a:rPr>
              <a:t>•	Variables: cuota rezagada en t−1 y t−12, medias móviles de 3 y 12 meses, meses desde la última venta y precio relativo del SKU.</a:t>
            </a:r>
          </a:p>
          <a:p>
            <a:pPr algn="l" marL="274320" indent="-274320">
              <a:lnSpc>
                <a:spcPct val="118000"/>
              </a:lnSpc>
              <a:spcBef>
                <a:spcPts val="0"/>
              </a:spcBef>
              <a:spcAft>
                <a:spcPts val="1000"/>
              </a:spcAft>
            </a:pPr>
            <a:r>
              <a:rPr sz="1340" b="1" i="0">
                <a:solidFill>
                  <a:srgbClr val="13161B"/>
                </a:solidFill>
                <a:latin typeface="Open Sans"/>
              </a:rPr>
              <a:t>•	Evaluada en la misma ventana: WAPE 24,35 %.</a:t>
            </a:r>
          </a:p>
        </p:txBody>
      </p:sp>
      <p:sp>
        <p:nvSpPr>
          <p:cNvPr id="39" name="Rounded Rectangle 38"/>
          <p:cNvSpPr/>
          <p:nvPr/>
        </p:nvSpPr>
        <p:spPr>
          <a:xfrm>
            <a:off x="12079224" y="4855464"/>
            <a:ext cx="5239512" cy="3520440"/>
          </a:xfrm>
          <a:prstGeom prst="roundRect">
            <a:avLst>
              <a:gd name="adj" fmla="val 142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Rectangle 39"/>
          <p:cNvSpPr/>
          <p:nvPr/>
        </p:nvSpPr>
        <p:spPr>
          <a:xfrm>
            <a:off x="12079224" y="4855464"/>
            <a:ext cx="68580" cy="352044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12536424" y="5184648"/>
            <a:ext cx="4398264" cy="2862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Regla de selección en validación</a:t>
            </a:r>
          </a:p>
          <a:p>
            <a:pPr algn="l" marL="274320" indent="-274320">
              <a:lnSpc>
                <a:spcPct val="118000"/>
              </a:lnSpc>
              <a:spcBef>
                <a:spcPts val="0"/>
              </a:spcBef>
              <a:spcAft>
                <a:spcPts val="1000"/>
              </a:spcAft>
            </a:pPr>
            <a:r>
              <a:rPr sz="1340" b="0" i="0">
                <a:solidFill>
                  <a:srgbClr val="394049"/>
                </a:solidFill>
                <a:latin typeface="Open Sans"/>
              </a:rPr>
              <a:t>•	El pipeline compara el WAPE de ambos esquemas sobre la ventana de validación.</a:t>
            </a:r>
          </a:p>
          <a:p>
            <a:pPr algn="l" marL="274320" indent="-274320">
              <a:lnSpc>
                <a:spcPct val="118000"/>
              </a:lnSpc>
              <a:spcBef>
                <a:spcPts val="0"/>
              </a:spcBef>
              <a:spcAft>
                <a:spcPts val="1000"/>
              </a:spcAft>
            </a:pPr>
            <a:r>
              <a:rPr sz="1340" b="0" i="0">
                <a:solidFill>
                  <a:srgbClr val="394049"/>
                </a:solidFill>
                <a:latin typeface="Open Sans"/>
              </a:rPr>
              <a:t>•	Adopta el de menor error para la prueba ciega, sin intervención manual.</a:t>
            </a:r>
          </a:p>
          <a:p>
            <a:pPr algn="l" marL="274320" indent="-274320">
              <a:lnSpc>
                <a:spcPct val="118000"/>
              </a:lnSpc>
              <a:spcBef>
                <a:spcPts val="0"/>
              </a:spcBef>
              <a:spcAft>
                <a:spcPts val="1000"/>
              </a:spcAft>
            </a:pPr>
            <a:r>
              <a:rPr sz="1340" b="0" i="0">
                <a:solidFill>
                  <a:srgbClr val="394049"/>
                </a:solidFill>
                <a:latin typeface="Open Sans"/>
              </a:rPr>
              <a:t>•	En esta ventana seleccionó el reparto estático; si el catálogo cambia, la misma regla puede adoptar las cuotas aprendidas.</a:t>
            </a:r>
          </a:p>
        </p:txBody>
      </p:sp>
      <p:sp>
        <p:nvSpPr>
          <p:cNvPr id="42" name="Rounded Rectangle 41"/>
          <p:cNvSpPr/>
          <p:nvPr/>
        </p:nvSpPr>
        <p:spPr>
          <a:xfrm>
            <a:off x="960120" y="8604504"/>
            <a:ext cx="16367759" cy="658368"/>
          </a:xfrm>
          <a:prstGeom prst="roundRect">
            <a:avLst>
              <a:gd name="adj" fmla="val 7638"/>
            </a:avLst>
          </a:prstGeom>
          <a:solidFill>
            <a:srgbClr val="EF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1417320" y="8604504"/>
            <a:ext cx="15453359" cy="658368"/>
          </a:xfrm>
          <a:prstGeom prst="rect">
            <a:avLst/>
          </a:prstGeom>
          <a:noFill/>
        </p:spPr>
        <p:txBody>
          <a:bodyPr wrap="square" lIns="0" rIns="0" tIns="0" bIns="0" anchor="ctr">
            <a:spAutoFit/>
          </a:bodyPr>
          <a:lstStyle/>
          <a:p>
            <a:pPr algn="ctr">
              <a:lnSpc>
                <a:spcPct val="118000"/>
              </a:lnSpc>
              <a:spcBef>
                <a:spcPts val="0"/>
              </a:spcBef>
              <a:spcAft>
                <a:spcPts val="0"/>
              </a:spcAft>
            </a:pPr>
            <a:r>
              <a:rPr sz="1450" b="0" i="0">
                <a:solidFill>
                  <a:srgbClr val="394049"/>
                </a:solidFill>
                <a:latin typeface="Open Sans"/>
              </a:rPr>
              <a:t>En catálogos con alta intermitencia, la estabilidad de las proporciones históricas le ganó a la sofisticación de las cuotas aprendidas.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05   RESULTADOS Y EVIDENCIA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Benchmark fuera de muestra: febrero – agosto 2025</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17</a:t>
            </a:r>
          </a:p>
        </p:txBody>
      </p:sp>
      <p:sp>
        <p:nvSpPr>
          <p:cNvPr id="10" name="Rounded Rectangle 9"/>
          <p:cNvSpPr/>
          <p:nvPr/>
        </p:nvSpPr>
        <p:spPr>
          <a:xfrm>
            <a:off x="960120" y="2249424"/>
            <a:ext cx="10424160" cy="6446520"/>
          </a:xfrm>
          <a:prstGeom prst="roundRect">
            <a:avLst>
              <a:gd name="adj" fmla="val 851"/>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benchmark_sku.png"/>
          <p:cNvPicPr>
            <a:picLocks noChangeAspect="1"/>
          </p:cNvPicPr>
          <p:nvPr/>
        </p:nvPicPr>
        <p:blipFill>
          <a:blip r:embed="rId2"/>
          <a:stretch>
            <a:fillRect/>
          </a:stretch>
        </p:blipFill>
        <p:spPr>
          <a:xfrm>
            <a:off x="1188720" y="2550850"/>
            <a:ext cx="9966960" cy="5843667"/>
          </a:xfrm>
          <a:prstGeom prst="rect">
            <a:avLst/>
          </a:prstGeom>
        </p:spPr>
      </p:pic>
      <p:sp>
        <p:nvSpPr>
          <p:cNvPr id="12" name="Rounded Rectangle 11"/>
          <p:cNvSpPr/>
          <p:nvPr/>
        </p:nvSpPr>
        <p:spPr>
          <a:xfrm>
            <a:off x="11750040" y="2249424"/>
            <a:ext cx="5577840" cy="2788920"/>
          </a:xfrm>
          <a:prstGeom prst="roundRect">
            <a:avLst>
              <a:gd name="adj" fmla="val 1803"/>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11750040" y="2249424"/>
            <a:ext cx="68580" cy="278892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2207240" y="2578608"/>
            <a:ext cx="4736592" cy="213055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Lectura de resultados</a:t>
            </a:r>
          </a:p>
          <a:p>
            <a:pPr algn="l" marL="274320" indent="-274320">
              <a:lnSpc>
                <a:spcPct val="118000"/>
              </a:lnSpc>
              <a:spcBef>
                <a:spcPts val="0"/>
              </a:spcBef>
              <a:spcAft>
                <a:spcPts val="700"/>
              </a:spcAft>
            </a:pPr>
            <a:r>
              <a:rPr sz="1380" b="0" i="0">
                <a:solidFill>
                  <a:srgbClr val="394049"/>
                </a:solidFill>
                <a:latin typeface="Open Sans"/>
              </a:rPr>
              <a:t>•	El ES-GBM reduce el error a menos de un cuarto de la mejor referencia clásica.</a:t>
            </a:r>
          </a:p>
          <a:p>
            <a:pPr algn="l" marL="274320" indent="-274320">
              <a:lnSpc>
                <a:spcPct val="118000"/>
              </a:lnSpc>
              <a:spcBef>
                <a:spcPts val="0"/>
              </a:spcBef>
              <a:spcAft>
                <a:spcPts val="700"/>
              </a:spcAft>
            </a:pPr>
            <a:r>
              <a:rPr sz="1380" b="0" i="0">
                <a:solidFill>
                  <a:srgbClr val="394049"/>
                </a:solidFill>
                <a:latin typeface="Open Sans"/>
              </a:rPr>
              <a:t>•	Supera también a la red LSTM y al modelo fundacional Chronos-Bolt.</a:t>
            </a:r>
          </a:p>
          <a:p>
            <a:pPr algn="l" marL="274320" indent="-274320">
              <a:lnSpc>
                <a:spcPct val="118000"/>
              </a:lnSpc>
              <a:spcBef>
                <a:spcPts val="0"/>
              </a:spcBef>
              <a:spcAft>
                <a:spcPts val="0"/>
              </a:spcAft>
            </a:pPr>
            <a:r>
              <a:rPr sz="1380" b="0" i="0">
                <a:solidFill>
                  <a:srgbClr val="394049"/>
                </a:solidFill>
                <a:latin typeface="Open Sans"/>
              </a:rPr>
              <a:t>•	Croston y SBA fallan por diseño: ignoran la estacionalidad.</a:t>
            </a:r>
          </a:p>
        </p:txBody>
      </p:sp>
      <p:sp>
        <p:nvSpPr>
          <p:cNvPr id="15" name="Rounded Rectangle 14"/>
          <p:cNvSpPr/>
          <p:nvPr/>
        </p:nvSpPr>
        <p:spPr>
          <a:xfrm>
            <a:off x="11750040" y="5312664"/>
            <a:ext cx="5577840" cy="3383280"/>
          </a:xfrm>
          <a:prstGeom prst="roundRect">
            <a:avLst>
              <a:gd name="adj" fmla="val 1621"/>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6" name="Picture 15" descr="benchmark_familia.png"/>
          <p:cNvPicPr>
            <a:picLocks noChangeAspect="1"/>
          </p:cNvPicPr>
          <p:nvPr/>
        </p:nvPicPr>
        <p:blipFill>
          <a:blip r:embed="rId3"/>
          <a:stretch>
            <a:fillRect/>
          </a:stretch>
        </p:blipFill>
        <p:spPr>
          <a:xfrm>
            <a:off x="11932920" y="5580885"/>
            <a:ext cx="5212080" cy="2846836"/>
          </a:xfrm>
          <a:prstGeom prst="rect">
            <a:avLst/>
          </a:prstGeom>
        </p:spPr>
      </p:pic>
      <p:sp>
        <p:nvSpPr>
          <p:cNvPr id="17" name="TextBox 16"/>
          <p:cNvSpPr txBox="1"/>
          <p:nvPr/>
        </p:nvSpPr>
        <p:spPr>
          <a:xfrm>
            <a:off x="960120" y="8833104"/>
            <a:ext cx="16367759"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WAPE fuera de muestra sobre 7 meses de prueba ciega. Métricas completas en el anexo A3; significancia estadística de la diferencia en el anexo A10.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05   RESULTADOS Y EVIDENCIA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Calidad del ajuste: el pronóstico sigue a la demanda real</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18</a:t>
            </a:r>
          </a:p>
        </p:txBody>
      </p:sp>
      <p:sp>
        <p:nvSpPr>
          <p:cNvPr id="10" name="Rounded Rectangle 9"/>
          <p:cNvSpPr/>
          <p:nvPr/>
        </p:nvSpPr>
        <p:spPr>
          <a:xfrm>
            <a:off x="960120" y="2249424"/>
            <a:ext cx="10424160" cy="5669280"/>
          </a:xfrm>
          <a:prstGeom prst="roundRect">
            <a:avLst>
              <a:gd name="adj" fmla="val 967"/>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fig5_3.png"/>
          <p:cNvPicPr>
            <a:picLocks noChangeAspect="1"/>
          </p:cNvPicPr>
          <p:nvPr/>
        </p:nvPicPr>
        <p:blipFill>
          <a:blip r:embed="rId2"/>
          <a:stretch>
            <a:fillRect/>
          </a:stretch>
        </p:blipFill>
        <p:spPr>
          <a:xfrm>
            <a:off x="1245907" y="2523744"/>
            <a:ext cx="9852584" cy="5120640"/>
          </a:xfrm>
          <a:prstGeom prst="rect">
            <a:avLst/>
          </a:prstGeom>
        </p:spPr>
      </p:pic>
      <p:sp>
        <p:nvSpPr>
          <p:cNvPr id="12" name="TextBox 11"/>
          <p:cNvSpPr txBox="1"/>
          <p:nvPr/>
        </p:nvSpPr>
        <p:spPr>
          <a:xfrm>
            <a:off x="960120" y="8055863"/>
            <a:ext cx="1042416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Suma mensual del Top 100 SKUs: demanda observada vs. pronóstico ES-GBM.</a:t>
            </a:r>
          </a:p>
        </p:txBody>
      </p:sp>
      <p:sp>
        <p:nvSpPr>
          <p:cNvPr id="13" name="Rounded Rectangle 12"/>
          <p:cNvSpPr/>
          <p:nvPr/>
        </p:nvSpPr>
        <p:spPr>
          <a:xfrm>
            <a:off x="11750040" y="2249424"/>
            <a:ext cx="2697480" cy="1508760"/>
          </a:xfrm>
          <a:prstGeom prst="roundRect">
            <a:avLst>
              <a:gd name="adj" fmla="val 3333"/>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2079224" y="2249424"/>
            <a:ext cx="2039112" cy="1508760"/>
          </a:xfrm>
          <a:prstGeom prst="rect">
            <a:avLst/>
          </a:prstGeom>
          <a:noFill/>
        </p:spPr>
        <p:txBody>
          <a:bodyPr wrap="square" lIns="0" rIns="0" tIns="0" bIns="0" anchor="ctr">
            <a:spAutoFit/>
          </a:bodyPr>
          <a:lstStyle/>
          <a:p>
            <a:pPr algn="ctr">
              <a:lnSpc>
                <a:spcPct val="100000"/>
              </a:lnSpc>
              <a:spcBef>
                <a:spcPts val="0"/>
              </a:spcBef>
              <a:spcAft>
                <a:spcPts val="200"/>
              </a:spcAft>
            </a:pPr>
            <a:r>
              <a:rPr sz="2700" b="1" i="0">
                <a:solidFill>
                  <a:srgbClr val="005F91"/>
                </a:solidFill>
                <a:latin typeface="Open Sans"/>
              </a:rPr>
              <a:t>16,10 %</a:t>
            </a:r>
          </a:p>
          <a:p>
            <a:pPr algn="ctr">
              <a:lnSpc>
                <a:spcPct val="120000"/>
              </a:lnSpc>
              <a:spcBef>
                <a:spcPts val="0"/>
              </a:spcBef>
              <a:spcAft>
                <a:spcPts val="0"/>
              </a:spcAft>
            </a:pPr>
            <a:r>
              <a:rPr sz="1250" b="0" i="0">
                <a:solidFill>
                  <a:srgbClr val="394049"/>
                </a:solidFill>
                <a:latin typeface="Open Sans"/>
              </a:rPr>
              <a:t>WAPE a nivel SKU</a:t>
            </a:r>
          </a:p>
        </p:txBody>
      </p:sp>
      <p:sp>
        <p:nvSpPr>
          <p:cNvPr id="15" name="Rounded Rectangle 14"/>
          <p:cNvSpPr/>
          <p:nvPr/>
        </p:nvSpPr>
        <p:spPr>
          <a:xfrm>
            <a:off x="14630400" y="2249424"/>
            <a:ext cx="2697480" cy="1508760"/>
          </a:xfrm>
          <a:prstGeom prst="roundRect">
            <a:avLst>
              <a:gd name="adj" fmla="val 3333"/>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14959584" y="2249424"/>
            <a:ext cx="2039112" cy="1508760"/>
          </a:xfrm>
          <a:prstGeom prst="rect">
            <a:avLst/>
          </a:prstGeom>
          <a:noFill/>
        </p:spPr>
        <p:txBody>
          <a:bodyPr wrap="square" lIns="0" rIns="0" tIns="0" bIns="0" anchor="ctr">
            <a:spAutoFit/>
          </a:bodyPr>
          <a:lstStyle/>
          <a:p>
            <a:pPr algn="ctr">
              <a:lnSpc>
                <a:spcPct val="100000"/>
              </a:lnSpc>
              <a:spcBef>
                <a:spcPts val="0"/>
              </a:spcBef>
              <a:spcAft>
                <a:spcPts val="200"/>
              </a:spcAft>
            </a:pPr>
            <a:r>
              <a:rPr sz="2700" b="1" i="0">
                <a:solidFill>
                  <a:srgbClr val="005F91"/>
                </a:solidFill>
                <a:latin typeface="Open Sans"/>
              </a:rPr>
              <a:t>12,89 %</a:t>
            </a:r>
          </a:p>
          <a:p>
            <a:pPr algn="ctr">
              <a:lnSpc>
                <a:spcPct val="120000"/>
              </a:lnSpc>
              <a:spcBef>
                <a:spcPts val="0"/>
              </a:spcBef>
              <a:spcAft>
                <a:spcPts val="0"/>
              </a:spcAft>
            </a:pPr>
            <a:r>
              <a:rPr sz="1250" b="0" i="0">
                <a:solidFill>
                  <a:srgbClr val="394049"/>
                </a:solidFill>
                <a:latin typeface="Open Sans"/>
              </a:rPr>
              <a:t>WAPE a nivel familia</a:t>
            </a:r>
          </a:p>
        </p:txBody>
      </p:sp>
      <p:sp>
        <p:nvSpPr>
          <p:cNvPr id="17" name="Rounded Rectangle 16"/>
          <p:cNvSpPr/>
          <p:nvPr/>
        </p:nvSpPr>
        <p:spPr>
          <a:xfrm>
            <a:off x="11750040" y="3941064"/>
            <a:ext cx="2697480" cy="1508760"/>
          </a:xfrm>
          <a:prstGeom prst="roundRect">
            <a:avLst>
              <a:gd name="adj" fmla="val 3333"/>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2079224" y="3941064"/>
            <a:ext cx="2039112" cy="1508760"/>
          </a:xfrm>
          <a:prstGeom prst="rect">
            <a:avLst/>
          </a:prstGeom>
          <a:noFill/>
        </p:spPr>
        <p:txBody>
          <a:bodyPr wrap="square" lIns="0" rIns="0" tIns="0" bIns="0" anchor="ctr">
            <a:spAutoFit/>
          </a:bodyPr>
          <a:lstStyle/>
          <a:p>
            <a:pPr algn="ctr">
              <a:lnSpc>
                <a:spcPct val="100000"/>
              </a:lnSpc>
              <a:spcBef>
                <a:spcPts val="0"/>
              </a:spcBef>
              <a:spcAft>
                <a:spcPts val="200"/>
              </a:spcAft>
            </a:pPr>
            <a:r>
              <a:rPr sz="2700" b="1" i="0">
                <a:solidFill>
                  <a:srgbClr val="D10120"/>
                </a:solidFill>
                <a:latin typeface="Open Sans"/>
              </a:rPr>
              <a:t>0,95 / 0,96</a:t>
            </a:r>
          </a:p>
          <a:p>
            <a:pPr algn="ctr">
              <a:lnSpc>
                <a:spcPct val="120000"/>
              </a:lnSpc>
              <a:spcBef>
                <a:spcPts val="0"/>
              </a:spcBef>
              <a:spcAft>
                <a:spcPts val="0"/>
              </a:spcAft>
            </a:pPr>
            <a:r>
              <a:rPr sz="1250" b="0" i="0">
                <a:solidFill>
                  <a:srgbClr val="394049"/>
                </a:solidFill>
                <a:latin typeface="Open Sans"/>
              </a:rPr>
              <a:t>R² SKU y familia</a:t>
            </a:r>
          </a:p>
        </p:txBody>
      </p:sp>
      <p:sp>
        <p:nvSpPr>
          <p:cNvPr id="19" name="Rounded Rectangle 18"/>
          <p:cNvSpPr/>
          <p:nvPr/>
        </p:nvSpPr>
        <p:spPr>
          <a:xfrm>
            <a:off x="14630400" y="3941064"/>
            <a:ext cx="2697480" cy="1508760"/>
          </a:xfrm>
          <a:prstGeom prst="roundRect">
            <a:avLst>
              <a:gd name="adj" fmla="val 3333"/>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14959584" y="3941064"/>
            <a:ext cx="2039112" cy="1508760"/>
          </a:xfrm>
          <a:prstGeom prst="rect">
            <a:avLst/>
          </a:prstGeom>
          <a:noFill/>
        </p:spPr>
        <p:txBody>
          <a:bodyPr wrap="square" lIns="0" rIns="0" tIns="0" bIns="0" anchor="ctr">
            <a:spAutoFit/>
          </a:bodyPr>
          <a:lstStyle/>
          <a:p>
            <a:pPr algn="ctr">
              <a:lnSpc>
                <a:spcPct val="100000"/>
              </a:lnSpc>
              <a:spcBef>
                <a:spcPts val="0"/>
              </a:spcBef>
              <a:spcAft>
                <a:spcPts val="200"/>
              </a:spcAft>
            </a:pPr>
            <a:r>
              <a:rPr sz="2700" b="1" i="0">
                <a:solidFill>
                  <a:srgbClr val="D10120"/>
                </a:solidFill>
                <a:latin typeface="Open Sans"/>
              </a:rPr>
              <a:t>−4,8 %</a:t>
            </a:r>
          </a:p>
          <a:p>
            <a:pPr algn="ctr">
              <a:lnSpc>
                <a:spcPct val="120000"/>
              </a:lnSpc>
              <a:spcBef>
                <a:spcPts val="0"/>
              </a:spcBef>
              <a:spcAft>
                <a:spcPts val="0"/>
              </a:spcAft>
            </a:pPr>
            <a:r>
              <a:rPr sz="1250" b="0" i="0">
                <a:solidFill>
                  <a:srgbClr val="394049"/>
                </a:solidFill>
                <a:latin typeface="Open Sans"/>
              </a:rPr>
              <a:t>sesgo medio del pronóstico</a:t>
            </a:r>
          </a:p>
        </p:txBody>
      </p:sp>
      <p:sp>
        <p:nvSpPr>
          <p:cNvPr id="21" name="Rounded Rectangle 20"/>
          <p:cNvSpPr/>
          <p:nvPr/>
        </p:nvSpPr>
        <p:spPr>
          <a:xfrm>
            <a:off x="11750040" y="5769864"/>
            <a:ext cx="5577840" cy="3108960"/>
          </a:xfrm>
          <a:prstGeom prst="roundRect">
            <a:avLst>
              <a:gd name="adj" fmla="val 1617"/>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11750040" y="5769864"/>
            <a:ext cx="68580" cy="310896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2207240" y="6099048"/>
            <a:ext cx="4736592" cy="245059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Qué dice esto</a:t>
            </a:r>
          </a:p>
          <a:p>
            <a:pPr algn="l" marL="274320" indent="-274320">
              <a:lnSpc>
                <a:spcPct val="118000"/>
              </a:lnSpc>
              <a:spcBef>
                <a:spcPts val="0"/>
              </a:spcBef>
              <a:spcAft>
                <a:spcPts val="700"/>
              </a:spcAft>
            </a:pPr>
            <a:r>
              <a:rPr sz="1380" b="0" i="0">
                <a:solidFill>
                  <a:srgbClr val="394049"/>
                </a:solidFill>
                <a:latin typeface="Open Sans"/>
              </a:rPr>
              <a:t>•	R² de 0,95 a nivel SKU: la arquitectura explica casi toda la varianza de la demanda.</a:t>
            </a:r>
          </a:p>
          <a:p>
            <a:pPr algn="l" marL="274320" indent="-274320">
              <a:lnSpc>
                <a:spcPct val="118000"/>
              </a:lnSpc>
              <a:spcBef>
                <a:spcPts val="0"/>
              </a:spcBef>
              <a:spcAft>
                <a:spcPts val="700"/>
              </a:spcAft>
            </a:pPr>
            <a:r>
              <a:rPr sz="1380" b="0" i="0">
                <a:solidFill>
                  <a:srgbClr val="394049"/>
                </a:solidFill>
                <a:latin typeface="Open Sans"/>
              </a:rPr>
              <a:t>•	Sesgo levemente negativo (−4,8 %): el modelo sub-predice de forma sistemática y corregible.</a:t>
            </a:r>
          </a:p>
          <a:p>
            <a:pPr algn="l" marL="274320" indent="-274320">
              <a:lnSpc>
                <a:spcPct val="118000"/>
              </a:lnSpc>
              <a:spcBef>
                <a:spcPts val="0"/>
              </a:spcBef>
              <a:spcAft>
                <a:spcPts val="0"/>
              </a:spcAft>
            </a:pPr>
            <a:r>
              <a:rPr sz="1380" b="0" i="0">
                <a:solidFill>
                  <a:srgbClr val="394049"/>
                </a:solidFill>
                <a:latin typeface="Open Sans"/>
              </a:rPr>
              <a:t>•	WRMSSE de 0,2017, comparable con el marco de la competencia M5.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05   RESULTADOS Y EVIDENCIA</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Ablación del vector de precios: tres configuraciones, un mismo ensamble</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19</a:t>
            </a:r>
          </a:p>
        </p:txBody>
      </p:sp>
      <p:sp>
        <p:nvSpPr>
          <p:cNvPr id="10" name="Rounded Rectangle 9"/>
          <p:cNvSpPr/>
          <p:nvPr/>
        </p:nvSpPr>
        <p:spPr>
          <a:xfrm>
            <a:off x="960120" y="2249424"/>
            <a:ext cx="7863840" cy="4572000"/>
          </a:xfrm>
          <a:prstGeom prst="roundRect">
            <a:avLst>
              <a:gd name="adj" fmla="val 1200"/>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ablation.png"/>
          <p:cNvPicPr>
            <a:picLocks noChangeAspect="1"/>
          </p:cNvPicPr>
          <p:nvPr/>
        </p:nvPicPr>
        <p:blipFill>
          <a:blip r:embed="rId2"/>
          <a:stretch>
            <a:fillRect/>
          </a:stretch>
        </p:blipFill>
        <p:spPr>
          <a:xfrm>
            <a:off x="1754505" y="2478024"/>
            <a:ext cx="6275070" cy="4114800"/>
          </a:xfrm>
          <a:prstGeom prst="rect">
            <a:avLst/>
          </a:prstGeom>
        </p:spPr>
      </p:pic>
      <p:sp>
        <p:nvSpPr>
          <p:cNvPr id="12" name="TextBox 11"/>
          <p:cNvSpPr txBox="1"/>
          <p:nvPr/>
        </p:nvSpPr>
        <p:spPr>
          <a:xfrm>
            <a:off x="960120" y="6958584"/>
            <a:ext cx="786384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WAPE a nivel SKU según la información de precios disponible al pronosticar.</a:t>
            </a:r>
          </a:p>
        </p:txBody>
      </p:sp>
      <p:sp>
        <p:nvSpPr>
          <p:cNvPr id="13" name="Rounded Rectangle 12"/>
          <p:cNvSpPr/>
          <p:nvPr/>
        </p:nvSpPr>
        <p:spPr>
          <a:xfrm>
            <a:off x="960120" y="7324344"/>
            <a:ext cx="7863840" cy="1965960"/>
          </a:xfrm>
          <a:prstGeom prst="roundRect">
            <a:avLst>
              <a:gd name="adj" fmla="val 255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960120" y="7324344"/>
            <a:ext cx="68580" cy="196596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417320" y="7653527"/>
            <a:ext cx="7022592" cy="130759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Cómo se corrió el experimento</a:t>
            </a:r>
          </a:p>
          <a:p>
            <a:pPr algn="l" marL="274320" indent="-274320">
              <a:lnSpc>
                <a:spcPct val="118000"/>
              </a:lnSpc>
              <a:spcBef>
                <a:spcPts val="0"/>
              </a:spcBef>
              <a:spcAft>
                <a:spcPts val="700"/>
              </a:spcAft>
            </a:pPr>
            <a:r>
              <a:rPr sz="1360" b="0" i="0">
                <a:solidFill>
                  <a:srgbClr val="394049"/>
                </a:solidFill>
                <a:latin typeface="Open Sans"/>
              </a:rPr>
              <a:t>•	Se reentrena el ensamble completo excluyendo o rezagando el vector de precios; el resto del protocolo se mantiene idéntico.</a:t>
            </a:r>
          </a:p>
          <a:p>
            <a:pPr algn="l" marL="274320" indent="-274320">
              <a:lnSpc>
                <a:spcPct val="118000"/>
              </a:lnSpc>
              <a:spcBef>
                <a:spcPts val="0"/>
              </a:spcBef>
              <a:spcAft>
                <a:spcPts val="0"/>
              </a:spcAft>
            </a:pPr>
            <a:r>
              <a:rPr sz="1360" b="0" i="0">
                <a:solidFill>
                  <a:srgbClr val="394049"/>
                </a:solidFill>
                <a:latin typeface="Open Sans"/>
              </a:rPr>
              <a:t>•	Ejecuciones separadas del pipeline: 8 semillas × 3 modelos GBDT × NNLS × ruteo.</a:t>
            </a:r>
          </a:p>
        </p:txBody>
      </p:sp>
      <p:sp>
        <p:nvSpPr>
          <p:cNvPr id="16" name="TextBox 15"/>
          <p:cNvSpPr txBox="1"/>
          <p:nvPr/>
        </p:nvSpPr>
        <p:spPr>
          <a:xfrm>
            <a:off x="9464040" y="2194560"/>
            <a:ext cx="7863840" cy="365760"/>
          </a:xfrm>
          <a:prstGeom prst="rect">
            <a:avLst/>
          </a:prstGeom>
          <a:noFill/>
        </p:spPr>
        <p:txBody>
          <a:bodyPr wrap="square" lIns="0" rIns="0" tIns="0" bIns="0" anchor="t">
            <a:spAutoFit/>
          </a:bodyPr>
          <a:lstStyle/>
          <a:p>
            <a:pPr algn="l">
              <a:lnSpc>
                <a:spcPct val="116000"/>
              </a:lnSpc>
              <a:spcBef>
                <a:spcPts val="0"/>
              </a:spcBef>
              <a:spcAft>
                <a:spcPts val="0"/>
              </a:spcAft>
            </a:pPr>
            <a:r>
              <a:rPr sz="1250" b="1" i="0" spc="180">
                <a:solidFill>
                  <a:srgbClr val="6E6E6E"/>
                </a:solidFill>
                <a:latin typeface="Open Sans"/>
              </a:rPr>
              <a:t>ESTUDIO DE ABLACIÓN · NIVEL SKU (TABLA 5.5)</a:t>
            </a:r>
          </a:p>
        </p:txBody>
      </p:sp>
      <p:sp>
        <p:nvSpPr>
          <p:cNvPr id="17" name="Rectangle 16"/>
          <p:cNvSpPr/>
          <p:nvPr/>
        </p:nvSpPr>
        <p:spPr>
          <a:xfrm>
            <a:off x="9464040" y="2633472"/>
            <a:ext cx="7863840" cy="50292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9628632" y="2633472"/>
            <a:ext cx="2871216" cy="502920"/>
          </a:xfrm>
          <a:prstGeom prst="rect">
            <a:avLst/>
          </a:prstGeom>
          <a:noFill/>
        </p:spPr>
        <p:txBody>
          <a:bodyPr wrap="square" lIns="0" rIns="0" tIns="0" bIns="0" anchor="ctr">
            <a:spAutoFit/>
          </a:bodyPr>
          <a:lstStyle/>
          <a:p>
            <a:pPr algn="l">
              <a:lnSpc>
                <a:spcPct val="116000"/>
              </a:lnSpc>
              <a:spcBef>
                <a:spcPts val="0"/>
              </a:spcBef>
              <a:spcAft>
                <a:spcPts val="0"/>
              </a:spcAft>
            </a:pPr>
            <a:r>
              <a:rPr sz="1250" b="1" i="0">
                <a:solidFill>
                  <a:srgbClr val="FFFFFF"/>
                </a:solidFill>
                <a:latin typeface="Open Sans"/>
              </a:rPr>
              <a:t>Configuración de precios</a:t>
            </a:r>
          </a:p>
        </p:txBody>
      </p:sp>
      <p:sp>
        <p:nvSpPr>
          <p:cNvPr id="19" name="TextBox 18"/>
          <p:cNvSpPr txBox="1"/>
          <p:nvPr/>
        </p:nvSpPr>
        <p:spPr>
          <a:xfrm>
            <a:off x="12829032" y="2633472"/>
            <a:ext cx="950976" cy="502920"/>
          </a:xfrm>
          <a:prstGeom prst="rect">
            <a:avLst/>
          </a:prstGeom>
          <a:noFill/>
        </p:spPr>
        <p:txBody>
          <a:bodyPr wrap="square" lIns="0" rIns="0" tIns="0" bIns="0" anchor="ctr">
            <a:spAutoFit/>
          </a:bodyPr>
          <a:lstStyle/>
          <a:p>
            <a:pPr algn="r">
              <a:lnSpc>
                <a:spcPct val="116000"/>
              </a:lnSpc>
              <a:spcBef>
                <a:spcPts val="0"/>
              </a:spcBef>
              <a:spcAft>
                <a:spcPts val="0"/>
              </a:spcAft>
            </a:pPr>
            <a:r>
              <a:rPr sz="1250" b="1" i="0">
                <a:solidFill>
                  <a:srgbClr val="FFFFFF"/>
                </a:solidFill>
                <a:latin typeface="Open Sans"/>
              </a:rPr>
              <a:t>WAPE</a:t>
            </a:r>
          </a:p>
        </p:txBody>
      </p:sp>
      <p:sp>
        <p:nvSpPr>
          <p:cNvPr id="20" name="TextBox 19"/>
          <p:cNvSpPr txBox="1"/>
          <p:nvPr/>
        </p:nvSpPr>
        <p:spPr>
          <a:xfrm>
            <a:off x="14109192" y="2633472"/>
            <a:ext cx="859536" cy="502920"/>
          </a:xfrm>
          <a:prstGeom prst="rect">
            <a:avLst/>
          </a:prstGeom>
          <a:noFill/>
        </p:spPr>
        <p:txBody>
          <a:bodyPr wrap="square" lIns="0" rIns="0" tIns="0" bIns="0" anchor="ctr">
            <a:spAutoFit/>
          </a:bodyPr>
          <a:lstStyle/>
          <a:p>
            <a:pPr algn="r">
              <a:lnSpc>
                <a:spcPct val="116000"/>
              </a:lnSpc>
              <a:spcBef>
                <a:spcPts val="0"/>
              </a:spcBef>
              <a:spcAft>
                <a:spcPts val="0"/>
              </a:spcAft>
            </a:pPr>
            <a:r>
              <a:rPr sz="1250" b="1" i="0">
                <a:solidFill>
                  <a:srgbClr val="FFFFFF"/>
                </a:solidFill>
                <a:latin typeface="Open Sans"/>
              </a:rPr>
              <a:t>MAPE</a:t>
            </a:r>
          </a:p>
        </p:txBody>
      </p:sp>
      <p:sp>
        <p:nvSpPr>
          <p:cNvPr id="21" name="TextBox 20"/>
          <p:cNvSpPr txBox="1"/>
          <p:nvPr/>
        </p:nvSpPr>
        <p:spPr>
          <a:xfrm>
            <a:off x="15297912" y="2633472"/>
            <a:ext cx="768096" cy="502920"/>
          </a:xfrm>
          <a:prstGeom prst="rect">
            <a:avLst/>
          </a:prstGeom>
          <a:noFill/>
        </p:spPr>
        <p:txBody>
          <a:bodyPr wrap="square" lIns="0" rIns="0" tIns="0" bIns="0" anchor="ctr">
            <a:spAutoFit/>
          </a:bodyPr>
          <a:lstStyle/>
          <a:p>
            <a:pPr algn="r">
              <a:lnSpc>
                <a:spcPct val="116000"/>
              </a:lnSpc>
              <a:spcBef>
                <a:spcPts val="0"/>
              </a:spcBef>
              <a:spcAft>
                <a:spcPts val="0"/>
              </a:spcAft>
            </a:pPr>
            <a:r>
              <a:rPr sz="1250" b="1" i="0">
                <a:solidFill>
                  <a:srgbClr val="FFFFFF"/>
                </a:solidFill>
                <a:latin typeface="Open Sans"/>
              </a:rPr>
              <a:t>RMSE</a:t>
            </a:r>
          </a:p>
        </p:txBody>
      </p:sp>
      <p:sp>
        <p:nvSpPr>
          <p:cNvPr id="22" name="TextBox 21"/>
          <p:cNvSpPr txBox="1"/>
          <p:nvPr/>
        </p:nvSpPr>
        <p:spPr>
          <a:xfrm>
            <a:off x="16395192" y="2633472"/>
            <a:ext cx="768096" cy="502920"/>
          </a:xfrm>
          <a:prstGeom prst="rect">
            <a:avLst/>
          </a:prstGeom>
          <a:noFill/>
        </p:spPr>
        <p:txBody>
          <a:bodyPr wrap="square" lIns="0" rIns="0" tIns="0" bIns="0" anchor="ctr">
            <a:spAutoFit/>
          </a:bodyPr>
          <a:lstStyle/>
          <a:p>
            <a:pPr algn="r">
              <a:lnSpc>
                <a:spcPct val="116000"/>
              </a:lnSpc>
              <a:spcBef>
                <a:spcPts val="0"/>
              </a:spcBef>
              <a:spcAft>
                <a:spcPts val="0"/>
              </a:spcAft>
            </a:pPr>
            <a:r>
              <a:rPr sz="1250" b="1" i="0">
                <a:solidFill>
                  <a:srgbClr val="FFFFFF"/>
                </a:solidFill>
                <a:latin typeface="Open Sans"/>
              </a:rPr>
              <a:t>R²</a:t>
            </a:r>
          </a:p>
        </p:txBody>
      </p:sp>
      <p:sp>
        <p:nvSpPr>
          <p:cNvPr id="23" name="Rectangle 22"/>
          <p:cNvSpPr/>
          <p:nvPr/>
        </p:nvSpPr>
        <p:spPr>
          <a:xfrm>
            <a:off x="9464040" y="3136391"/>
            <a:ext cx="7863840" cy="658368"/>
          </a:xfrm>
          <a:prstGeom prst="rect">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9628632" y="3136391"/>
            <a:ext cx="2871216" cy="658368"/>
          </a:xfrm>
          <a:prstGeom prst="rect">
            <a:avLst/>
          </a:prstGeom>
          <a:noFill/>
        </p:spPr>
        <p:txBody>
          <a:bodyPr wrap="square" lIns="0" rIns="0" tIns="0" bIns="0" anchor="ctr">
            <a:spAutoFit/>
          </a:bodyPr>
          <a:lstStyle/>
          <a:p>
            <a:pPr algn="l">
              <a:lnSpc>
                <a:spcPct val="116000"/>
              </a:lnSpc>
              <a:spcBef>
                <a:spcPts val="0"/>
              </a:spcBef>
              <a:spcAft>
                <a:spcPts val="0"/>
              </a:spcAft>
            </a:pPr>
            <a:r>
              <a:rPr sz="1350" b="0" i="0">
                <a:solidFill>
                  <a:srgbClr val="394049"/>
                </a:solidFill>
                <a:latin typeface="Open Sans"/>
              </a:rPr>
              <a:t>1 · Sin información de precios</a:t>
            </a:r>
          </a:p>
        </p:txBody>
      </p:sp>
      <p:sp>
        <p:nvSpPr>
          <p:cNvPr id="25" name="TextBox 24"/>
          <p:cNvSpPr txBox="1"/>
          <p:nvPr/>
        </p:nvSpPr>
        <p:spPr>
          <a:xfrm>
            <a:off x="12829032" y="3136391"/>
            <a:ext cx="95097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0" i="0">
                <a:solidFill>
                  <a:srgbClr val="394049"/>
                </a:solidFill>
                <a:latin typeface="Open Sans"/>
              </a:rPr>
              <a:t>38,25 %</a:t>
            </a:r>
          </a:p>
        </p:txBody>
      </p:sp>
      <p:sp>
        <p:nvSpPr>
          <p:cNvPr id="26" name="TextBox 25"/>
          <p:cNvSpPr txBox="1"/>
          <p:nvPr/>
        </p:nvSpPr>
        <p:spPr>
          <a:xfrm>
            <a:off x="14109192" y="3136391"/>
            <a:ext cx="85953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0" i="0">
                <a:solidFill>
                  <a:srgbClr val="394049"/>
                </a:solidFill>
                <a:latin typeface="Open Sans"/>
              </a:rPr>
              <a:t>44,10 %</a:t>
            </a:r>
          </a:p>
        </p:txBody>
      </p:sp>
      <p:sp>
        <p:nvSpPr>
          <p:cNvPr id="27" name="TextBox 26"/>
          <p:cNvSpPr txBox="1"/>
          <p:nvPr/>
        </p:nvSpPr>
        <p:spPr>
          <a:xfrm>
            <a:off x="15297912" y="3136391"/>
            <a:ext cx="76809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0" i="0">
                <a:solidFill>
                  <a:srgbClr val="394049"/>
                </a:solidFill>
                <a:latin typeface="Open Sans"/>
              </a:rPr>
              <a:t>58,3</a:t>
            </a:r>
          </a:p>
        </p:txBody>
      </p:sp>
      <p:sp>
        <p:nvSpPr>
          <p:cNvPr id="28" name="TextBox 27"/>
          <p:cNvSpPr txBox="1"/>
          <p:nvPr/>
        </p:nvSpPr>
        <p:spPr>
          <a:xfrm>
            <a:off x="16395192" y="3136391"/>
            <a:ext cx="76809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0" i="0">
                <a:solidFill>
                  <a:srgbClr val="394049"/>
                </a:solidFill>
                <a:latin typeface="Open Sans"/>
              </a:rPr>
              <a:t>0,69</a:t>
            </a:r>
          </a:p>
        </p:txBody>
      </p:sp>
      <p:sp>
        <p:nvSpPr>
          <p:cNvPr id="29" name="Rectangle 28"/>
          <p:cNvSpPr/>
          <p:nvPr/>
        </p:nvSpPr>
        <p:spPr>
          <a:xfrm>
            <a:off x="9464040" y="3794759"/>
            <a:ext cx="7863840" cy="658368"/>
          </a:xfrm>
          <a:prstGeom prst="rect">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9628632" y="3794759"/>
            <a:ext cx="2871216" cy="658368"/>
          </a:xfrm>
          <a:prstGeom prst="rect">
            <a:avLst/>
          </a:prstGeom>
          <a:noFill/>
        </p:spPr>
        <p:txBody>
          <a:bodyPr wrap="square" lIns="0" rIns="0" tIns="0" bIns="0" anchor="ctr">
            <a:spAutoFit/>
          </a:bodyPr>
          <a:lstStyle/>
          <a:p>
            <a:pPr algn="l">
              <a:lnSpc>
                <a:spcPct val="116000"/>
              </a:lnSpc>
              <a:spcBef>
                <a:spcPts val="0"/>
              </a:spcBef>
              <a:spcAft>
                <a:spcPts val="0"/>
              </a:spcAft>
            </a:pPr>
            <a:r>
              <a:rPr sz="1350" b="0" i="0">
                <a:solidFill>
                  <a:srgbClr val="394049"/>
                </a:solidFill>
                <a:latin typeface="Open Sans"/>
              </a:rPr>
              <a:t>2 · Con precio rezagado t−1</a:t>
            </a:r>
          </a:p>
        </p:txBody>
      </p:sp>
      <p:sp>
        <p:nvSpPr>
          <p:cNvPr id="31" name="TextBox 30"/>
          <p:cNvSpPr txBox="1"/>
          <p:nvPr/>
        </p:nvSpPr>
        <p:spPr>
          <a:xfrm>
            <a:off x="12829032" y="3794759"/>
            <a:ext cx="95097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0" i="0">
                <a:solidFill>
                  <a:srgbClr val="394049"/>
                </a:solidFill>
                <a:latin typeface="Open Sans"/>
              </a:rPr>
              <a:t>26,42 %</a:t>
            </a:r>
          </a:p>
        </p:txBody>
      </p:sp>
      <p:sp>
        <p:nvSpPr>
          <p:cNvPr id="32" name="TextBox 31"/>
          <p:cNvSpPr txBox="1"/>
          <p:nvPr/>
        </p:nvSpPr>
        <p:spPr>
          <a:xfrm>
            <a:off x="14109192" y="3794759"/>
            <a:ext cx="85953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0" i="0">
                <a:solidFill>
                  <a:srgbClr val="394049"/>
                </a:solidFill>
                <a:latin typeface="Open Sans"/>
              </a:rPr>
              <a:t>31,50 %</a:t>
            </a:r>
          </a:p>
        </p:txBody>
      </p:sp>
      <p:sp>
        <p:nvSpPr>
          <p:cNvPr id="33" name="TextBox 32"/>
          <p:cNvSpPr txBox="1"/>
          <p:nvPr/>
        </p:nvSpPr>
        <p:spPr>
          <a:xfrm>
            <a:off x="15297912" y="3794759"/>
            <a:ext cx="76809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0" i="0">
                <a:solidFill>
                  <a:srgbClr val="394049"/>
                </a:solidFill>
                <a:latin typeface="Open Sans"/>
              </a:rPr>
              <a:t>41,2</a:t>
            </a:r>
          </a:p>
        </p:txBody>
      </p:sp>
      <p:sp>
        <p:nvSpPr>
          <p:cNvPr id="34" name="TextBox 33"/>
          <p:cNvSpPr txBox="1"/>
          <p:nvPr/>
        </p:nvSpPr>
        <p:spPr>
          <a:xfrm>
            <a:off x="16395192" y="3794759"/>
            <a:ext cx="76809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0" i="0">
                <a:solidFill>
                  <a:srgbClr val="394049"/>
                </a:solidFill>
                <a:latin typeface="Open Sans"/>
              </a:rPr>
              <a:t>0,78</a:t>
            </a:r>
          </a:p>
        </p:txBody>
      </p:sp>
      <p:sp>
        <p:nvSpPr>
          <p:cNvPr id="35" name="Rectangle 34"/>
          <p:cNvSpPr/>
          <p:nvPr/>
        </p:nvSpPr>
        <p:spPr>
          <a:xfrm>
            <a:off x="9464040" y="4453127"/>
            <a:ext cx="7863840" cy="658368"/>
          </a:xfrm>
          <a:prstGeom prst="rect">
            <a:avLst/>
          </a:prstGeom>
          <a:solidFill>
            <a:srgbClr val="E8EEF3"/>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6" name="Rectangle 35"/>
          <p:cNvSpPr/>
          <p:nvPr/>
        </p:nvSpPr>
        <p:spPr>
          <a:xfrm>
            <a:off x="9464040" y="4453127"/>
            <a:ext cx="54864" cy="658368"/>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TextBox 36"/>
          <p:cNvSpPr txBox="1"/>
          <p:nvPr/>
        </p:nvSpPr>
        <p:spPr>
          <a:xfrm>
            <a:off x="9628632" y="4453127"/>
            <a:ext cx="2871216" cy="658368"/>
          </a:xfrm>
          <a:prstGeom prst="rect">
            <a:avLst/>
          </a:prstGeom>
          <a:noFill/>
        </p:spPr>
        <p:txBody>
          <a:bodyPr wrap="square" lIns="0" rIns="0" tIns="0" bIns="0" anchor="ctr">
            <a:spAutoFit/>
          </a:bodyPr>
          <a:lstStyle/>
          <a:p>
            <a:pPr algn="l">
              <a:lnSpc>
                <a:spcPct val="116000"/>
              </a:lnSpc>
              <a:spcBef>
                <a:spcPts val="0"/>
              </a:spcBef>
              <a:spcAft>
                <a:spcPts val="0"/>
              </a:spcAft>
            </a:pPr>
            <a:r>
              <a:rPr sz="1350" b="1" i="0">
                <a:solidFill>
                  <a:srgbClr val="003F62"/>
                </a:solidFill>
                <a:latin typeface="Open Sans"/>
              </a:rPr>
              <a:t>3 · Con plan comercial ex-ante t</a:t>
            </a:r>
          </a:p>
        </p:txBody>
      </p:sp>
      <p:sp>
        <p:nvSpPr>
          <p:cNvPr id="38" name="TextBox 37"/>
          <p:cNvSpPr txBox="1"/>
          <p:nvPr/>
        </p:nvSpPr>
        <p:spPr>
          <a:xfrm>
            <a:off x="12829032" y="4453127"/>
            <a:ext cx="95097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1" i="0">
                <a:solidFill>
                  <a:srgbClr val="003F62"/>
                </a:solidFill>
                <a:latin typeface="Open Sans"/>
              </a:rPr>
              <a:t>16,10 %</a:t>
            </a:r>
          </a:p>
        </p:txBody>
      </p:sp>
      <p:sp>
        <p:nvSpPr>
          <p:cNvPr id="39" name="TextBox 38"/>
          <p:cNvSpPr txBox="1"/>
          <p:nvPr/>
        </p:nvSpPr>
        <p:spPr>
          <a:xfrm>
            <a:off x="14109192" y="4453127"/>
            <a:ext cx="85953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1" i="0">
                <a:solidFill>
                  <a:srgbClr val="003F62"/>
                </a:solidFill>
                <a:latin typeface="Open Sans"/>
              </a:rPr>
              <a:t>20,47 %</a:t>
            </a:r>
          </a:p>
        </p:txBody>
      </p:sp>
      <p:sp>
        <p:nvSpPr>
          <p:cNvPr id="40" name="TextBox 39"/>
          <p:cNvSpPr txBox="1"/>
          <p:nvPr/>
        </p:nvSpPr>
        <p:spPr>
          <a:xfrm>
            <a:off x="15297912" y="4453127"/>
            <a:ext cx="76809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1" i="0">
                <a:solidFill>
                  <a:srgbClr val="003F62"/>
                </a:solidFill>
                <a:latin typeface="Open Sans"/>
              </a:rPr>
              <a:t>26,7</a:t>
            </a:r>
          </a:p>
        </p:txBody>
      </p:sp>
      <p:sp>
        <p:nvSpPr>
          <p:cNvPr id="41" name="TextBox 40"/>
          <p:cNvSpPr txBox="1"/>
          <p:nvPr/>
        </p:nvSpPr>
        <p:spPr>
          <a:xfrm>
            <a:off x="16395192" y="4453127"/>
            <a:ext cx="768096" cy="658368"/>
          </a:xfrm>
          <a:prstGeom prst="rect">
            <a:avLst/>
          </a:prstGeom>
          <a:noFill/>
        </p:spPr>
        <p:txBody>
          <a:bodyPr wrap="square" lIns="0" rIns="0" tIns="0" bIns="0" anchor="ctr">
            <a:spAutoFit/>
          </a:bodyPr>
          <a:lstStyle/>
          <a:p>
            <a:pPr algn="r">
              <a:lnSpc>
                <a:spcPct val="116000"/>
              </a:lnSpc>
              <a:spcBef>
                <a:spcPts val="0"/>
              </a:spcBef>
              <a:spcAft>
                <a:spcPts val="0"/>
              </a:spcAft>
            </a:pPr>
            <a:r>
              <a:rPr sz="1350" b="1" i="0">
                <a:solidFill>
                  <a:srgbClr val="003F62"/>
                </a:solidFill>
                <a:latin typeface="Open Sans"/>
              </a:rPr>
              <a:t>0,95</a:t>
            </a:r>
          </a:p>
        </p:txBody>
      </p:sp>
      <p:sp>
        <p:nvSpPr>
          <p:cNvPr id="42" name="TextBox 41"/>
          <p:cNvSpPr txBox="1"/>
          <p:nvPr/>
        </p:nvSpPr>
        <p:spPr>
          <a:xfrm>
            <a:off x="9464040" y="5175504"/>
            <a:ext cx="786384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La configuración 3 es el modelo propuesto; las otras dos son reentrenamientos controlados.</a:t>
            </a:r>
          </a:p>
        </p:txBody>
      </p:sp>
      <p:sp>
        <p:nvSpPr>
          <p:cNvPr id="43" name="Rounded Rectangle 42"/>
          <p:cNvSpPr/>
          <p:nvPr/>
        </p:nvSpPr>
        <p:spPr>
          <a:xfrm>
            <a:off x="9464040" y="5678424"/>
            <a:ext cx="7863840" cy="3474720"/>
          </a:xfrm>
          <a:prstGeom prst="roundRect">
            <a:avLst>
              <a:gd name="adj" fmla="val 1578"/>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44" name="Picture 43" descr="fig5_4.png"/>
          <p:cNvPicPr>
            <a:picLocks noChangeAspect="1"/>
          </p:cNvPicPr>
          <p:nvPr/>
        </p:nvPicPr>
        <p:blipFill>
          <a:blip r:embed="rId3"/>
          <a:stretch>
            <a:fillRect/>
          </a:stretch>
        </p:blipFill>
        <p:spPr>
          <a:xfrm>
            <a:off x="10379254" y="5861304"/>
            <a:ext cx="6033411" cy="3108960"/>
          </a:xfrm>
          <a:prstGeom prst="rect">
            <a:avLst/>
          </a:prstGeom>
        </p:spPr>
      </p:pic>
      <p:sp>
        <p:nvSpPr>
          <p:cNvPr id="45" name="TextBox 44"/>
          <p:cNvSpPr txBox="1"/>
          <p:nvPr/>
        </p:nvSpPr>
        <p:spPr>
          <a:xfrm>
            <a:off x="9464040" y="9034272"/>
            <a:ext cx="786384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Importancia por ganancia total del módulo GBDT: el precio ex-ante concentra el 67,0 %.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06   IMPACTO Y CONCLUSIONES</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Del error de pronóstico al capital de trabajo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20</a:t>
            </a:r>
          </a:p>
        </p:txBody>
      </p:sp>
      <p:sp>
        <p:nvSpPr>
          <p:cNvPr id="10" name="Rounded Rectangle 9"/>
          <p:cNvSpPr/>
          <p:nvPr/>
        </p:nvSpPr>
        <p:spPr>
          <a:xfrm>
            <a:off x="960120" y="2249424"/>
            <a:ext cx="5239512" cy="1965960"/>
          </a:xfrm>
          <a:prstGeom prst="roundRect">
            <a:avLst>
              <a:gd name="adj" fmla="val 255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289304" y="2249424"/>
            <a:ext cx="4581144" cy="1965960"/>
          </a:xfrm>
          <a:prstGeom prst="rect">
            <a:avLst/>
          </a:prstGeom>
          <a:noFill/>
        </p:spPr>
        <p:txBody>
          <a:bodyPr wrap="square" lIns="0" rIns="0" tIns="0" bIns="0" anchor="ctr">
            <a:spAutoFit/>
          </a:bodyPr>
          <a:lstStyle/>
          <a:p>
            <a:pPr algn="l">
              <a:lnSpc>
                <a:spcPct val="100000"/>
              </a:lnSpc>
              <a:spcBef>
                <a:spcPts val="0"/>
              </a:spcBef>
              <a:spcAft>
                <a:spcPts val="200"/>
              </a:spcAft>
            </a:pPr>
            <a:r>
              <a:rPr sz="3800" b="1" i="0">
                <a:solidFill>
                  <a:srgbClr val="005F91"/>
                </a:solidFill>
                <a:latin typeface="Open Sans"/>
              </a:rPr>
              <a:t>$105,6M</a:t>
            </a:r>
          </a:p>
          <a:p>
            <a:pPr algn="l">
              <a:lnSpc>
                <a:spcPct val="120000"/>
              </a:lnSpc>
              <a:spcBef>
                <a:spcPts val="0"/>
              </a:spcBef>
              <a:spcAft>
                <a:spcPts val="0"/>
              </a:spcAft>
            </a:pPr>
            <a:r>
              <a:rPr sz="1350" b="0" i="0">
                <a:solidFill>
                  <a:srgbClr val="394049"/>
                </a:solidFill>
                <a:latin typeface="Open Sans"/>
              </a:rPr>
              <a:t>CLP de capital de trabajo liberado</a:t>
            </a:r>
          </a:p>
          <a:p>
            <a:pPr algn="l">
              <a:lnSpc>
                <a:spcPct val="115000"/>
              </a:lnSpc>
              <a:spcBef>
                <a:spcPts val="400"/>
              </a:spcBef>
              <a:spcAft>
                <a:spcPts val="0"/>
              </a:spcAft>
            </a:pPr>
            <a:r>
              <a:rPr sz="1150" b="0" i="0">
                <a:solidFill>
                  <a:srgbClr val="9AA1A9"/>
                </a:solidFill>
                <a:latin typeface="Open Sans"/>
              </a:rPr>
              <a:t>efecto nivel, en balance</a:t>
            </a:r>
          </a:p>
        </p:txBody>
      </p:sp>
      <p:sp>
        <p:nvSpPr>
          <p:cNvPr id="12" name="Rounded Rectangle 11"/>
          <p:cNvSpPr/>
          <p:nvPr/>
        </p:nvSpPr>
        <p:spPr>
          <a:xfrm>
            <a:off x="6519672" y="2249424"/>
            <a:ext cx="5239512" cy="1965960"/>
          </a:xfrm>
          <a:prstGeom prst="roundRect">
            <a:avLst>
              <a:gd name="adj" fmla="val 255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6848856" y="2249424"/>
            <a:ext cx="4581144" cy="1965960"/>
          </a:xfrm>
          <a:prstGeom prst="rect">
            <a:avLst/>
          </a:prstGeom>
          <a:noFill/>
        </p:spPr>
        <p:txBody>
          <a:bodyPr wrap="square" lIns="0" rIns="0" tIns="0" bIns="0" anchor="ctr">
            <a:spAutoFit/>
          </a:bodyPr>
          <a:lstStyle/>
          <a:p>
            <a:pPr algn="l">
              <a:lnSpc>
                <a:spcPct val="100000"/>
              </a:lnSpc>
              <a:spcBef>
                <a:spcPts val="0"/>
              </a:spcBef>
              <a:spcAft>
                <a:spcPts val="200"/>
              </a:spcAft>
            </a:pPr>
            <a:r>
              <a:rPr sz="3800" b="1" i="0">
                <a:solidFill>
                  <a:srgbClr val="005F91"/>
                </a:solidFill>
                <a:latin typeface="Open Sans"/>
              </a:rPr>
              <a:t>$23,2M</a:t>
            </a:r>
          </a:p>
          <a:p>
            <a:pPr algn="l">
              <a:lnSpc>
                <a:spcPct val="120000"/>
              </a:lnSpc>
              <a:spcBef>
                <a:spcPts val="0"/>
              </a:spcBef>
              <a:spcAft>
                <a:spcPts val="0"/>
              </a:spcAft>
            </a:pPr>
            <a:r>
              <a:rPr sz="1350" b="0" i="0">
                <a:solidFill>
                  <a:srgbClr val="394049"/>
                </a:solidFill>
                <a:latin typeface="Open Sans"/>
              </a:rPr>
              <a:t>CLP de ahorro anual recurrente</a:t>
            </a:r>
          </a:p>
          <a:p>
            <a:pPr algn="l">
              <a:lnSpc>
                <a:spcPct val="115000"/>
              </a:lnSpc>
              <a:spcBef>
                <a:spcPts val="400"/>
              </a:spcBef>
              <a:spcAft>
                <a:spcPts val="0"/>
              </a:spcAft>
            </a:pPr>
            <a:r>
              <a:rPr sz="1150" b="0" i="0">
                <a:solidFill>
                  <a:srgbClr val="9AA1A9"/>
                </a:solidFill>
                <a:latin typeface="Open Sans"/>
              </a:rPr>
              <a:t>holding costs, i = 22 % anual</a:t>
            </a:r>
          </a:p>
        </p:txBody>
      </p:sp>
      <p:sp>
        <p:nvSpPr>
          <p:cNvPr id="14" name="Rounded Rectangle 13"/>
          <p:cNvSpPr/>
          <p:nvPr/>
        </p:nvSpPr>
        <p:spPr>
          <a:xfrm>
            <a:off x="12079224" y="2249424"/>
            <a:ext cx="5239512" cy="1965960"/>
          </a:xfrm>
          <a:prstGeom prst="roundRect">
            <a:avLst>
              <a:gd name="adj" fmla="val 255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12408408" y="2249424"/>
            <a:ext cx="4581144" cy="1965960"/>
          </a:xfrm>
          <a:prstGeom prst="rect">
            <a:avLst/>
          </a:prstGeom>
          <a:noFill/>
        </p:spPr>
        <p:txBody>
          <a:bodyPr wrap="square" lIns="0" rIns="0" tIns="0" bIns="0" anchor="ctr">
            <a:spAutoFit/>
          </a:bodyPr>
          <a:lstStyle/>
          <a:p>
            <a:pPr algn="l">
              <a:lnSpc>
                <a:spcPct val="100000"/>
              </a:lnSpc>
              <a:spcBef>
                <a:spcPts val="0"/>
              </a:spcBef>
              <a:spcAft>
                <a:spcPts val="200"/>
              </a:spcAft>
            </a:pPr>
            <a:r>
              <a:rPr sz="3800" b="1" i="0">
                <a:solidFill>
                  <a:srgbClr val="D10120"/>
                </a:solidFill>
                <a:latin typeface="Open Sans"/>
              </a:rPr>
              <a:t>7.041</a:t>
            </a:r>
          </a:p>
          <a:p>
            <a:pPr algn="l">
              <a:lnSpc>
                <a:spcPct val="120000"/>
              </a:lnSpc>
              <a:spcBef>
                <a:spcPts val="0"/>
              </a:spcBef>
              <a:spcAft>
                <a:spcPts val="0"/>
              </a:spcAft>
            </a:pPr>
            <a:r>
              <a:rPr sz="1350" b="0" i="0">
                <a:solidFill>
                  <a:srgbClr val="394049"/>
                </a:solidFill>
                <a:latin typeface="Open Sans"/>
              </a:rPr>
              <a:t>unidades de stock de seguridad liberadas</a:t>
            </a:r>
          </a:p>
          <a:p>
            <a:pPr algn="l">
              <a:lnSpc>
                <a:spcPct val="115000"/>
              </a:lnSpc>
              <a:spcBef>
                <a:spcPts val="400"/>
              </a:spcBef>
              <a:spcAft>
                <a:spcPts val="0"/>
              </a:spcAft>
            </a:pPr>
            <a:r>
              <a:rPr sz="1150" b="0" i="0">
                <a:solidFill>
                  <a:srgbClr val="9AA1A9"/>
                </a:solidFill>
                <a:latin typeface="Open Sans"/>
              </a:rPr>
              <a:t>CSL 95 %, lead time de 1 mes</a:t>
            </a:r>
          </a:p>
        </p:txBody>
      </p:sp>
      <p:sp>
        <p:nvSpPr>
          <p:cNvPr id="16" name="Rounded Rectangle 15"/>
          <p:cNvSpPr/>
          <p:nvPr/>
        </p:nvSpPr>
        <p:spPr>
          <a:xfrm>
            <a:off x="960120" y="4489704"/>
            <a:ext cx="7863840" cy="4663440"/>
          </a:xfrm>
          <a:prstGeom prst="roundRect">
            <a:avLst>
              <a:gd name="adj" fmla="val 1176"/>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7" name="Picture 16" descr="inventario.png"/>
          <p:cNvPicPr>
            <a:picLocks noChangeAspect="1"/>
          </p:cNvPicPr>
          <p:nvPr/>
        </p:nvPicPr>
        <p:blipFill>
          <a:blip r:embed="rId2"/>
          <a:stretch>
            <a:fillRect/>
          </a:stretch>
        </p:blipFill>
        <p:spPr>
          <a:xfrm>
            <a:off x="1587765" y="4718304"/>
            <a:ext cx="6608548" cy="4206240"/>
          </a:xfrm>
          <a:prstGeom prst="rect">
            <a:avLst/>
          </a:prstGeom>
        </p:spPr>
      </p:pic>
      <p:sp>
        <p:nvSpPr>
          <p:cNvPr id="18" name="Rounded Rectangle 17"/>
          <p:cNvSpPr/>
          <p:nvPr/>
        </p:nvSpPr>
        <p:spPr>
          <a:xfrm>
            <a:off x="9464040" y="4489704"/>
            <a:ext cx="7863840" cy="2148840"/>
          </a:xfrm>
          <a:prstGeom prst="roundRect">
            <a:avLst>
              <a:gd name="adj" fmla="val 234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9464040" y="4489704"/>
            <a:ext cx="68580" cy="214884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9921240" y="4818888"/>
            <a:ext cx="7022592" cy="14904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Sensibilidad del escenario</a:t>
            </a:r>
          </a:p>
          <a:p>
            <a:pPr algn="l" marL="274320" indent="-274320">
              <a:lnSpc>
                <a:spcPct val="118000"/>
              </a:lnSpc>
              <a:spcBef>
                <a:spcPts val="0"/>
              </a:spcBef>
              <a:spcAft>
                <a:spcPts val="700"/>
              </a:spcAft>
            </a:pPr>
            <a:r>
              <a:rPr sz="1380" b="0" i="0">
                <a:solidFill>
                  <a:srgbClr val="394049"/>
                </a:solidFill>
                <a:latin typeface="Open Sans"/>
              </a:rPr>
              <a:t>•	Rango conservador–exigente: $84,5M a $126,8M CLP de capital liberado.</a:t>
            </a:r>
          </a:p>
          <a:p>
            <a:pPr algn="l" marL="274320" indent="-274320">
              <a:lnSpc>
                <a:spcPct val="118000"/>
              </a:lnSpc>
              <a:spcBef>
                <a:spcPts val="0"/>
              </a:spcBef>
              <a:spcAft>
                <a:spcPts val="0"/>
              </a:spcAft>
            </a:pPr>
            <a:r>
              <a:rPr sz="1380" b="0" i="0">
                <a:solidFill>
                  <a:srgbClr val="394049"/>
                </a:solidFill>
                <a:latin typeface="Open Sans"/>
              </a:rPr>
              <a:t>•	Ahorro anual entre $15,2M y $33,0M CLP según costo de reposición y tasa de mantención.</a:t>
            </a:r>
          </a:p>
        </p:txBody>
      </p:sp>
      <p:sp>
        <p:nvSpPr>
          <p:cNvPr id="21" name="Rounded Rectangle 20"/>
          <p:cNvSpPr/>
          <p:nvPr/>
        </p:nvSpPr>
        <p:spPr>
          <a:xfrm>
            <a:off x="9464040" y="6775704"/>
            <a:ext cx="7863840" cy="2377440"/>
          </a:xfrm>
          <a:prstGeom prst="roundRect">
            <a:avLst>
              <a:gd name="adj" fmla="val 211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9464040" y="6775704"/>
            <a:ext cx="68580" cy="237744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9921240" y="7104888"/>
            <a:ext cx="7022592" cy="1719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Escala y honestidad metodológica</a:t>
            </a:r>
          </a:p>
          <a:p>
            <a:pPr algn="l" marL="274320" indent="-274320">
              <a:lnSpc>
                <a:spcPct val="118000"/>
              </a:lnSpc>
              <a:spcBef>
                <a:spcPts val="0"/>
              </a:spcBef>
              <a:spcAft>
                <a:spcPts val="700"/>
              </a:spcAft>
            </a:pPr>
            <a:r>
              <a:rPr sz="1380" b="0" i="0">
                <a:solidFill>
                  <a:srgbClr val="394049"/>
                </a:solidFill>
                <a:latin typeface="Open Sans"/>
              </a:rPr>
              <a:t>•	Con aprovisionamiento marítimo (L = 4 meses) el buffer liberado escala a 14.082 unidades.</a:t>
            </a:r>
          </a:p>
          <a:p>
            <a:pPr algn="l" marL="274320" indent="-274320">
              <a:lnSpc>
                <a:spcPct val="118000"/>
              </a:lnSpc>
              <a:spcBef>
                <a:spcPts val="0"/>
              </a:spcBef>
              <a:spcAft>
                <a:spcPts val="0"/>
              </a:spcAft>
            </a:pPr>
            <a:r>
              <a:rPr sz="1380" b="0" i="0">
                <a:solidFill>
                  <a:srgbClr val="394049"/>
                </a:solidFill>
                <a:latin typeface="Open Sans"/>
              </a:rPr>
              <a:t>•	Ejercicio ilustrativo de orden de magnitud: usa el MAE como proxy de dispersión (sigma aprox. 1,25 × MAE).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06   IMPACTO Y CONCLUSIONES</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Conclusiones</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21</a:t>
            </a:r>
          </a:p>
        </p:txBody>
      </p:sp>
      <p:sp>
        <p:nvSpPr>
          <p:cNvPr id="10" name="Rounded Rectangle 9"/>
          <p:cNvSpPr/>
          <p:nvPr/>
        </p:nvSpPr>
        <p:spPr>
          <a:xfrm>
            <a:off x="960120" y="2249424"/>
            <a:ext cx="8001000" cy="2286000"/>
          </a:xfrm>
          <a:prstGeom prst="roundRect">
            <a:avLst>
              <a:gd name="adj" fmla="val 24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249424"/>
            <a:ext cx="68580" cy="228600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371600" y="2578608"/>
            <a:ext cx="1005840" cy="54864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D10120"/>
                </a:solidFill>
                <a:latin typeface="Open Sans"/>
              </a:rPr>
              <a:t>01</a:t>
            </a:r>
          </a:p>
        </p:txBody>
      </p:sp>
      <p:sp>
        <p:nvSpPr>
          <p:cNvPr id="13" name="TextBox 12"/>
          <p:cNvSpPr txBox="1"/>
          <p:nvPr/>
        </p:nvSpPr>
        <p:spPr>
          <a:xfrm>
            <a:off x="2560320" y="2560320"/>
            <a:ext cx="6035040" cy="1737360"/>
          </a:xfrm>
          <a:prstGeom prst="rect">
            <a:avLst/>
          </a:prstGeom>
          <a:noFill/>
        </p:spPr>
        <p:txBody>
          <a:bodyPr wrap="square" lIns="0" rIns="0" tIns="0" bIns="0" anchor="t">
            <a:spAutoFit/>
          </a:bodyPr>
          <a:lstStyle/>
          <a:p>
            <a:pPr algn="l">
              <a:lnSpc>
                <a:spcPct val="110000"/>
              </a:lnSpc>
              <a:spcBef>
                <a:spcPts val="0"/>
              </a:spcBef>
              <a:spcAft>
                <a:spcPts val="700"/>
              </a:spcAft>
            </a:pPr>
            <a:r>
              <a:rPr sz="1700" b="1" i="0">
                <a:solidFill>
                  <a:srgbClr val="13161B"/>
                </a:solidFill>
                <a:latin typeface="Open Sans"/>
              </a:rPr>
              <a:t>La evidencia respalda H₁</a:t>
            </a:r>
          </a:p>
          <a:p>
            <a:pPr algn="l">
              <a:lnSpc>
                <a:spcPct val="122000"/>
              </a:lnSpc>
              <a:spcBef>
                <a:spcPts val="0"/>
              </a:spcBef>
              <a:spcAft>
                <a:spcPts val="0"/>
              </a:spcAft>
            </a:pPr>
            <a:r>
              <a:rPr sz="1360" b="0" i="0">
                <a:solidFill>
                  <a:srgbClr val="394049"/>
                </a:solidFill>
                <a:latin typeface="Open Sans"/>
              </a:rPr>
              <a:t>16,10 % de WAPE a nivel SKU y 12,89 % a nivel familia (R² 0,95 y 0,96), frente a errores superiores al 69 % en todas las referencias clásicas y al 45 % en las redes recurrentes.</a:t>
            </a:r>
          </a:p>
        </p:txBody>
      </p:sp>
      <p:sp>
        <p:nvSpPr>
          <p:cNvPr id="14" name="Rounded Rectangle 13"/>
          <p:cNvSpPr/>
          <p:nvPr/>
        </p:nvSpPr>
        <p:spPr>
          <a:xfrm>
            <a:off x="9326880" y="2249424"/>
            <a:ext cx="8001000" cy="2286000"/>
          </a:xfrm>
          <a:prstGeom prst="roundRect">
            <a:avLst>
              <a:gd name="adj" fmla="val 24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Rectangle 14"/>
          <p:cNvSpPr/>
          <p:nvPr/>
        </p:nvSpPr>
        <p:spPr>
          <a:xfrm>
            <a:off x="9326880" y="2249424"/>
            <a:ext cx="68580" cy="2286000"/>
          </a:xfrm>
          <a:prstGeom prst="rect">
            <a:avLst/>
          </a:prstGeom>
          <a:solidFill>
            <a:srgbClr val="B07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9738360" y="2578608"/>
            <a:ext cx="1005840" cy="54864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B07800"/>
                </a:solidFill>
                <a:latin typeface="Open Sans"/>
              </a:rPr>
              <a:t>02</a:t>
            </a:r>
          </a:p>
        </p:txBody>
      </p:sp>
      <p:sp>
        <p:nvSpPr>
          <p:cNvPr id="17" name="TextBox 16"/>
          <p:cNvSpPr txBox="1"/>
          <p:nvPr/>
        </p:nvSpPr>
        <p:spPr>
          <a:xfrm>
            <a:off x="10927080" y="2560320"/>
            <a:ext cx="6035040" cy="1737360"/>
          </a:xfrm>
          <a:prstGeom prst="rect">
            <a:avLst/>
          </a:prstGeom>
          <a:noFill/>
        </p:spPr>
        <p:txBody>
          <a:bodyPr wrap="square" lIns="0" rIns="0" tIns="0" bIns="0" anchor="t">
            <a:spAutoFit/>
          </a:bodyPr>
          <a:lstStyle/>
          <a:p>
            <a:pPr algn="l">
              <a:lnSpc>
                <a:spcPct val="110000"/>
              </a:lnSpc>
              <a:spcBef>
                <a:spcPts val="0"/>
              </a:spcBef>
              <a:spcAft>
                <a:spcPts val="700"/>
              </a:spcAft>
            </a:pPr>
            <a:r>
              <a:rPr sz="1700" b="1" i="0">
                <a:solidFill>
                  <a:srgbClr val="13161B"/>
                </a:solidFill>
                <a:latin typeface="Open Sans"/>
              </a:rPr>
              <a:t>La demanda del fast fashion es dirigida</a:t>
            </a:r>
          </a:p>
          <a:p>
            <a:pPr algn="l">
              <a:lnSpc>
                <a:spcPct val="122000"/>
              </a:lnSpc>
              <a:spcBef>
                <a:spcPts val="0"/>
              </a:spcBef>
              <a:spcAft>
                <a:spcPts val="0"/>
              </a:spcAft>
            </a:pPr>
            <a:r>
              <a:rPr sz="1360" b="0" i="0">
                <a:solidFill>
                  <a:srgbClr val="394049"/>
                </a:solidFill>
                <a:latin typeface="Open Sans"/>
              </a:rPr>
              <a:t>El plan comercial ex-ante reduce el error 22,2 puntos porcentuales. Sin señales de precio el error casi se duplica: 38,25 % frente a 16,10 %.</a:t>
            </a:r>
          </a:p>
        </p:txBody>
      </p:sp>
      <p:sp>
        <p:nvSpPr>
          <p:cNvPr id="18" name="Rounded Rectangle 17"/>
          <p:cNvSpPr/>
          <p:nvPr/>
        </p:nvSpPr>
        <p:spPr>
          <a:xfrm>
            <a:off x="960120" y="4764024"/>
            <a:ext cx="8001000" cy="2286000"/>
          </a:xfrm>
          <a:prstGeom prst="roundRect">
            <a:avLst>
              <a:gd name="adj" fmla="val 24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960120" y="4764024"/>
            <a:ext cx="68580" cy="228600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1371600" y="5093208"/>
            <a:ext cx="1005840" cy="54864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5F91"/>
                </a:solidFill>
                <a:latin typeface="Open Sans"/>
              </a:rPr>
              <a:t>03</a:t>
            </a:r>
          </a:p>
        </p:txBody>
      </p:sp>
      <p:sp>
        <p:nvSpPr>
          <p:cNvPr id="21" name="TextBox 20"/>
          <p:cNvSpPr txBox="1"/>
          <p:nvPr/>
        </p:nvSpPr>
        <p:spPr>
          <a:xfrm>
            <a:off x="2560320" y="5074920"/>
            <a:ext cx="6035040" cy="1737360"/>
          </a:xfrm>
          <a:prstGeom prst="rect">
            <a:avLst/>
          </a:prstGeom>
          <a:noFill/>
        </p:spPr>
        <p:txBody>
          <a:bodyPr wrap="square" lIns="0" rIns="0" tIns="0" bIns="0" anchor="t">
            <a:spAutoFit/>
          </a:bodyPr>
          <a:lstStyle/>
          <a:p>
            <a:pPr algn="l">
              <a:lnSpc>
                <a:spcPct val="110000"/>
              </a:lnSpc>
              <a:spcBef>
                <a:spcPts val="0"/>
              </a:spcBef>
              <a:spcAft>
                <a:spcPts val="700"/>
              </a:spcAft>
            </a:pPr>
            <a:r>
              <a:rPr sz="1700" b="1" i="0">
                <a:solidFill>
                  <a:srgbClr val="13161B"/>
                </a:solidFill>
                <a:latin typeface="Open Sans"/>
              </a:rPr>
              <a:t>El desacoplamiento jerárquico vence a la intermitencia</a:t>
            </a:r>
          </a:p>
          <a:p>
            <a:pPr algn="l">
              <a:lnSpc>
                <a:spcPct val="122000"/>
              </a:lnSpc>
              <a:spcBef>
                <a:spcPts val="0"/>
              </a:spcBef>
              <a:spcAft>
                <a:spcPts val="0"/>
              </a:spcAft>
            </a:pPr>
            <a:r>
              <a:rPr sz="1360" b="0" i="0">
                <a:solidFill>
                  <a:srgbClr val="394049"/>
                </a:solidFill>
                <a:latin typeface="Open Sans"/>
              </a:rPr>
              <a:t>Pronosticar donde la señal es continua y repartir hacia abajo resultó superior a modelar el SKU directamente, incluso con cuotas aprendidas.</a:t>
            </a:r>
          </a:p>
        </p:txBody>
      </p:sp>
      <p:sp>
        <p:nvSpPr>
          <p:cNvPr id="22" name="Rounded Rectangle 21"/>
          <p:cNvSpPr/>
          <p:nvPr/>
        </p:nvSpPr>
        <p:spPr>
          <a:xfrm>
            <a:off x="9326880" y="4764024"/>
            <a:ext cx="8001000" cy="2286000"/>
          </a:xfrm>
          <a:prstGeom prst="roundRect">
            <a:avLst>
              <a:gd name="adj" fmla="val 24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Rectangle 22"/>
          <p:cNvSpPr/>
          <p:nvPr/>
        </p:nvSpPr>
        <p:spPr>
          <a:xfrm>
            <a:off x="9326880" y="4764024"/>
            <a:ext cx="68580" cy="228600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9738360" y="5093208"/>
            <a:ext cx="1005840" cy="54864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13161B"/>
                </a:solidFill>
                <a:latin typeface="Open Sans"/>
              </a:rPr>
              <a:t>04</a:t>
            </a:r>
          </a:p>
        </p:txBody>
      </p:sp>
      <p:sp>
        <p:nvSpPr>
          <p:cNvPr id="25" name="TextBox 24"/>
          <p:cNvSpPr txBox="1"/>
          <p:nvPr/>
        </p:nvSpPr>
        <p:spPr>
          <a:xfrm>
            <a:off x="10927080" y="5074920"/>
            <a:ext cx="6035040" cy="1737360"/>
          </a:xfrm>
          <a:prstGeom prst="rect">
            <a:avLst/>
          </a:prstGeom>
          <a:noFill/>
        </p:spPr>
        <p:txBody>
          <a:bodyPr wrap="square" lIns="0" rIns="0" tIns="0" bIns="0" anchor="t">
            <a:spAutoFit/>
          </a:bodyPr>
          <a:lstStyle/>
          <a:p>
            <a:pPr algn="l">
              <a:lnSpc>
                <a:spcPct val="110000"/>
              </a:lnSpc>
              <a:spcBef>
                <a:spcPts val="0"/>
              </a:spcBef>
              <a:spcAft>
                <a:spcPts val="700"/>
              </a:spcAft>
            </a:pPr>
            <a:r>
              <a:rPr sz="1700" b="1" i="0">
                <a:solidFill>
                  <a:srgbClr val="13161B"/>
                </a:solidFill>
                <a:latin typeface="Open Sans"/>
              </a:rPr>
              <a:t>El ensamble híbrido supera a los enfoques puros</a:t>
            </a:r>
          </a:p>
          <a:p>
            <a:pPr algn="l">
              <a:lnSpc>
                <a:spcPct val="122000"/>
              </a:lnSpc>
              <a:spcBef>
                <a:spcPts val="0"/>
              </a:spcBef>
              <a:spcAft>
                <a:spcPts val="0"/>
              </a:spcAft>
            </a:pPr>
            <a:r>
              <a:rPr sz="1360" b="0" i="0">
                <a:solidFill>
                  <a:srgbClr val="394049"/>
                </a:solidFill>
                <a:latin typeface="Open Sans"/>
              </a:rPr>
              <a:t>Estadística para el nivel, aprendizaje automático para el residuo comercial y ruteo adaptativo según el estado de la categoría: cada componente hace lo que mejor sabe.</a:t>
            </a:r>
          </a:p>
        </p:txBody>
      </p:sp>
      <p:sp>
        <p:nvSpPr>
          <p:cNvPr id="26" name="Rounded Rectangle 25"/>
          <p:cNvSpPr/>
          <p:nvPr/>
        </p:nvSpPr>
        <p:spPr>
          <a:xfrm>
            <a:off x="960120" y="7507224"/>
            <a:ext cx="16367759" cy="1645920"/>
          </a:xfrm>
          <a:prstGeom prst="roundRect">
            <a:avLst>
              <a:gd name="adj" fmla="val 3055"/>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TextBox 26"/>
          <p:cNvSpPr txBox="1"/>
          <p:nvPr/>
        </p:nvSpPr>
        <p:spPr>
          <a:xfrm>
            <a:off x="1417320" y="7507224"/>
            <a:ext cx="15453359" cy="1645920"/>
          </a:xfrm>
          <a:prstGeom prst="rect">
            <a:avLst/>
          </a:prstGeom>
          <a:noFill/>
        </p:spPr>
        <p:txBody>
          <a:bodyPr wrap="square" lIns="0" rIns="0" tIns="0" bIns="0" anchor="ctr">
            <a:spAutoFit/>
          </a:bodyPr>
          <a:lstStyle/>
          <a:p>
            <a:pPr algn="ctr">
              <a:lnSpc>
                <a:spcPct val="118000"/>
              </a:lnSpc>
              <a:spcBef>
                <a:spcPts val="0"/>
              </a:spcBef>
              <a:spcAft>
                <a:spcPts val="0"/>
              </a:spcAft>
            </a:pPr>
            <a:r>
              <a:rPr sz="1600" b="1" i="0">
                <a:solidFill>
                  <a:srgbClr val="FFFFFF"/>
                </a:solidFill>
                <a:latin typeface="Open Sans"/>
              </a:rPr>
              <a:t>La contribución no es un algoritmo nuevo, sino una arquitectura que asigna cada problema —inercia, comercialidad e intermitencia— al método que mejor lo resuelve, bajo un protocolo que impide que el resultado se explique por fuga de información.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06   IMPACTO Y CONCLUSIONES</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Limitaciones y trabajo futuro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Pronóstico Jerárquico de Demanda Intermitente en el Retail de Moda Femenina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22</a:t>
            </a:r>
          </a:p>
        </p:txBody>
      </p:sp>
      <p:sp>
        <p:nvSpPr>
          <p:cNvPr id="10" name="Rounded Rectangle 9"/>
          <p:cNvSpPr/>
          <p:nvPr/>
        </p:nvSpPr>
        <p:spPr>
          <a:xfrm>
            <a:off x="960120" y="2249424"/>
            <a:ext cx="8001000" cy="5029200"/>
          </a:xfrm>
          <a:prstGeom prst="roundRect">
            <a:avLst>
              <a:gd name="adj" fmla="val 1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249424"/>
            <a:ext cx="68580" cy="502920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417320" y="2578608"/>
            <a:ext cx="7159752" cy="437083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Limitaciones reconocidas</a:t>
            </a:r>
          </a:p>
          <a:p>
            <a:pPr algn="l" marL="274320" indent="-274320">
              <a:lnSpc>
                <a:spcPct val="118000"/>
              </a:lnSpc>
              <a:spcBef>
                <a:spcPts val="0"/>
              </a:spcBef>
              <a:spcAft>
                <a:spcPts val="700"/>
              </a:spcAft>
            </a:pPr>
            <a:r>
              <a:rPr sz="1420" b="0" i="0">
                <a:solidFill>
                  <a:srgbClr val="394049"/>
                </a:solidFill>
                <a:latin typeface="Open Sans"/>
              </a:rPr>
              <a:t>•	Horizonte h = 1 mensual: la industria con abastecimiento marítimo requiere extender la evaluación a 3 y 6 meses.</a:t>
            </a:r>
          </a:p>
          <a:p>
            <a:pPr algn="l" marL="274320" indent="-274320">
              <a:lnSpc>
                <a:spcPct val="118000"/>
              </a:lnSpc>
              <a:spcBef>
                <a:spcPts val="0"/>
              </a:spcBef>
              <a:spcAft>
                <a:spcPts val="700"/>
              </a:spcAft>
            </a:pPr>
            <a:r>
              <a:rPr sz="1420" b="0" i="0">
                <a:solidFill>
                  <a:srgbClr val="394049"/>
                </a:solidFill>
                <a:latin typeface="Open Sans"/>
              </a:rPr>
              <a:t>•	Validez externa: un solo retailer del segmento premium-mass market en Chile.</a:t>
            </a:r>
          </a:p>
          <a:p>
            <a:pPr algn="l" marL="274320" indent="-274320">
              <a:lnSpc>
                <a:spcPct val="118000"/>
              </a:lnSpc>
              <a:spcBef>
                <a:spcPts val="0"/>
              </a:spcBef>
              <a:spcAft>
                <a:spcPts val="700"/>
              </a:spcAft>
            </a:pPr>
            <a:r>
              <a:rPr sz="1420" b="0" i="0">
                <a:solidFill>
                  <a:srgbClr val="394049"/>
                </a:solidFill>
                <a:latin typeface="Open Sans"/>
              </a:rPr>
              <a:t>•	La ventana de prueba incluye el peak de mayo, pero excluye noviembre–diciembre, el período de mayor presión promocional.</a:t>
            </a:r>
          </a:p>
          <a:p>
            <a:pPr algn="l" marL="274320" indent="-274320">
              <a:lnSpc>
                <a:spcPct val="118000"/>
              </a:lnSpc>
              <a:spcBef>
                <a:spcPts val="0"/>
              </a:spcBef>
              <a:spcAft>
                <a:spcPts val="700"/>
              </a:spcAft>
            </a:pPr>
            <a:r>
              <a:rPr sz="1420" b="0" i="0">
                <a:solidFill>
                  <a:srgbClr val="394049"/>
                </a:solidFill>
                <a:latin typeface="Open Sans"/>
              </a:rPr>
              <a:t>•	El target son ventas observadas: los quiebres truncan la demanda latente.</a:t>
            </a:r>
          </a:p>
          <a:p>
            <a:pPr algn="l" marL="274320" indent="-274320">
              <a:lnSpc>
                <a:spcPct val="118000"/>
              </a:lnSpc>
              <a:spcBef>
                <a:spcPts val="0"/>
              </a:spcBef>
              <a:spcAft>
                <a:spcPts val="700"/>
              </a:spcAft>
            </a:pPr>
            <a:r>
              <a:rPr sz="1420" b="0" i="0">
                <a:solidFill>
                  <a:srgbClr val="394049"/>
                </a:solidFill>
                <a:latin typeface="Open Sans"/>
              </a:rPr>
              <a:t>•	Pesos y umbrales congelados desde el corte: la frecuencia óptima de reentrenamiento queda abierta.</a:t>
            </a:r>
          </a:p>
          <a:p>
            <a:pPr algn="l" marL="274320" indent="-274320">
              <a:lnSpc>
                <a:spcPct val="118000"/>
              </a:lnSpc>
              <a:spcBef>
                <a:spcPts val="0"/>
              </a:spcBef>
              <a:spcAft>
                <a:spcPts val="0"/>
              </a:spcAft>
            </a:pPr>
            <a:r>
              <a:rPr sz="1420" b="0" i="0">
                <a:solidFill>
                  <a:srgbClr val="394049"/>
                </a:solidFill>
                <a:latin typeface="Open Sans"/>
              </a:rPr>
              <a:t>•	El ejercicio financiero es ilustrativo, con MAE como proxy de dispersión.</a:t>
            </a:r>
          </a:p>
        </p:txBody>
      </p:sp>
      <p:sp>
        <p:nvSpPr>
          <p:cNvPr id="13" name="Rounded Rectangle 12"/>
          <p:cNvSpPr/>
          <p:nvPr/>
        </p:nvSpPr>
        <p:spPr>
          <a:xfrm>
            <a:off x="9326880" y="2249424"/>
            <a:ext cx="8001000" cy="5029200"/>
          </a:xfrm>
          <a:prstGeom prst="roundRect">
            <a:avLst>
              <a:gd name="adj" fmla="val 10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9326880" y="2249424"/>
            <a:ext cx="68580" cy="502920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9784080" y="2578608"/>
            <a:ext cx="7159752" cy="437083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Líneas de trabajo futuro</a:t>
            </a:r>
          </a:p>
          <a:p>
            <a:pPr algn="l" marL="274320" indent="-274320">
              <a:lnSpc>
                <a:spcPct val="118000"/>
              </a:lnSpc>
              <a:spcBef>
                <a:spcPts val="0"/>
              </a:spcBef>
              <a:spcAft>
                <a:spcPts val="700"/>
              </a:spcAft>
            </a:pPr>
            <a:r>
              <a:rPr sz="1420" b="0" i="0">
                <a:solidFill>
                  <a:srgbClr val="394049"/>
                </a:solidFill>
                <a:latin typeface="Open Sans"/>
              </a:rPr>
              <a:t>•	Fine-tuning de modelos fundacionales (Chronos, TimesFM) incorporando exógenas comerciales; el zero-shot ya alcanzó 36,35 % a nivel familia.</a:t>
            </a:r>
          </a:p>
          <a:p>
            <a:pPr algn="l" marL="274320" indent="-274320">
              <a:lnSpc>
                <a:spcPct val="118000"/>
              </a:lnSpc>
              <a:spcBef>
                <a:spcPts val="0"/>
              </a:spcBef>
              <a:spcAft>
                <a:spcPts val="700"/>
              </a:spcAft>
            </a:pPr>
            <a:r>
              <a:rPr sz="1420" b="0" i="0">
                <a:solidFill>
                  <a:srgbClr val="394049"/>
                </a:solidFill>
                <a:latin typeface="Open Sans"/>
              </a:rPr>
              <a:t>•	Arquitecturas híbridas de deep learning y modelos tabulares en la etapa de desagregación de cuotas.</a:t>
            </a:r>
          </a:p>
          <a:p>
            <a:pPr algn="l" marL="274320" indent="-274320">
              <a:lnSpc>
                <a:spcPct val="118000"/>
              </a:lnSpc>
              <a:spcBef>
                <a:spcPts val="0"/>
              </a:spcBef>
              <a:spcAft>
                <a:spcPts val="700"/>
              </a:spcAft>
            </a:pPr>
            <a:r>
              <a:rPr sz="1420" b="0" i="0">
                <a:solidFill>
                  <a:srgbClr val="394049"/>
                </a:solidFill>
                <a:latin typeface="Open Sans"/>
              </a:rPr>
              <a:t>•	Desempeño diferencial por perfil de SKU: asignar el método según rotación, intermitencia y sensibilidad al precio, en lugar de una arquitectura única.</a:t>
            </a:r>
          </a:p>
          <a:p>
            <a:pPr algn="l" marL="274320" indent="-274320">
              <a:lnSpc>
                <a:spcPct val="118000"/>
              </a:lnSpc>
              <a:spcBef>
                <a:spcPts val="0"/>
              </a:spcBef>
              <a:spcAft>
                <a:spcPts val="700"/>
              </a:spcAft>
            </a:pPr>
            <a:r>
              <a:rPr sz="1420" b="0" i="0">
                <a:solidFill>
                  <a:srgbClr val="394049"/>
                </a:solidFill>
                <a:latin typeface="Open Sans"/>
              </a:rPr>
              <a:t>•	Extensión a la cola larga del catálogo (1.357 SKUs de baja rotación).</a:t>
            </a:r>
          </a:p>
          <a:p>
            <a:pPr algn="l" marL="274320" indent="-274320">
              <a:lnSpc>
                <a:spcPct val="118000"/>
              </a:lnSpc>
              <a:spcBef>
                <a:spcPts val="0"/>
              </a:spcBef>
              <a:spcAft>
                <a:spcPts val="0"/>
              </a:spcAft>
            </a:pPr>
            <a:r>
              <a:rPr sz="1420" b="0" i="0">
                <a:solidFill>
                  <a:srgbClr val="394049"/>
                </a:solidFill>
                <a:latin typeface="Open Sans"/>
              </a:rPr>
              <a:t>•	Integración del pronóstico al proceso de S&amp;OP y a la política de compra internacional.</a:t>
            </a:r>
          </a:p>
        </p:txBody>
      </p:sp>
      <p:sp>
        <p:nvSpPr>
          <p:cNvPr id="16" name="Rounded Rectangle 15"/>
          <p:cNvSpPr/>
          <p:nvPr/>
        </p:nvSpPr>
        <p:spPr>
          <a:xfrm>
            <a:off x="960120" y="7598663"/>
            <a:ext cx="16367759" cy="1554480"/>
          </a:xfrm>
          <a:prstGeom prst="roundRect">
            <a:avLst>
              <a:gd name="adj" fmla="val 3235"/>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417320" y="7598663"/>
            <a:ext cx="15453359" cy="1554480"/>
          </a:xfrm>
          <a:prstGeom prst="rect">
            <a:avLst/>
          </a:prstGeom>
          <a:noFill/>
        </p:spPr>
        <p:txBody>
          <a:bodyPr wrap="square" lIns="0" rIns="0" tIns="0" bIns="0" anchor="ctr">
            <a:spAutoFit/>
          </a:bodyPr>
          <a:lstStyle/>
          <a:p>
            <a:pPr algn="ctr">
              <a:lnSpc>
                <a:spcPct val="118000"/>
              </a:lnSpc>
              <a:spcBef>
                <a:spcPts val="0"/>
              </a:spcBef>
              <a:spcAft>
                <a:spcPts val="0"/>
              </a:spcAft>
            </a:pPr>
            <a:r>
              <a:rPr sz="1650" b="1" i="0">
                <a:solidFill>
                  <a:srgbClr val="FFFFFF"/>
                </a:solidFill>
                <a:latin typeface="Open Sans"/>
              </a:rPr>
              <a:t>Declarar los límites con precisión es parte del resultado: define hasta dónde puede extrapolarse la evidencia y qué preguntas quedan abiertas para la siguiente iteración.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7589520" y="1373123"/>
            <a:ext cx="3108960" cy="1432560"/>
          </a:xfrm>
          <a:prstGeom prst="rect">
            <a:avLst/>
          </a:prstGeom>
        </p:spPr>
      </p:pic>
      <p:sp>
        <p:nvSpPr>
          <p:cNvPr id="3" name="TextBox 2"/>
          <p:cNvSpPr txBox="1"/>
          <p:nvPr/>
        </p:nvSpPr>
        <p:spPr>
          <a:xfrm>
            <a:off x="960120" y="3429000"/>
            <a:ext cx="16367759" cy="1280160"/>
          </a:xfrm>
          <a:prstGeom prst="rect">
            <a:avLst/>
          </a:prstGeom>
          <a:noFill/>
        </p:spPr>
        <p:txBody>
          <a:bodyPr wrap="square" lIns="0" rIns="0" tIns="0" bIns="0" anchor="t">
            <a:spAutoFit/>
          </a:bodyPr>
          <a:lstStyle/>
          <a:p>
            <a:pPr algn="ctr">
              <a:lnSpc>
                <a:spcPct val="116000"/>
              </a:lnSpc>
              <a:spcBef>
                <a:spcPts val="0"/>
              </a:spcBef>
              <a:spcAft>
                <a:spcPts val="0"/>
              </a:spcAft>
            </a:pPr>
            <a:r>
              <a:rPr sz="6200" b="1" i="0">
                <a:solidFill>
                  <a:srgbClr val="13161B"/>
                </a:solidFill>
                <a:latin typeface="Open Sans"/>
              </a:rPr>
              <a:t>Gracias</a:t>
            </a:r>
          </a:p>
        </p:txBody>
      </p:sp>
      <p:sp>
        <p:nvSpPr>
          <p:cNvPr id="4" name="Rectangle 3"/>
          <p:cNvSpPr/>
          <p:nvPr/>
        </p:nvSpPr>
        <p:spPr>
          <a:xfrm>
            <a:off x="6035040" y="4983480"/>
            <a:ext cx="2084831" cy="9144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8119871" y="4983480"/>
            <a:ext cx="2084831" cy="9144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10204704" y="4983480"/>
            <a:ext cx="2084831" cy="9144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7" name="TextBox 6"/>
          <p:cNvSpPr txBox="1"/>
          <p:nvPr/>
        </p:nvSpPr>
        <p:spPr>
          <a:xfrm>
            <a:off x="960120" y="5440680"/>
            <a:ext cx="16367759" cy="548640"/>
          </a:xfrm>
          <a:prstGeom prst="rect">
            <a:avLst/>
          </a:prstGeom>
          <a:noFill/>
        </p:spPr>
        <p:txBody>
          <a:bodyPr wrap="square" lIns="0" rIns="0" tIns="0" bIns="0" anchor="t">
            <a:spAutoFit/>
          </a:bodyPr>
          <a:lstStyle/>
          <a:p>
            <a:pPr algn="ctr">
              <a:lnSpc>
                <a:spcPct val="116000"/>
              </a:lnSpc>
              <a:spcBef>
                <a:spcPts val="0"/>
              </a:spcBef>
              <a:spcAft>
                <a:spcPts val="0"/>
              </a:spcAft>
            </a:pPr>
            <a:r>
              <a:rPr sz="2400" b="0" i="0">
                <a:solidFill>
                  <a:srgbClr val="6E6E6E"/>
                </a:solidFill>
                <a:latin typeface="Open Sans"/>
              </a:rPr>
              <a:t>Preguntas y comentarios</a:t>
            </a:r>
          </a:p>
        </p:txBody>
      </p:sp>
      <p:sp>
        <p:nvSpPr>
          <p:cNvPr id="8" name="TextBox 7"/>
          <p:cNvSpPr txBox="1"/>
          <p:nvPr/>
        </p:nvSpPr>
        <p:spPr>
          <a:xfrm>
            <a:off x="960120" y="6537960"/>
            <a:ext cx="16367759" cy="1280160"/>
          </a:xfrm>
          <a:prstGeom prst="rect">
            <a:avLst/>
          </a:prstGeom>
          <a:noFill/>
        </p:spPr>
        <p:txBody>
          <a:bodyPr wrap="square" lIns="0" rIns="0" tIns="0" bIns="0" anchor="t">
            <a:spAutoFit/>
          </a:bodyPr>
          <a:lstStyle/>
          <a:p>
            <a:pPr algn="ctr">
              <a:lnSpc>
                <a:spcPct val="116000"/>
              </a:lnSpc>
              <a:spcBef>
                <a:spcPts val="0"/>
              </a:spcBef>
              <a:spcAft>
                <a:spcPts val="600"/>
              </a:spcAft>
            </a:pPr>
            <a:r>
              <a:rPr sz="1900" b="1" i="0">
                <a:solidFill>
                  <a:srgbClr val="13161B"/>
                </a:solidFill>
                <a:latin typeface="Open Sans"/>
              </a:rPr>
              <a:t>Joaquín Ignacio Mondaca Parada</a:t>
            </a:r>
          </a:p>
          <a:p>
            <a:pPr algn="ctr">
              <a:lnSpc>
                <a:spcPct val="116000"/>
              </a:lnSpc>
              <a:spcBef>
                <a:spcPts val="0"/>
              </a:spcBef>
              <a:spcAft>
                <a:spcPts val="400"/>
              </a:spcAft>
            </a:pPr>
            <a:r>
              <a:rPr sz="1450" b="0" i="0">
                <a:solidFill>
                  <a:srgbClr val="6E6E6E"/>
                </a:solidFill>
                <a:latin typeface="Open Sans"/>
              </a:rPr>
              <a:t>Memoria para optar al título de Ingeniero Comercial  ·  Universidad Técnica Federico Santa María</a:t>
            </a:r>
          </a:p>
          <a:p>
            <a:pPr algn="ctr">
              <a:lnSpc>
                <a:spcPct val="116000"/>
              </a:lnSpc>
              <a:spcBef>
                <a:spcPts val="0"/>
              </a:spcBef>
              <a:spcAft>
                <a:spcPts val="0"/>
              </a:spcAft>
            </a:pPr>
            <a:r>
              <a:rPr sz="1450" b="0" i="0">
                <a:solidFill>
                  <a:srgbClr val="6E6E6E"/>
                </a:solidFill>
                <a:latin typeface="Open Sans"/>
              </a:rPr>
              <a:t>Profesor guía: Marcelo Julián Villena Chamorro  ·  Profesora correferente: Jocelyn Andrea Tapia Stefanoni</a:t>
            </a:r>
          </a:p>
        </p:txBody>
      </p:sp>
      <p:sp>
        <p:nvSpPr>
          <p:cNvPr id="9" name="TextBox 8"/>
          <p:cNvSpPr txBox="1"/>
          <p:nvPr/>
        </p:nvSpPr>
        <p:spPr>
          <a:xfrm>
            <a:off x="960120" y="8549640"/>
            <a:ext cx="16367759" cy="365760"/>
          </a:xfrm>
          <a:prstGeom prst="rect">
            <a:avLst/>
          </a:prstGeom>
          <a:noFill/>
        </p:spPr>
        <p:txBody>
          <a:bodyPr wrap="square" lIns="0" rIns="0" tIns="0" bIns="0" anchor="t">
            <a:spAutoFit/>
          </a:bodyPr>
          <a:lstStyle/>
          <a:p>
            <a:pPr algn="ctr">
              <a:lnSpc>
                <a:spcPct val="116000"/>
              </a:lnSpc>
              <a:spcBef>
                <a:spcPts val="0"/>
              </a:spcBef>
              <a:spcAft>
                <a:spcPts val="0"/>
              </a:spcAft>
            </a:pPr>
            <a:r>
              <a:rPr sz="1300" b="0" i="1">
                <a:solidFill>
                  <a:srgbClr val="9AA1A9"/>
                </a:solidFill>
                <a:latin typeface="Open Sans"/>
              </a:rPr>
              <a:t>Los anexos que siguen respaldan las preguntas del jurado.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A1</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Los modelos de referencia, en simple</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24</a:t>
            </a:r>
          </a:p>
        </p:txBody>
      </p:sp>
      <p:cxnSp>
        <p:nvCxnSpPr>
          <p:cNvPr id="10" name="Connector 9"/>
          <p:cNvCxnSpPr/>
          <p:nvPr/>
        </p:nvCxnSpPr>
        <p:spPr>
          <a:xfrm>
            <a:off x="960120" y="2249424"/>
            <a:ext cx="16367760" cy="0"/>
          </a:xfrm>
          <a:prstGeom prst="line">
            <a:avLst/>
          </a:prstGeom>
          <a:ln w="21590">
            <a:solidFill>
              <a:srgbClr val="13161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60120" y="2377440"/>
            <a:ext cx="242316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Modelo</a:t>
            </a:r>
          </a:p>
        </p:txBody>
      </p:sp>
      <p:sp>
        <p:nvSpPr>
          <p:cNvPr id="12" name="TextBox 11"/>
          <p:cNvSpPr txBox="1"/>
          <p:nvPr/>
        </p:nvSpPr>
        <p:spPr>
          <a:xfrm>
            <a:off x="3703320" y="2377440"/>
            <a:ext cx="416052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Qué hace</a:t>
            </a:r>
          </a:p>
        </p:txBody>
      </p:sp>
      <p:sp>
        <p:nvSpPr>
          <p:cNvPr id="13" name="TextBox 12"/>
          <p:cNvSpPr txBox="1"/>
          <p:nvPr/>
        </p:nvSpPr>
        <p:spPr>
          <a:xfrm>
            <a:off x="8183879" y="2377440"/>
            <a:ext cx="370332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Punto fuerte</a:t>
            </a:r>
          </a:p>
        </p:txBody>
      </p:sp>
      <p:sp>
        <p:nvSpPr>
          <p:cNvPr id="14" name="TextBox 13"/>
          <p:cNvSpPr txBox="1"/>
          <p:nvPr/>
        </p:nvSpPr>
        <p:spPr>
          <a:xfrm>
            <a:off x="12207240" y="2377440"/>
            <a:ext cx="3611879"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Punto débil</a:t>
            </a:r>
          </a:p>
        </p:txBody>
      </p:sp>
      <p:sp>
        <p:nvSpPr>
          <p:cNvPr id="15" name="TextBox 14"/>
          <p:cNvSpPr txBox="1"/>
          <p:nvPr/>
        </p:nvSpPr>
        <p:spPr>
          <a:xfrm>
            <a:off x="16139159" y="2377440"/>
            <a:ext cx="868680" cy="384048"/>
          </a:xfrm>
          <a:prstGeom prst="rect">
            <a:avLst/>
          </a:prstGeom>
          <a:noFill/>
        </p:spPr>
        <p:txBody>
          <a:bodyPr wrap="square" lIns="0" rIns="0" tIns="0" bIns="0" anchor="t">
            <a:spAutoFit/>
          </a:bodyPr>
          <a:lstStyle/>
          <a:p>
            <a:pPr algn="r">
              <a:lnSpc>
                <a:spcPct val="116000"/>
              </a:lnSpc>
              <a:spcBef>
                <a:spcPts val="0"/>
              </a:spcBef>
              <a:spcAft>
                <a:spcPts val="0"/>
              </a:spcAft>
            </a:pPr>
            <a:r>
              <a:rPr sz="1130" b="1" i="0" spc="150">
                <a:solidFill>
                  <a:srgbClr val="6E6E6E"/>
                </a:solidFill>
                <a:latin typeface="Open Sans"/>
              </a:rPr>
              <a:t>WAPE</a:t>
            </a:r>
          </a:p>
        </p:txBody>
      </p:sp>
      <p:cxnSp>
        <p:nvCxnSpPr>
          <p:cNvPr id="16" name="Connector 15"/>
          <p:cNvCxnSpPr/>
          <p:nvPr/>
        </p:nvCxnSpPr>
        <p:spPr>
          <a:xfrm>
            <a:off x="960120" y="2852928"/>
            <a:ext cx="16367760" cy="0"/>
          </a:xfrm>
          <a:prstGeom prst="line">
            <a:avLst/>
          </a:prstGeom>
          <a:ln w="11430">
            <a:solidFill>
              <a:srgbClr val="13161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60120" y="2852928"/>
            <a:ext cx="2423160" cy="74980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Seasonal Naïve</a:t>
            </a:r>
          </a:p>
        </p:txBody>
      </p:sp>
      <p:sp>
        <p:nvSpPr>
          <p:cNvPr id="18" name="TextBox 17"/>
          <p:cNvSpPr txBox="1"/>
          <p:nvPr/>
        </p:nvSpPr>
        <p:spPr>
          <a:xfrm>
            <a:off x="3703320" y="2852928"/>
            <a:ext cx="41605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Repite lo que se vendió el mismo mes del año anterior.</a:t>
            </a:r>
          </a:p>
        </p:txBody>
      </p:sp>
      <p:sp>
        <p:nvSpPr>
          <p:cNvPr id="19" name="TextBox 18"/>
          <p:cNvSpPr txBox="1"/>
          <p:nvPr/>
        </p:nvSpPr>
        <p:spPr>
          <a:xfrm>
            <a:off x="8183879" y="2852928"/>
            <a:ext cx="37033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Referencia honesta y sin costo: captura la estacionalidad pura.</a:t>
            </a:r>
          </a:p>
        </p:txBody>
      </p:sp>
      <p:sp>
        <p:nvSpPr>
          <p:cNvPr id="20" name="TextBox 19"/>
          <p:cNvSpPr txBox="1"/>
          <p:nvPr/>
        </p:nvSpPr>
        <p:spPr>
          <a:xfrm>
            <a:off x="12207240" y="2852928"/>
            <a:ext cx="3611879"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Ciega a precios, campañas y cambios de tendencia.</a:t>
            </a:r>
          </a:p>
        </p:txBody>
      </p:sp>
      <p:sp>
        <p:nvSpPr>
          <p:cNvPr id="21" name="TextBox 20"/>
          <p:cNvSpPr txBox="1"/>
          <p:nvPr/>
        </p:nvSpPr>
        <p:spPr>
          <a:xfrm>
            <a:off x="16139159" y="2852928"/>
            <a:ext cx="868680" cy="749808"/>
          </a:xfrm>
          <a:prstGeom prst="rect">
            <a:avLst/>
          </a:prstGeom>
          <a:noFill/>
        </p:spPr>
        <p:txBody>
          <a:bodyPr wrap="square" lIns="0" rIns="0" tIns="0" bIns="0" anchor="ctr">
            <a:spAutoFit/>
          </a:bodyPr>
          <a:lstStyle/>
          <a:p>
            <a:pPr algn="r">
              <a:lnSpc>
                <a:spcPct val="120000"/>
              </a:lnSpc>
              <a:spcBef>
                <a:spcPts val="0"/>
              </a:spcBef>
              <a:spcAft>
                <a:spcPts val="0"/>
              </a:spcAft>
            </a:pPr>
            <a:r>
              <a:rPr sz="1260" b="0" i="0">
                <a:solidFill>
                  <a:srgbClr val="394049"/>
                </a:solidFill>
                <a:latin typeface="Open Sans"/>
              </a:rPr>
              <a:t>69,89 %</a:t>
            </a:r>
          </a:p>
        </p:txBody>
      </p:sp>
      <p:cxnSp>
        <p:nvCxnSpPr>
          <p:cNvPr id="22" name="Connector 21"/>
          <p:cNvCxnSpPr/>
          <p:nvPr/>
        </p:nvCxnSpPr>
        <p:spPr>
          <a:xfrm>
            <a:off x="960120" y="3602736"/>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60120" y="3602736"/>
            <a:ext cx="2423160" cy="74980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SARIMA</a:t>
            </a:r>
          </a:p>
        </p:txBody>
      </p:sp>
      <p:sp>
        <p:nvSpPr>
          <p:cNvPr id="24" name="TextBox 23"/>
          <p:cNvSpPr txBox="1"/>
          <p:nvPr/>
        </p:nvSpPr>
        <p:spPr>
          <a:xfrm>
            <a:off x="3703320" y="3602736"/>
            <a:ext cx="41605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Proyecta la serie usando su propia historia y su ciclo anual.</a:t>
            </a:r>
          </a:p>
        </p:txBody>
      </p:sp>
      <p:sp>
        <p:nvSpPr>
          <p:cNvPr id="25" name="TextBox 24"/>
          <p:cNvSpPr txBox="1"/>
          <p:nvPr/>
        </p:nvSpPr>
        <p:spPr>
          <a:xfrm>
            <a:off x="8183879" y="3602736"/>
            <a:ext cx="37033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Estándar de la literatura: interpretable y reproducible.</a:t>
            </a:r>
          </a:p>
        </p:txBody>
      </p:sp>
      <p:sp>
        <p:nvSpPr>
          <p:cNvPr id="26" name="TextBox 25"/>
          <p:cNvSpPr txBox="1"/>
          <p:nvPr/>
        </p:nvSpPr>
        <p:spPr>
          <a:xfrm>
            <a:off x="12207240" y="3602736"/>
            <a:ext cx="3611879"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Es lineal y no admite información externa; los ceros la desestabilizan.</a:t>
            </a:r>
          </a:p>
        </p:txBody>
      </p:sp>
      <p:sp>
        <p:nvSpPr>
          <p:cNvPr id="27" name="TextBox 26"/>
          <p:cNvSpPr txBox="1"/>
          <p:nvPr/>
        </p:nvSpPr>
        <p:spPr>
          <a:xfrm>
            <a:off x="16139159" y="3602736"/>
            <a:ext cx="868680" cy="749808"/>
          </a:xfrm>
          <a:prstGeom prst="rect">
            <a:avLst/>
          </a:prstGeom>
          <a:noFill/>
        </p:spPr>
        <p:txBody>
          <a:bodyPr wrap="square" lIns="0" rIns="0" tIns="0" bIns="0" anchor="ctr">
            <a:spAutoFit/>
          </a:bodyPr>
          <a:lstStyle/>
          <a:p>
            <a:pPr algn="r">
              <a:lnSpc>
                <a:spcPct val="120000"/>
              </a:lnSpc>
              <a:spcBef>
                <a:spcPts val="0"/>
              </a:spcBef>
              <a:spcAft>
                <a:spcPts val="0"/>
              </a:spcAft>
            </a:pPr>
            <a:r>
              <a:rPr sz="1260" b="0" i="0">
                <a:solidFill>
                  <a:srgbClr val="394049"/>
                </a:solidFill>
                <a:latin typeface="Open Sans"/>
              </a:rPr>
              <a:t>76,74 %</a:t>
            </a:r>
          </a:p>
        </p:txBody>
      </p:sp>
      <p:cxnSp>
        <p:nvCxnSpPr>
          <p:cNvPr id="28" name="Connector 27"/>
          <p:cNvCxnSpPr/>
          <p:nvPr/>
        </p:nvCxnSpPr>
        <p:spPr>
          <a:xfrm>
            <a:off x="960120" y="4352544"/>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60120" y="4352544"/>
            <a:ext cx="2423160" cy="74980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SARIMAX</a:t>
            </a:r>
          </a:p>
        </p:txBody>
      </p:sp>
      <p:sp>
        <p:nvSpPr>
          <p:cNvPr id="30" name="TextBox 29"/>
          <p:cNvSpPr txBox="1"/>
          <p:nvPr/>
        </p:nvSpPr>
        <p:spPr>
          <a:xfrm>
            <a:off x="3703320" y="4352544"/>
            <a:ext cx="41605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SARIMA más variables externas: precio y descuento.</a:t>
            </a:r>
          </a:p>
        </p:txBody>
      </p:sp>
      <p:sp>
        <p:nvSpPr>
          <p:cNvPr id="31" name="TextBox 30"/>
          <p:cNvSpPr txBox="1"/>
          <p:nvPr/>
        </p:nvSpPr>
        <p:spPr>
          <a:xfrm>
            <a:off x="8183879" y="4352544"/>
            <a:ext cx="37033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Incorpora la palanca comercial dentro de un marco econométrico.</a:t>
            </a:r>
          </a:p>
        </p:txBody>
      </p:sp>
      <p:sp>
        <p:nvSpPr>
          <p:cNvPr id="32" name="TextBox 31"/>
          <p:cNvSpPr txBox="1"/>
          <p:nvPr/>
        </p:nvSpPr>
        <p:spPr>
          <a:xfrm>
            <a:off x="12207240" y="4352544"/>
            <a:ext cx="3611879"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La relación precio-demanda no es lineal: la estructura se le queda corta.</a:t>
            </a:r>
          </a:p>
        </p:txBody>
      </p:sp>
      <p:sp>
        <p:nvSpPr>
          <p:cNvPr id="33" name="TextBox 32"/>
          <p:cNvSpPr txBox="1"/>
          <p:nvPr/>
        </p:nvSpPr>
        <p:spPr>
          <a:xfrm>
            <a:off x="16139159" y="4352544"/>
            <a:ext cx="868680" cy="749808"/>
          </a:xfrm>
          <a:prstGeom prst="rect">
            <a:avLst/>
          </a:prstGeom>
          <a:noFill/>
        </p:spPr>
        <p:txBody>
          <a:bodyPr wrap="square" lIns="0" rIns="0" tIns="0" bIns="0" anchor="ctr">
            <a:spAutoFit/>
          </a:bodyPr>
          <a:lstStyle/>
          <a:p>
            <a:pPr algn="r">
              <a:lnSpc>
                <a:spcPct val="120000"/>
              </a:lnSpc>
              <a:spcBef>
                <a:spcPts val="0"/>
              </a:spcBef>
              <a:spcAft>
                <a:spcPts val="0"/>
              </a:spcAft>
            </a:pPr>
            <a:r>
              <a:rPr sz="1260" b="0" i="0">
                <a:solidFill>
                  <a:srgbClr val="394049"/>
                </a:solidFill>
                <a:latin typeface="Open Sans"/>
              </a:rPr>
              <a:t>73,24 %</a:t>
            </a:r>
          </a:p>
        </p:txBody>
      </p:sp>
      <p:cxnSp>
        <p:nvCxnSpPr>
          <p:cNvPr id="34" name="Connector 33"/>
          <p:cNvCxnSpPr/>
          <p:nvPr/>
        </p:nvCxnSpPr>
        <p:spPr>
          <a:xfrm>
            <a:off x="960120" y="5102352"/>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60120" y="5102352"/>
            <a:ext cx="2423160" cy="74980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Croston</a:t>
            </a:r>
          </a:p>
        </p:txBody>
      </p:sp>
      <p:sp>
        <p:nvSpPr>
          <p:cNvPr id="36" name="TextBox 35"/>
          <p:cNvSpPr txBox="1"/>
          <p:nvPr/>
        </p:nvSpPr>
        <p:spPr>
          <a:xfrm>
            <a:off x="3703320" y="5102352"/>
            <a:ext cx="41605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Separa dos preguntas: cada cuánto se vende y cuánto se vende.</a:t>
            </a:r>
          </a:p>
        </p:txBody>
      </p:sp>
      <p:sp>
        <p:nvSpPr>
          <p:cNvPr id="37" name="TextBox 36"/>
          <p:cNvSpPr txBox="1"/>
          <p:nvPr/>
        </p:nvSpPr>
        <p:spPr>
          <a:xfrm>
            <a:off x="8183879" y="5102352"/>
            <a:ext cx="37033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Diseñado específicamente para demanda con muchos ceros.</a:t>
            </a:r>
          </a:p>
        </p:txBody>
      </p:sp>
      <p:sp>
        <p:nvSpPr>
          <p:cNvPr id="38" name="TextBox 37"/>
          <p:cNvSpPr txBox="1"/>
          <p:nvPr/>
        </p:nvSpPr>
        <p:spPr>
          <a:xfrm>
            <a:off x="12207240" y="5102352"/>
            <a:ext cx="3611879"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No modela estacionalidad ni precio, que es justo lo que manda en moda.</a:t>
            </a:r>
          </a:p>
        </p:txBody>
      </p:sp>
      <p:sp>
        <p:nvSpPr>
          <p:cNvPr id="39" name="TextBox 38"/>
          <p:cNvSpPr txBox="1"/>
          <p:nvPr/>
        </p:nvSpPr>
        <p:spPr>
          <a:xfrm>
            <a:off x="16139159" y="5102352"/>
            <a:ext cx="868680" cy="749808"/>
          </a:xfrm>
          <a:prstGeom prst="rect">
            <a:avLst/>
          </a:prstGeom>
          <a:noFill/>
        </p:spPr>
        <p:txBody>
          <a:bodyPr wrap="square" lIns="0" rIns="0" tIns="0" bIns="0" anchor="ctr">
            <a:spAutoFit/>
          </a:bodyPr>
          <a:lstStyle/>
          <a:p>
            <a:pPr algn="r">
              <a:lnSpc>
                <a:spcPct val="120000"/>
              </a:lnSpc>
              <a:spcBef>
                <a:spcPts val="0"/>
              </a:spcBef>
              <a:spcAft>
                <a:spcPts val="0"/>
              </a:spcAft>
            </a:pPr>
            <a:r>
              <a:rPr sz="1260" b="0" i="0">
                <a:solidFill>
                  <a:srgbClr val="394049"/>
                </a:solidFill>
                <a:latin typeface="Open Sans"/>
              </a:rPr>
              <a:t>84,87 %</a:t>
            </a:r>
          </a:p>
        </p:txBody>
      </p:sp>
      <p:cxnSp>
        <p:nvCxnSpPr>
          <p:cNvPr id="40" name="Connector 39"/>
          <p:cNvCxnSpPr/>
          <p:nvPr/>
        </p:nvCxnSpPr>
        <p:spPr>
          <a:xfrm>
            <a:off x="960120" y="5852160"/>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60120" y="5852160"/>
            <a:ext cx="2423160" cy="74980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SBA</a:t>
            </a:r>
          </a:p>
        </p:txBody>
      </p:sp>
      <p:sp>
        <p:nvSpPr>
          <p:cNvPr id="42" name="TextBox 41"/>
          <p:cNvSpPr txBox="1"/>
          <p:nvPr/>
        </p:nvSpPr>
        <p:spPr>
          <a:xfrm>
            <a:off x="3703320" y="5852160"/>
            <a:ext cx="41605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Croston con una corrección de sesgo (Syntetos-Boylan).</a:t>
            </a:r>
          </a:p>
        </p:txBody>
      </p:sp>
      <p:sp>
        <p:nvSpPr>
          <p:cNvPr id="43" name="TextBox 42"/>
          <p:cNvSpPr txBox="1"/>
          <p:nvPr/>
        </p:nvSpPr>
        <p:spPr>
          <a:xfrm>
            <a:off x="8183879" y="5852160"/>
            <a:ext cx="37033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Corrige la sobreestimación sistemática del Croston clásico.</a:t>
            </a:r>
          </a:p>
        </p:txBody>
      </p:sp>
      <p:sp>
        <p:nvSpPr>
          <p:cNvPr id="44" name="TextBox 43"/>
          <p:cNvSpPr txBox="1"/>
          <p:nvPr/>
        </p:nvSpPr>
        <p:spPr>
          <a:xfrm>
            <a:off x="12207240" y="5852160"/>
            <a:ext cx="3611879"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Hereda la misma ceguera estacional y comercial.</a:t>
            </a:r>
          </a:p>
        </p:txBody>
      </p:sp>
      <p:sp>
        <p:nvSpPr>
          <p:cNvPr id="45" name="TextBox 44"/>
          <p:cNvSpPr txBox="1"/>
          <p:nvPr/>
        </p:nvSpPr>
        <p:spPr>
          <a:xfrm>
            <a:off x="16139159" y="5852160"/>
            <a:ext cx="868680" cy="749808"/>
          </a:xfrm>
          <a:prstGeom prst="rect">
            <a:avLst/>
          </a:prstGeom>
          <a:noFill/>
        </p:spPr>
        <p:txBody>
          <a:bodyPr wrap="square" lIns="0" rIns="0" tIns="0" bIns="0" anchor="ctr">
            <a:spAutoFit/>
          </a:bodyPr>
          <a:lstStyle/>
          <a:p>
            <a:pPr algn="r">
              <a:lnSpc>
                <a:spcPct val="120000"/>
              </a:lnSpc>
              <a:spcBef>
                <a:spcPts val="0"/>
              </a:spcBef>
              <a:spcAft>
                <a:spcPts val="0"/>
              </a:spcAft>
            </a:pPr>
            <a:r>
              <a:rPr sz="1260" b="0" i="0">
                <a:solidFill>
                  <a:srgbClr val="394049"/>
                </a:solidFill>
                <a:latin typeface="Open Sans"/>
              </a:rPr>
              <a:t>83,42 %</a:t>
            </a:r>
          </a:p>
        </p:txBody>
      </p:sp>
      <p:cxnSp>
        <p:nvCxnSpPr>
          <p:cNvPr id="46" name="Connector 45"/>
          <p:cNvCxnSpPr/>
          <p:nvPr/>
        </p:nvCxnSpPr>
        <p:spPr>
          <a:xfrm>
            <a:off x="960120" y="6601968"/>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60120" y="6601968"/>
            <a:ext cx="2423160" cy="74980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LSTM</a:t>
            </a:r>
          </a:p>
        </p:txBody>
      </p:sp>
      <p:sp>
        <p:nvSpPr>
          <p:cNvPr id="48" name="TextBox 47"/>
          <p:cNvSpPr txBox="1"/>
          <p:nvPr/>
        </p:nvSpPr>
        <p:spPr>
          <a:xfrm>
            <a:off x="3703320" y="6601968"/>
            <a:ext cx="41605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Red neuronal con memoria que aprende patrones de secuencias.</a:t>
            </a:r>
          </a:p>
        </p:txBody>
      </p:sp>
      <p:sp>
        <p:nvSpPr>
          <p:cNvPr id="49" name="TextBox 48"/>
          <p:cNvSpPr txBox="1"/>
          <p:nvPr/>
        </p:nvSpPr>
        <p:spPr>
          <a:xfrm>
            <a:off x="8183879" y="6601968"/>
            <a:ext cx="37033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Captura relaciones no lineales y dependencias temporales largas.</a:t>
            </a:r>
          </a:p>
        </p:txBody>
      </p:sp>
      <p:sp>
        <p:nvSpPr>
          <p:cNvPr id="50" name="TextBox 49"/>
          <p:cNvSpPr txBox="1"/>
          <p:nvPr/>
        </p:nvSpPr>
        <p:spPr>
          <a:xfrm>
            <a:off x="12207240" y="6601968"/>
            <a:ext cx="3611879"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Exige mucha historia; con series cortas e intermitentes se vuelve inestable.</a:t>
            </a:r>
          </a:p>
        </p:txBody>
      </p:sp>
      <p:sp>
        <p:nvSpPr>
          <p:cNvPr id="51" name="TextBox 50"/>
          <p:cNvSpPr txBox="1"/>
          <p:nvPr/>
        </p:nvSpPr>
        <p:spPr>
          <a:xfrm>
            <a:off x="16139159" y="6601968"/>
            <a:ext cx="868680" cy="749808"/>
          </a:xfrm>
          <a:prstGeom prst="rect">
            <a:avLst/>
          </a:prstGeom>
          <a:noFill/>
        </p:spPr>
        <p:txBody>
          <a:bodyPr wrap="square" lIns="0" rIns="0" tIns="0" bIns="0" anchor="ctr">
            <a:spAutoFit/>
          </a:bodyPr>
          <a:lstStyle/>
          <a:p>
            <a:pPr algn="r">
              <a:lnSpc>
                <a:spcPct val="120000"/>
              </a:lnSpc>
              <a:spcBef>
                <a:spcPts val="0"/>
              </a:spcBef>
              <a:spcAft>
                <a:spcPts val="0"/>
              </a:spcAft>
            </a:pPr>
            <a:r>
              <a:rPr sz="1260" b="0" i="0">
                <a:solidFill>
                  <a:srgbClr val="394049"/>
                </a:solidFill>
                <a:latin typeface="Open Sans"/>
              </a:rPr>
              <a:t>45,75 %</a:t>
            </a:r>
          </a:p>
        </p:txBody>
      </p:sp>
      <p:cxnSp>
        <p:nvCxnSpPr>
          <p:cNvPr id="52" name="Connector 51"/>
          <p:cNvCxnSpPr/>
          <p:nvPr/>
        </p:nvCxnSpPr>
        <p:spPr>
          <a:xfrm>
            <a:off x="960120" y="7351776"/>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60120" y="7351776"/>
            <a:ext cx="2423160" cy="74980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Chronos-Bolt</a:t>
            </a:r>
          </a:p>
        </p:txBody>
      </p:sp>
      <p:sp>
        <p:nvSpPr>
          <p:cNvPr id="54" name="TextBox 53"/>
          <p:cNvSpPr txBox="1"/>
          <p:nvPr/>
        </p:nvSpPr>
        <p:spPr>
          <a:xfrm>
            <a:off x="3703320" y="7351776"/>
            <a:ext cx="41605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Modelo fundacional pre-entrenado sobre miles de millones de series.</a:t>
            </a:r>
          </a:p>
        </p:txBody>
      </p:sp>
      <p:sp>
        <p:nvSpPr>
          <p:cNvPr id="55" name="TextBox 54"/>
          <p:cNvSpPr txBox="1"/>
          <p:nvPr/>
        </p:nvSpPr>
        <p:spPr>
          <a:xfrm>
            <a:off x="8183879" y="7351776"/>
            <a:ext cx="3703320"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Predice sin entrenamiento previo; muy sólido en agregado (36,35 % en familia).</a:t>
            </a:r>
          </a:p>
        </p:txBody>
      </p:sp>
      <p:sp>
        <p:nvSpPr>
          <p:cNvPr id="56" name="TextBox 55"/>
          <p:cNvSpPr txBox="1"/>
          <p:nvPr/>
        </p:nvSpPr>
        <p:spPr>
          <a:xfrm>
            <a:off x="12207240" y="7351776"/>
            <a:ext cx="3611879" cy="74980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No admite las variables comerciales propias de la empresa.</a:t>
            </a:r>
          </a:p>
        </p:txBody>
      </p:sp>
      <p:sp>
        <p:nvSpPr>
          <p:cNvPr id="57" name="TextBox 56"/>
          <p:cNvSpPr txBox="1"/>
          <p:nvPr/>
        </p:nvSpPr>
        <p:spPr>
          <a:xfrm>
            <a:off x="16139159" y="7351776"/>
            <a:ext cx="868680" cy="749808"/>
          </a:xfrm>
          <a:prstGeom prst="rect">
            <a:avLst/>
          </a:prstGeom>
          <a:noFill/>
        </p:spPr>
        <p:txBody>
          <a:bodyPr wrap="square" lIns="0" rIns="0" tIns="0" bIns="0" anchor="ctr">
            <a:spAutoFit/>
          </a:bodyPr>
          <a:lstStyle/>
          <a:p>
            <a:pPr algn="r">
              <a:lnSpc>
                <a:spcPct val="120000"/>
              </a:lnSpc>
              <a:spcBef>
                <a:spcPts val="0"/>
              </a:spcBef>
              <a:spcAft>
                <a:spcPts val="0"/>
              </a:spcAft>
            </a:pPr>
            <a:r>
              <a:rPr sz="1260" b="0" i="0">
                <a:solidFill>
                  <a:srgbClr val="394049"/>
                </a:solidFill>
                <a:latin typeface="Open Sans"/>
              </a:rPr>
              <a:t>48,44 %</a:t>
            </a:r>
          </a:p>
        </p:txBody>
      </p:sp>
      <p:cxnSp>
        <p:nvCxnSpPr>
          <p:cNvPr id="58" name="Connector 57"/>
          <p:cNvCxnSpPr/>
          <p:nvPr/>
        </p:nvCxnSpPr>
        <p:spPr>
          <a:xfrm>
            <a:off x="960120" y="8101584"/>
            <a:ext cx="16367760" cy="0"/>
          </a:xfrm>
          <a:prstGeom prst="line">
            <a:avLst/>
          </a:prstGeom>
          <a:ln w="21590">
            <a:solidFill>
              <a:srgbClr val="13161B"/>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960120" y="8485632"/>
            <a:ext cx="16367759" cy="685800"/>
          </a:xfrm>
          <a:prstGeom prst="roundRect">
            <a:avLst>
              <a:gd name="adj" fmla="val 7333"/>
            </a:avLst>
          </a:prstGeom>
          <a:solidFill>
            <a:srgbClr val="EF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0" name="TextBox 59"/>
          <p:cNvSpPr txBox="1"/>
          <p:nvPr/>
        </p:nvSpPr>
        <p:spPr>
          <a:xfrm>
            <a:off x="1417320" y="8485632"/>
            <a:ext cx="15453359" cy="685800"/>
          </a:xfrm>
          <a:prstGeom prst="rect">
            <a:avLst/>
          </a:prstGeom>
          <a:noFill/>
        </p:spPr>
        <p:txBody>
          <a:bodyPr wrap="square" lIns="0" rIns="0" tIns="0" bIns="0" anchor="ctr">
            <a:spAutoFit/>
          </a:bodyPr>
          <a:lstStyle/>
          <a:p>
            <a:pPr algn="ctr">
              <a:lnSpc>
                <a:spcPct val="118000"/>
              </a:lnSpc>
              <a:spcBef>
                <a:spcPts val="0"/>
              </a:spcBef>
              <a:spcAft>
                <a:spcPts val="0"/>
              </a:spcAft>
            </a:pPr>
            <a:r>
              <a:rPr sz="1400" b="0" i="0">
                <a:solidFill>
                  <a:srgbClr val="394049"/>
                </a:solidFill>
                <a:latin typeface="Open Sans"/>
              </a:rPr>
              <a:t>Ninguna referencia clásica combina las tres cosas que exige la moda: ceros, estacionalidad fuerte y sensibilidad al plan comercial.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A2</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Los componentes de la arquitectura propuesta</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25</a:t>
            </a:r>
          </a:p>
        </p:txBody>
      </p:sp>
      <p:cxnSp>
        <p:nvCxnSpPr>
          <p:cNvPr id="10" name="Connector 9"/>
          <p:cNvCxnSpPr/>
          <p:nvPr/>
        </p:nvCxnSpPr>
        <p:spPr>
          <a:xfrm>
            <a:off x="960120" y="2249424"/>
            <a:ext cx="16367760" cy="0"/>
          </a:xfrm>
          <a:prstGeom prst="line">
            <a:avLst/>
          </a:prstGeom>
          <a:ln w="21590">
            <a:solidFill>
              <a:srgbClr val="13161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60120" y="2377440"/>
            <a:ext cx="214884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Componente</a:t>
            </a:r>
          </a:p>
        </p:txBody>
      </p:sp>
      <p:sp>
        <p:nvSpPr>
          <p:cNvPr id="12" name="TextBox 11"/>
          <p:cNvSpPr txBox="1"/>
          <p:nvPr/>
        </p:nvSpPr>
        <p:spPr>
          <a:xfrm>
            <a:off x="3429000" y="2377440"/>
            <a:ext cx="1417319"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Dónde actúa</a:t>
            </a:r>
          </a:p>
        </p:txBody>
      </p:sp>
      <p:sp>
        <p:nvSpPr>
          <p:cNvPr id="13" name="TextBox 12"/>
          <p:cNvSpPr txBox="1"/>
          <p:nvPr/>
        </p:nvSpPr>
        <p:spPr>
          <a:xfrm>
            <a:off x="5166360" y="2377440"/>
            <a:ext cx="416052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Qué hace</a:t>
            </a:r>
          </a:p>
        </p:txBody>
      </p:sp>
      <p:sp>
        <p:nvSpPr>
          <p:cNvPr id="14" name="TextBox 13"/>
          <p:cNvSpPr txBox="1"/>
          <p:nvPr/>
        </p:nvSpPr>
        <p:spPr>
          <a:xfrm>
            <a:off x="9646920" y="2377440"/>
            <a:ext cx="352044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Punto fuerte</a:t>
            </a:r>
          </a:p>
        </p:txBody>
      </p:sp>
      <p:sp>
        <p:nvSpPr>
          <p:cNvPr id="15" name="TextBox 14"/>
          <p:cNvSpPr txBox="1"/>
          <p:nvPr/>
        </p:nvSpPr>
        <p:spPr>
          <a:xfrm>
            <a:off x="13487400" y="2377440"/>
            <a:ext cx="352044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Punto débil</a:t>
            </a:r>
          </a:p>
        </p:txBody>
      </p:sp>
      <p:cxnSp>
        <p:nvCxnSpPr>
          <p:cNvPr id="16" name="Connector 15"/>
          <p:cNvCxnSpPr/>
          <p:nvPr/>
        </p:nvCxnSpPr>
        <p:spPr>
          <a:xfrm>
            <a:off x="960120" y="2852928"/>
            <a:ext cx="16367760" cy="0"/>
          </a:xfrm>
          <a:prstGeom prst="line">
            <a:avLst/>
          </a:prstGeom>
          <a:ln w="11430">
            <a:solidFill>
              <a:srgbClr val="13161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60120" y="2852928"/>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Holt amortiguado</a:t>
            </a:r>
          </a:p>
        </p:txBody>
      </p:sp>
      <p:sp>
        <p:nvSpPr>
          <p:cNvPr id="18" name="TextBox 17"/>
          <p:cNvSpPr txBox="1"/>
          <p:nvPr/>
        </p:nvSpPr>
        <p:spPr>
          <a:xfrm>
            <a:off x="3429000" y="2852928"/>
            <a:ext cx="1417319"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Capa 2</a:t>
            </a:r>
          </a:p>
        </p:txBody>
      </p:sp>
      <p:sp>
        <p:nvSpPr>
          <p:cNvPr id="19" name="TextBox 18"/>
          <p:cNvSpPr txBox="1"/>
          <p:nvPr/>
        </p:nvSpPr>
        <p:spPr>
          <a:xfrm>
            <a:off x="5166360" y="2852928"/>
            <a:ext cx="416052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Suaviza la serie y estima su nivel y tendencia, frenando la extrapolación.</a:t>
            </a:r>
          </a:p>
        </p:txBody>
      </p:sp>
      <p:sp>
        <p:nvSpPr>
          <p:cNvPr id="20" name="TextBox 19"/>
          <p:cNvSpPr txBox="1"/>
          <p:nvPr/>
        </p:nvSpPr>
        <p:spPr>
          <a:xfrm>
            <a:off x="9646920" y="2852928"/>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Muy estable y con pocos parámetros: entrega una base limpia.</a:t>
            </a:r>
          </a:p>
        </p:txBody>
      </p:sp>
      <p:sp>
        <p:nvSpPr>
          <p:cNvPr id="21" name="TextBox 20"/>
          <p:cNvSpPr txBox="1"/>
          <p:nvPr/>
        </p:nvSpPr>
        <p:spPr>
          <a:xfrm>
            <a:off x="13487400" y="2852928"/>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Por sí solo ignora precios y cualquier relación no lineal.</a:t>
            </a:r>
          </a:p>
        </p:txBody>
      </p:sp>
      <p:cxnSp>
        <p:nvCxnSpPr>
          <p:cNvPr id="22" name="Connector 21"/>
          <p:cNvCxnSpPr/>
          <p:nvPr/>
        </p:nvCxnSpPr>
        <p:spPr>
          <a:xfrm>
            <a:off x="960120" y="3694176"/>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60120" y="3694176"/>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XGBoost</a:t>
            </a:r>
          </a:p>
        </p:txBody>
      </p:sp>
      <p:sp>
        <p:nvSpPr>
          <p:cNvPr id="24" name="TextBox 23"/>
          <p:cNvSpPr txBox="1"/>
          <p:nvPr/>
        </p:nvSpPr>
        <p:spPr>
          <a:xfrm>
            <a:off x="3429000" y="3694176"/>
            <a:ext cx="1417319"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Capas 1 y 2</a:t>
            </a:r>
          </a:p>
        </p:txBody>
      </p:sp>
      <p:sp>
        <p:nvSpPr>
          <p:cNvPr id="25" name="TextBox 24"/>
          <p:cNvSpPr txBox="1"/>
          <p:nvPr/>
        </p:nvSpPr>
        <p:spPr>
          <a:xfrm>
            <a:off x="5166360" y="3694176"/>
            <a:ext cx="416052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Árboles que corrigen, uno tras otro, el error del anterior.</a:t>
            </a:r>
          </a:p>
        </p:txBody>
      </p:sp>
      <p:sp>
        <p:nvSpPr>
          <p:cNvPr id="26" name="TextBox 25"/>
          <p:cNvSpPr txBox="1"/>
          <p:nvPr/>
        </p:nvSpPr>
        <p:spPr>
          <a:xfrm>
            <a:off x="9646920" y="3694176"/>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Captura interacciones como precio por temporada; muy preciso en datos tabulares.</a:t>
            </a:r>
          </a:p>
        </p:txBody>
      </p:sp>
      <p:sp>
        <p:nvSpPr>
          <p:cNvPr id="27" name="TextBox 26"/>
          <p:cNvSpPr txBox="1"/>
          <p:nvPr/>
        </p:nvSpPr>
        <p:spPr>
          <a:xfrm>
            <a:off x="13487400" y="3694176"/>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No extrapola tendencias fuera del rango que vio en entrenamiento.</a:t>
            </a:r>
          </a:p>
        </p:txBody>
      </p:sp>
      <p:cxnSp>
        <p:nvCxnSpPr>
          <p:cNvPr id="28" name="Connector 27"/>
          <p:cNvCxnSpPr/>
          <p:nvPr/>
        </p:nvCxnSpPr>
        <p:spPr>
          <a:xfrm>
            <a:off x="960120" y="4535424"/>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60120" y="4535424"/>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LightGBM</a:t>
            </a:r>
          </a:p>
        </p:txBody>
      </p:sp>
      <p:sp>
        <p:nvSpPr>
          <p:cNvPr id="30" name="TextBox 29"/>
          <p:cNvSpPr txBox="1"/>
          <p:nvPr/>
        </p:nvSpPr>
        <p:spPr>
          <a:xfrm>
            <a:off x="3429000" y="4535424"/>
            <a:ext cx="1417319"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Capas 1 y 2</a:t>
            </a:r>
          </a:p>
        </p:txBody>
      </p:sp>
      <p:sp>
        <p:nvSpPr>
          <p:cNvPr id="31" name="TextBox 30"/>
          <p:cNvSpPr txBox="1"/>
          <p:nvPr/>
        </p:nvSpPr>
        <p:spPr>
          <a:xfrm>
            <a:off x="5166360" y="4535424"/>
            <a:ext cx="416052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Mismo principio que XGBoost, pero por histogramas: mucho más rápido.</a:t>
            </a:r>
          </a:p>
        </p:txBody>
      </p:sp>
      <p:sp>
        <p:nvSpPr>
          <p:cNvPr id="32" name="TextBox 31"/>
          <p:cNvSpPr txBox="1"/>
          <p:nvPr/>
        </p:nvSpPr>
        <p:spPr>
          <a:xfrm>
            <a:off x="9646920" y="4535424"/>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Escala bien y maneja con soltura las variables categóricas.</a:t>
            </a:r>
          </a:p>
        </p:txBody>
      </p:sp>
      <p:sp>
        <p:nvSpPr>
          <p:cNvPr id="33" name="TextBox 32"/>
          <p:cNvSpPr txBox="1"/>
          <p:nvPr/>
        </p:nvSpPr>
        <p:spPr>
          <a:xfrm>
            <a:off x="13487400" y="4535424"/>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Puede sobreajustar en series cortas si no se regula.</a:t>
            </a:r>
          </a:p>
        </p:txBody>
      </p:sp>
      <p:cxnSp>
        <p:nvCxnSpPr>
          <p:cNvPr id="34" name="Connector 33"/>
          <p:cNvCxnSpPr/>
          <p:nvPr/>
        </p:nvCxnSpPr>
        <p:spPr>
          <a:xfrm>
            <a:off x="960120" y="5376672"/>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60120" y="5376672"/>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CatBoost</a:t>
            </a:r>
          </a:p>
        </p:txBody>
      </p:sp>
      <p:sp>
        <p:nvSpPr>
          <p:cNvPr id="36" name="TextBox 35"/>
          <p:cNvSpPr txBox="1"/>
          <p:nvPr/>
        </p:nvSpPr>
        <p:spPr>
          <a:xfrm>
            <a:off x="3429000" y="5376672"/>
            <a:ext cx="1417319"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Capas 1 y 2</a:t>
            </a:r>
          </a:p>
        </p:txBody>
      </p:sp>
      <p:sp>
        <p:nvSpPr>
          <p:cNvPr id="37" name="TextBox 36"/>
          <p:cNvSpPr txBox="1"/>
          <p:nvPr/>
        </p:nvSpPr>
        <p:spPr>
          <a:xfrm>
            <a:off x="5166360" y="5376672"/>
            <a:ext cx="416052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Boosting ordenado, pensado para variables categóricas.</a:t>
            </a:r>
          </a:p>
        </p:txBody>
      </p:sp>
      <p:sp>
        <p:nvSpPr>
          <p:cNvPr id="38" name="TextBox 37"/>
          <p:cNvSpPr txBox="1"/>
          <p:nvPr/>
        </p:nvSpPr>
        <p:spPr>
          <a:xfrm>
            <a:off x="9646920" y="5376672"/>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Robusto con familias y canales; menos propenso al sobreajuste.</a:t>
            </a:r>
          </a:p>
        </p:txBody>
      </p:sp>
      <p:sp>
        <p:nvSpPr>
          <p:cNvPr id="39" name="TextBox 38"/>
          <p:cNvSpPr txBox="1"/>
          <p:nvPr/>
        </p:nvSpPr>
        <p:spPr>
          <a:xfrm>
            <a:off x="13487400" y="5376672"/>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Es el más lento de entrenar de los tres.</a:t>
            </a:r>
          </a:p>
        </p:txBody>
      </p:sp>
      <p:cxnSp>
        <p:nvCxnSpPr>
          <p:cNvPr id="40" name="Connector 39"/>
          <p:cNvCxnSpPr/>
          <p:nvPr/>
        </p:nvCxnSpPr>
        <p:spPr>
          <a:xfrm>
            <a:off x="960120" y="6217920"/>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60120" y="6217920"/>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TabPFN</a:t>
            </a:r>
          </a:p>
        </p:txBody>
      </p:sp>
      <p:sp>
        <p:nvSpPr>
          <p:cNvPr id="42" name="TextBox 41"/>
          <p:cNvSpPr txBox="1"/>
          <p:nvPr/>
        </p:nvSpPr>
        <p:spPr>
          <a:xfrm>
            <a:off x="3429000" y="6217920"/>
            <a:ext cx="1417319"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En paralelo</a:t>
            </a:r>
          </a:p>
        </p:txBody>
      </p:sp>
      <p:sp>
        <p:nvSpPr>
          <p:cNvPr id="43" name="TextBox 42"/>
          <p:cNvSpPr txBox="1"/>
          <p:nvPr/>
        </p:nvSpPr>
        <p:spPr>
          <a:xfrm>
            <a:off x="5166360" y="6217920"/>
            <a:ext cx="416052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Modelo fundacional para tablas: infiere sin entrenar.</a:t>
            </a:r>
          </a:p>
        </p:txBody>
      </p:sp>
      <p:sp>
        <p:nvSpPr>
          <p:cNvPr id="44" name="TextBox 43"/>
          <p:cNvSpPr txBox="1"/>
          <p:nvPr/>
        </p:nvSpPr>
        <p:spPr>
          <a:xfrm>
            <a:off x="9646920" y="6217920"/>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Buen desempeño inmediato y aporta diversidad al ensamble.</a:t>
            </a:r>
          </a:p>
        </p:txBody>
      </p:sp>
      <p:sp>
        <p:nvSpPr>
          <p:cNvPr id="45" name="TextBox 44"/>
          <p:cNvSpPr txBox="1"/>
          <p:nvPr/>
        </p:nvSpPr>
        <p:spPr>
          <a:xfrm>
            <a:off x="13487400" y="6217920"/>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Pensado para conjuntos pequeños; no es un modelo de series nativo.</a:t>
            </a:r>
          </a:p>
        </p:txBody>
      </p:sp>
      <p:cxnSp>
        <p:nvCxnSpPr>
          <p:cNvPr id="46" name="Connector 45"/>
          <p:cNvCxnSpPr/>
          <p:nvPr/>
        </p:nvCxnSpPr>
        <p:spPr>
          <a:xfrm>
            <a:off x="960120" y="7059168"/>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60120" y="7059168"/>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90" b="1" i="0">
                <a:solidFill>
                  <a:srgbClr val="13161B"/>
                </a:solidFill>
                <a:latin typeface="Open Sans"/>
              </a:rPr>
              <a:t>NNLS y ruteo</a:t>
            </a:r>
          </a:p>
        </p:txBody>
      </p:sp>
      <p:sp>
        <p:nvSpPr>
          <p:cNvPr id="48" name="TextBox 47"/>
          <p:cNvSpPr txBox="1"/>
          <p:nvPr/>
        </p:nvSpPr>
        <p:spPr>
          <a:xfrm>
            <a:off x="3429000" y="7059168"/>
            <a:ext cx="1417319"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Validación</a:t>
            </a:r>
          </a:p>
        </p:txBody>
      </p:sp>
      <p:sp>
        <p:nvSpPr>
          <p:cNvPr id="49" name="TextBox 48"/>
          <p:cNvSpPr txBox="1"/>
          <p:nvPr/>
        </p:nvSpPr>
        <p:spPr>
          <a:xfrm>
            <a:off x="5166360" y="7059168"/>
            <a:ext cx="416052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Decide cuánto pesa cada predicción y en qué régimen aplicarla.</a:t>
            </a:r>
          </a:p>
        </p:txBody>
      </p:sp>
      <p:sp>
        <p:nvSpPr>
          <p:cNvPr id="50" name="TextBox 49"/>
          <p:cNvSpPr txBox="1"/>
          <p:nvPr/>
        </p:nvSpPr>
        <p:spPr>
          <a:xfrm>
            <a:off x="9646920" y="7059168"/>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Adapta el ensamble al momento comercial de cada familia.</a:t>
            </a:r>
          </a:p>
        </p:txBody>
      </p:sp>
      <p:sp>
        <p:nvSpPr>
          <p:cNvPr id="51" name="TextBox 50"/>
          <p:cNvSpPr txBox="1"/>
          <p:nvPr/>
        </p:nvSpPr>
        <p:spPr>
          <a:xfrm>
            <a:off x="13487400" y="7059168"/>
            <a:ext cx="3520440" cy="841248"/>
          </a:xfrm>
          <a:prstGeom prst="rect">
            <a:avLst/>
          </a:prstGeom>
          <a:noFill/>
        </p:spPr>
        <p:txBody>
          <a:bodyPr wrap="square" lIns="0" rIns="0" tIns="0" bIns="0" anchor="ctr">
            <a:spAutoFit/>
          </a:bodyPr>
          <a:lstStyle/>
          <a:p>
            <a:pPr algn="l">
              <a:lnSpc>
                <a:spcPct val="120000"/>
              </a:lnSpc>
              <a:spcBef>
                <a:spcPts val="0"/>
              </a:spcBef>
              <a:spcAft>
                <a:spcPts val="0"/>
              </a:spcAft>
            </a:pPr>
            <a:r>
              <a:rPr sz="1260" b="0" i="0">
                <a:solidFill>
                  <a:srgbClr val="394049"/>
                </a:solidFill>
                <a:latin typeface="Open Sans"/>
              </a:rPr>
              <a:t>Los pesos deben recalibrarse cuando cambia la estructura del mercado.</a:t>
            </a:r>
          </a:p>
        </p:txBody>
      </p:sp>
      <p:cxnSp>
        <p:nvCxnSpPr>
          <p:cNvPr id="52" name="Connector 51"/>
          <p:cNvCxnSpPr/>
          <p:nvPr/>
        </p:nvCxnSpPr>
        <p:spPr>
          <a:xfrm>
            <a:off x="960120" y="7900416"/>
            <a:ext cx="16367760" cy="0"/>
          </a:xfrm>
          <a:prstGeom prst="line">
            <a:avLst/>
          </a:prstGeom>
          <a:ln w="21590">
            <a:solidFill>
              <a:srgbClr val="13161B"/>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960120" y="8284464"/>
            <a:ext cx="16367759" cy="777240"/>
          </a:xfrm>
          <a:prstGeom prst="roundRect">
            <a:avLst>
              <a:gd name="adj" fmla="val 6470"/>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4" name="TextBox 53"/>
          <p:cNvSpPr txBox="1"/>
          <p:nvPr/>
        </p:nvSpPr>
        <p:spPr>
          <a:xfrm>
            <a:off x="1417320" y="8284464"/>
            <a:ext cx="15453359" cy="777240"/>
          </a:xfrm>
          <a:prstGeom prst="rect">
            <a:avLst/>
          </a:prstGeom>
          <a:noFill/>
        </p:spPr>
        <p:txBody>
          <a:bodyPr wrap="square" lIns="0" rIns="0" tIns="0" bIns="0" anchor="ctr">
            <a:spAutoFit/>
          </a:bodyPr>
          <a:lstStyle/>
          <a:p>
            <a:pPr algn="ctr">
              <a:lnSpc>
                <a:spcPct val="118000"/>
              </a:lnSpc>
              <a:spcBef>
                <a:spcPts val="0"/>
              </a:spcBef>
              <a:spcAft>
                <a:spcPts val="0"/>
              </a:spcAft>
            </a:pPr>
            <a:r>
              <a:rPr sz="1500" b="1" i="0">
                <a:solidFill>
                  <a:srgbClr val="FFFFFF"/>
                </a:solidFill>
                <a:latin typeface="Open Sans"/>
              </a:rPr>
              <a:t>La arquitectura no elige un ganador: pone a cada método a hacer aquello en lo que es bueno y deja que la validación decida el peso.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A3</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Comparativa consolidada de desempeño (Tabla 5.1)</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26</a:t>
            </a:r>
          </a:p>
        </p:txBody>
      </p:sp>
      <p:cxnSp>
        <p:nvCxnSpPr>
          <p:cNvPr id="10" name="Connector 9"/>
          <p:cNvCxnSpPr/>
          <p:nvPr/>
        </p:nvCxnSpPr>
        <p:spPr>
          <a:xfrm>
            <a:off x="960120" y="2249424"/>
            <a:ext cx="16367760" cy="0"/>
          </a:xfrm>
          <a:prstGeom prst="line">
            <a:avLst/>
          </a:prstGeom>
          <a:ln w="21590">
            <a:solidFill>
              <a:srgbClr val="13161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60120" y="2340864"/>
            <a:ext cx="5577840" cy="329184"/>
          </a:xfrm>
          <a:prstGeom prst="rect">
            <a:avLst/>
          </a:prstGeom>
          <a:noFill/>
        </p:spPr>
        <p:txBody>
          <a:bodyPr wrap="square" lIns="0" rIns="0" tIns="0" bIns="0" anchor="t">
            <a:spAutoFit/>
          </a:bodyPr>
          <a:lstStyle/>
          <a:p>
            <a:pPr algn="l">
              <a:lnSpc>
                <a:spcPct val="116000"/>
              </a:lnSpc>
              <a:spcBef>
                <a:spcPts val="0"/>
              </a:spcBef>
              <a:spcAft>
                <a:spcPts val="0"/>
              </a:spcAft>
            </a:pPr>
            <a:r>
              <a:rPr sz="1100" b="1" i="0" spc="120">
                <a:solidFill>
                  <a:srgbClr val="6E6E6E"/>
                </a:solidFill>
                <a:latin typeface="Open Sans"/>
              </a:rPr>
              <a:t>Modelo / arquitectura</a:t>
            </a:r>
          </a:p>
        </p:txBody>
      </p:sp>
      <p:sp>
        <p:nvSpPr>
          <p:cNvPr id="12" name="TextBox 11"/>
          <p:cNvSpPr txBox="1"/>
          <p:nvPr/>
        </p:nvSpPr>
        <p:spPr>
          <a:xfrm>
            <a:off x="6812280" y="2340864"/>
            <a:ext cx="1280160" cy="329184"/>
          </a:xfrm>
          <a:prstGeom prst="rect">
            <a:avLst/>
          </a:prstGeom>
          <a:noFill/>
        </p:spPr>
        <p:txBody>
          <a:bodyPr wrap="square" lIns="0" rIns="0" tIns="0" bIns="0" anchor="t">
            <a:spAutoFit/>
          </a:bodyPr>
          <a:lstStyle/>
          <a:p>
            <a:pPr algn="r">
              <a:lnSpc>
                <a:spcPct val="116000"/>
              </a:lnSpc>
              <a:spcBef>
                <a:spcPts val="0"/>
              </a:spcBef>
              <a:spcAft>
                <a:spcPts val="0"/>
              </a:spcAft>
            </a:pPr>
            <a:r>
              <a:rPr sz="1100" b="1" i="0" spc="120">
                <a:solidFill>
                  <a:srgbClr val="6E6E6E"/>
                </a:solidFill>
                <a:latin typeface="Open Sans"/>
              </a:rPr>
              <a:t>WAPE</a:t>
            </a:r>
          </a:p>
        </p:txBody>
      </p:sp>
      <p:sp>
        <p:nvSpPr>
          <p:cNvPr id="13" name="TextBox 12"/>
          <p:cNvSpPr txBox="1"/>
          <p:nvPr/>
        </p:nvSpPr>
        <p:spPr>
          <a:xfrm>
            <a:off x="8366760" y="2340864"/>
            <a:ext cx="1463039" cy="329184"/>
          </a:xfrm>
          <a:prstGeom prst="rect">
            <a:avLst/>
          </a:prstGeom>
          <a:noFill/>
        </p:spPr>
        <p:txBody>
          <a:bodyPr wrap="square" lIns="0" rIns="0" tIns="0" bIns="0" anchor="t">
            <a:spAutoFit/>
          </a:bodyPr>
          <a:lstStyle/>
          <a:p>
            <a:pPr algn="r">
              <a:lnSpc>
                <a:spcPct val="116000"/>
              </a:lnSpc>
              <a:spcBef>
                <a:spcPts val="0"/>
              </a:spcBef>
              <a:spcAft>
                <a:spcPts val="0"/>
              </a:spcAft>
            </a:pPr>
            <a:r>
              <a:rPr sz="1100" b="1" i="0" spc="120">
                <a:solidFill>
                  <a:srgbClr val="6E6E6E"/>
                </a:solidFill>
                <a:latin typeface="Open Sans"/>
              </a:rPr>
              <a:t>sMAPE</a:t>
            </a:r>
          </a:p>
        </p:txBody>
      </p:sp>
      <p:sp>
        <p:nvSpPr>
          <p:cNvPr id="14" name="TextBox 13"/>
          <p:cNvSpPr txBox="1"/>
          <p:nvPr/>
        </p:nvSpPr>
        <p:spPr>
          <a:xfrm>
            <a:off x="10104120" y="2340864"/>
            <a:ext cx="1188720" cy="329184"/>
          </a:xfrm>
          <a:prstGeom prst="rect">
            <a:avLst/>
          </a:prstGeom>
          <a:noFill/>
        </p:spPr>
        <p:txBody>
          <a:bodyPr wrap="square" lIns="0" rIns="0" tIns="0" bIns="0" anchor="t">
            <a:spAutoFit/>
          </a:bodyPr>
          <a:lstStyle/>
          <a:p>
            <a:pPr algn="r">
              <a:lnSpc>
                <a:spcPct val="116000"/>
              </a:lnSpc>
              <a:spcBef>
                <a:spcPts val="0"/>
              </a:spcBef>
              <a:spcAft>
                <a:spcPts val="0"/>
              </a:spcAft>
            </a:pPr>
            <a:r>
              <a:rPr sz="1100" b="1" i="0" spc="120">
                <a:solidFill>
                  <a:srgbClr val="6E6E6E"/>
                </a:solidFill>
                <a:latin typeface="Open Sans"/>
              </a:rPr>
              <a:t>RMSE</a:t>
            </a:r>
          </a:p>
        </p:txBody>
      </p:sp>
      <p:sp>
        <p:nvSpPr>
          <p:cNvPr id="15" name="TextBox 14"/>
          <p:cNvSpPr txBox="1"/>
          <p:nvPr/>
        </p:nvSpPr>
        <p:spPr>
          <a:xfrm>
            <a:off x="11567160" y="2340864"/>
            <a:ext cx="1097280" cy="329184"/>
          </a:xfrm>
          <a:prstGeom prst="rect">
            <a:avLst/>
          </a:prstGeom>
          <a:noFill/>
        </p:spPr>
        <p:txBody>
          <a:bodyPr wrap="square" lIns="0" rIns="0" tIns="0" bIns="0" anchor="t">
            <a:spAutoFit/>
          </a:bodyPr>
          <a:lstStyle/>
          <a:p>
            <a:pPr algn="r">
              <a:lnSpc>
                <a:spcPct val="116000"/>
              </a:lnSpc>
              <a:spcBef>
                <a:spcPts val="0"/>
              </a:spcBef>
              <a:spcAft>
                <a:spcPts val="0"/>
              </a:spcAft>
            </a:pPr>
            <a:r>
              <a:rPr sz="1100" b="1" i="0" spc="120">
                <a:solidFill>
                  <a:srgbClr val="6E6E6E"/>
                </a:solidFill>
                <a:latin typeface="Open Sans"/>
              </a:rPr>
              <a:t>MAE</a:t>
            </a:r>
          </a:p>
        </p:txBody>
      </p:sp>
      <p:sp>
        <p:nvSpPr>
          <p:cNvPr id="16" name="TextBox 15"/>
          <p:cNvSpPr txBox="1"/>
          <p:nvPr/>
        </p:nvSpPr>
        <p:spPr>
          <a:xfrm>
            <a:off x="12938760" y="2340864"/>
            <a:ext cx="1280160" cy="329184"/>
          </a:xfrm>
          <a:prstGeom prst="rect">
            <a:avLst/>
          </a:prstGeom>
          <a:noFill/>
        </p:spPr>
        <p:txBody>
          <a:bodyPr wrap="square" lIns="0" rIns="0" tIns="0" bIns="0" anchor="t">
            <a:spAutoFit/>
          </a:bodyPr>
          <a:lstStyle/>
          <a:p>
            <a:pPr algn="r">
              <a:lnSpc>
                <a:spcPct val="116000"/>
              </a:lnSpc>
              <a:spcBef>
                <a:spcPts val="0"/>
              </a:spcBef>
              <a:spcAft>
                <a:spcPts val="0"/>
              </a:spcAft>
            </a:pPr>
            <a:r>
              <a:rPr sz="1100" b="1" i="0" spc="120">
                <a:solidFill>
                  <a:srgbClr val="6E6E6E"/>
                </a:solidFill>
                <a:latin typeface="Open Sans"/>
              </a:rPr>
              <a:t>Bias</a:t>
            </a:r>
          </a:p>
        </p:txBody>
      </p:sp>
      <p:sp>
        <p:nvSpPr>
          <p:cNvPr id="17" name="TextBox 16"/>
          <p:cNvSpPr txBox="1"/>
          <p:nvPr/>
        </p:nvSpPr>
        <p:spPr>
          <a:xfrm>
            <a:off x="14493240" y="2340864"/>
            <a:ext cx="1005839" cy="329184"/>
          </a:xfrm>
          <a:prstGeom prst="rect">
            <a:avLst/>
          </a:prstGeom>
          <a:noFill/>
        </p:spPr>
        <p:txBody>
          <a:bodyPr wrap="square" lIns="0" rIns="0" tIns="0" bIns="0" anchor="t">
            <a:spAutoFit/>
          </a:bodyPr>
          <a:lstStyle/>
          <a:p>
            <a:pPr algn="r">
              <a:lnSpc>
                <a:spcPct val="116000"/>
              </a:lnSpc>
              <a:spcBef>
                <a:spcPts val="0"/>
              </a:spcBef>
              <a:spcAft>
                <a:spcPts val="0"/>
              </a:spcAft>
            </a:pPr>
            <a:r>
              <a:rPr sz="1100" b="1" i="0" spc="120">
                <a:solidFill>
                  <a:srgbClr val="6E6E6E"/>
                </a:solidFill>
                <a:latin typeface="Open Sans"/>
              </a:rPr>
              <a:t>R²</a:t>
            </a:r>
          </a:p>
        </p:txBody>
      </p:sp>
      <p:sp>
        <p:nvSpPr>
          <p:cNvPr id="18" name="TextBox 17"/>
          <p:cNvSpPr txBox="1"/>
          <p:nvPr/>
        </p:nvSpPr>
        <p:spPr>
          <a:xfrm>
            <a:off x="15773400" y="2340864"/>
            <a:ext cx="1280160" cy="329184"/>
          </a:xfrm>
          <a:prstGeom prst="rect">
            <a:avLst/>
          </a:prstGeom>
          <a:noFill/>
        </p:spPr>
        <p:txBody>
          <a:bodyPr wrap="square" lIns="0" rIns="0" tIns="0" bIns="0" anchor="t">
            <a:spAutoFit/>
          </a:bodyPr>
          <a:lstStyle/>
          <a:p>
            <a:pPr algn="r">
              <a:lnSpc>
                <a:spcPct val="116000"/>
              </a:lnSpc>
              <a:spcBef>
                <a:spcPts val="0"/>
              </a:spcBef>
              <a:spcAft>
                <a:spcPts val="0"/>
              </a:spcAft>
            </a:pPr>
            <a:r>
              <a:rPr sz="1100" b="1" i="0" spc="120">
                <a:solidFill>
                  <a:srgbClr val="6E6E6E"/>
                </a:solidFill>
                <a:latin typeface="Open Sans"/>
              </a:rPr>
              <a:t>Ranking</a:t>
            </a:r>
          </a:p>
        </p:txBody>
      </p:sp>
      <p:cxnSp>
        <p:nvCxnSpPr>
          <p:cNvPr id="19" name="Connector 18"/>
          <p:cNvCxnSpPr/>
          <p:nvPr/>
        </p:nvCxnSpPr>
        <p:spPr>
          <a:xfrm>
            <a:off x="960120" y="2724912"/>
            <a:ext cx="16367760" cy="0"/>
          </a:xfrm>
          <a:prstGeom prst="line">
            <a:avLst/>
          </a:prstGeom>
          <a:ln w="11430">
            <a:solidFill>
              <a:srgbClr val="13161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60120" y="2779776"/>
            <a:ext cx="16367759" cy="292608"/>
          </a:xfrm>
          <a:prstGeom prst="rect">
            <a:avLst/>
          </a:prstGeom>
          <a:noFill/>
        </p:spPr>
        <p:txBody>
          <a:bodyPr wrap="square" lIns="0" rIns="0" tIns="0" bIns="0" anchor="t">
            <a:spAutoFit/>
          </a:bodyPr>
          <a:lstStyle/>
          <a:p>
            <a:pPr algn="l">
              <a:lnSpc>
                <a:spcPct val="116000"/>
              </a:lnSpc>
              <a:spcBef>
                <a:spcPts val="0"/>
              </a:spcBef>
              <a:spcAft>
                <a:spcPts val="0"/>
              </a:spcAft>
            </a:pPr>
            <a:r>
              <a:rPr sz="1050" b="1" i="0" spc="120">
                <a:solidFill>
                  <a:srgbClr val="D10120"/>
                </a:solidFill>
                <a:latin typeface="Open Sans"/>
              </a:rPr>
              <a:t>PANEL A · MODELOS DESAGREGADOS A NIVEL SKU (TOP 100 PRODUCTOS)</a:t>
            </a:r>
          </a:p>
        </p:txBody>
      </p:sp>
      <p:sp>
        <p:nvSpPr>
          <p:cNvPr id="21" name="Rectangle 20"/>
          <p:cNvSpPr/>
          <p:nvPr/>
        </p:nvSpPr>
        <p:spPr>
          <a:xfrm>
            <a:off x="960120" y="3090672"/>
            <a:ext cx="16367759" cy="338328"/>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960120" y="3090672"/>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1" i="0">
                <a:solidFill>
                  <a:srgbClr val="003F62"/>
                </a:solidFill>
                <a:latin typeface="Open Sans"/>
              </a:rPr>
              <a:t>ES-GBM (Static Top-Down)</a:t>
            </a:r>
          </a:p>
        </p:txBody>
      </p:sp>
      <p:sp>
        <p:nvSpPr>
          <p:cNvPr id="23" name="TextBox 22"/>
          <p:cNvSpPr txBox="1"/>
          <p:nvPr/>
        </p:nvSpPr>
        <p:spPr>
          <a:xfrm>
            <a:off x="6812280" y="3090672"/>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16,10 %</a:t>
            </a:r>
          </a:p>
        </p:txBody>
      </p:sp>
      <p:sp>
        <p:nvSpPr>
          <p:cNvPr id="24" name="TextBox 23"/>
          <p:cNvSpPr txBox="1"/>
          <p:nvPr/>
        </p:nvSpPr>
        <p:spPr>
          <a:xfrm>
            <a:off x="8366760" y="3090672"/>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20,47 %</a:t>
            </a:r>
          </a:p>
        </p:txBody>
      </p:sp>
      <p:sp>
        <p:nvSpPr>
          <p:cNvPr id="25" name="TextBox 24"/>
          <p:cNvSpPr txBox="1"/>
          <p:nvPr/>
        </p:nvSpPr>
        <p:spPr>
          <a:xfrm>
            <a:off x="10104120" y="3090672"/>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26,7</a:t>
            </a:r>
          </a:p>
        </p:txBody>
      </p:sp>
      <p:sp>
        <p:nvSpPr>
          <p:cNvPr id="26" name="TextBox 25"/>
          <p:cNvSpPr txBox="1"/>
          <p:nvPr/>
        </p:nvSpPr>
        <p:spPr>
          <a:xfrm>
            <a:off x="11567160" y="3090672"/>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11,4</a:t>
            </a:r>
          </a:p>
        </p:txBody>
      </p:sp>
      <p:sp>
        <p:nvSpPr>
          <p:cNvPr id="27" name="TextBox 26"/>
          <p:cNvSpPr txBox="1"/>
          <p:nvPr/>
        </p:nvSpPr>
        <p:spPr>
          <a:xfrm>
            <a:off x="12938760" y="3090672"/>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−4,8 %</a:t>
            </a:r>
          </a:p>
        </p:txBody>
      </p:sp>
      <p:sp>
        <p:nvSpPr>
          <p:cNvPr id="28" name="TextBox 27"/>
          <p:cNvSpPr txBox="1"/>
          <p:nvPr/>
        </p:nvSpPr>
        <p:spPr>
          <a:xfrm>
            <a:off x="14493240" y="3090672"/>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0,95</a:t>
            </a:r>
          </a:p>
        </p:txBody>
      </p:sp>
      <p:sp>
        <p:nvSpPr>
          <p:cNvPr id="29" name="TextBox 28"/>
          <p:cNvSpPr txBox="1"/>
          <p:nvPr/>
        </p:nvSpPr>
        <p:spPr>
          <a:xfrm>
            <a:off x="15773400" y="3090672"/>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1°</a:t>
            </a:r>
          </a:p>
        </p:txBody>
      </p:sp>
      <p:cxnSp>
        <p:nvCxnSpPr>
          <p:cNvPr id="30" name="Connector 29"/>
          <p:cNvCxnSpPr/>
          <p:nvPr/>
        </p:nvCxnSpPr>
        <p:spPr>
          <a:xfrm>
            <a:off x="960120" y="3429000"/>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60120" y="3429000"/>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ES-GBM (Learned Dynamic Share)</a:t>
            </a:r>
          </a:p>
        </p:txBody>
      </p:sp>
      <p:sp>
        <p:nvSpPr>
          <p:cNvPr id="32" name="TextBox 31"/>
          <p:cNvSpPr txBox="1"/>
          <p:nvPr/>
        </p:nvSpPr>
        <p:spPr>
          <a:xfrm>
            <a:off x="6812280" y="3429000"/>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24,35 %</a:t>
            </a:r>
          </a:p>
        </p:txBody>
      </p:sp>
      <p:sp>
        <p:nvSpPr>
          <p:cNvPr id="33" name="TextBox 32"/>
          <p:cNvSpPr txBox="1"/>
          <p:nvPr/>
        </p:nvSpPr>
        <p:spPr>
          <a:xfrm>
            <a:off x="8366760" y="3429000"/>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28,90 %</a:t>
            </a:r>
          </a:p>
        </p:txBody>
      </p:sp>
      <p:sp>
        <p:nvSpPr>
          <p:cNvPr id="34" name="TextBox 33"/>
          <p:cNvSpPr txBox="1"/>
          <p:nvPr/>
        </p:nvSpPr>
        <p:spPr>
          <a:xfrm>
            <a:off x="10104120" y="3429000"/>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41,2</a:t>
            </a:r>
          </a:p>
        </p:txBody>
      </p:sp>
      <p:sp>
        <p:nvSpPr>
          <p:cNvPr id="35" name="TextBox 34"/>
          <p:cNvSpPr txBox="1"/>
          <p:nvPr/>
        </p:nvSpPr>
        <p:spPr>
          <a:xfrm>
            <a:off x="11567160" y="3429000"/>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17,2</a:t>
            </a:r>
          </a:p>
        </p:txBody>
      </p:sp>
      <p:sp>
        <p:nvSpPr>
          <p:cNvPr id="36" name="TextBox 35"/>
          <p:cNvSpPr txBox="1"/>
          <p:nvPr/>
        </p:nvSpPr>
        <p:spPr>
          <a:xfrm>
            <a:off x="12938760" y="3429000"/>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−5,2 %</a:t>
            </a:r>
          </a:p>
        </p:txBody>
      </p:sp>
      <p:sp>
        <p:nvSpPr>
          <p:cNvPr id="37" name="TextBox 36"/>
          <p:cNvSpPr txBox="1"/>
          <p:nvPr/>
        </p:nvSpPr>
        <p:spPr>
          <a:xfrm>
            <a:off x="14493240" y="3429000"/>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0,79</a:t>
            </a:r>
          </a:p>
        </p:txBody>
      </p:sp>
      <p:sp>
        <p:nvSpPr>
          <p:cNvPr id="38" name="TextBox 37"/>
          <p:cNvSpPr txBox="1"/>
          <p:nvPr/>
        </p:nvSpPr>
        <p:spPr>
          <a:xfrm>
            <a:off x="15773400" y="3429000"/>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2°</a:t>
            </a:r>
          </a:p>
        </p:txBody>
      </p:sp>
      <p:cxnSp>
        <p:nvCxnSpPr>
          <p:cNvPr id="39" name="Connector 38"/>
          <p:cNvCxnSpPr/>
          <p:nvPr/>
        </p:nvCxnSpPr>
        <p:spPr>
          <a:xfrm>
            <a:off x="960120" y="3767328"/>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60120" y="3767328"/>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LSTM Recurrente (con precio ex-ante)</a:t>
            </a:r>
          </a:p>
        </p:txBody>
      </p:sp>
      <p:sp>
        <p:nvSpPr>
          <p:cNvPr id="41" name="TextBox 40"/>
          <p:cNvSpPr txBox="1"/>
          <p:nvPr/>
        </p:nvSpPr>
        <p:spPr>
          <a:xfrm>
            <a:off x="6812280" y="3767328"/>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45,75 %</a:t>
            </a:r>
          </a:p>
        </p:txBody>
      </p:sp>
      <p:sp>
        <p:nvSpPr>
          <p:cNvPr id="42" name="TextBox 41"/>
          <p:cNvSpPr txBox="1"/>
          <p:nvPr/>
        </p:nvSpPr>
        <p:spPr>
          <a:xfrm>
            <a:off x="8366760" y="3767328"/>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52,10 %</a:t>
            </a:r>
          </a:p>
        </p:txBody>
      </p:sp>
      <p:sp>
        <p:nvSpPr>
          <p:cNvPr id="43" name="TextBox 42"/>
          <p:cNvSpPr txBox="1"/>
          <p:nvPr/>
        </p:nvSpPr>
        <p:spPr>
          <a:xfrm>
            <a:off x="10104120" y="3767328"/>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64,1</a:t>
            </a:r>
          </a:p>
        </p:txBody>
      </p:sp>
      <p:sp>
        <p:nvSpPr>
          <p:cNvPr id="44" name="TextBox 43"/>
          <p:cNvSpPr txBox="1"/>
          <p:nvPr/>
        </p:nvSpPr>
        <p:spPr>
          <a:xfrm>
            <a:off x="11567160" y="3767328"/>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32,3</a:t>
            </a:r>
          </a:p>
        </p:txBody>
      </p:sp>
      <p:sp>
        <p:nvSpPr>
          <p:cNvPr id="45" name="TextBox 44"/>
          <p:cNvSpPr txBox="1"/>
          <p:nvPr/>
        </p:nvSpPr>
        <p:spPr>
          <a:xfrm>
            <a:off x="12938760" y="3767328"/>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+8,4 %</a:t>
            </a:r>
          </a:p>
        </p:txBody>
      </p:sp>
      <p:sp>
        <p:nvSpPr>
          <p:cNvPr id="46" name="TextBox 45"/>
          <p:cNvSpPr txBox="1"/>
          <p:nvPr/>
        </p:nvSpPr>
        <p:spPr>
          <a:xfrm>
            <a:off x="14493240" y="3767328"/>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0,55</a:t>
            </a:r>
          </a:p>
        </p:txBody>
      </p:sp>
      <p:sp>
        <p:nvSpPr>
          <p:cNvPr id="47" name="TextBox 46"/>
          <p:cNvSpPr txBox="1"/>
          <p:nvPr/>
        </p:nvSpPr>
        <p:spPr>
          <a:xfrm>
            <a:off x="15773400" y="3767328"/>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3°</a:t>
            </a:r>
          </a:p>
        </p:txBody>
      </p:sp>
      <p:cxnSp>
        <p:nvCxnSpPr>
          <p:cNvPr id="48" name="Connector 47"/>
          <p:cNvCxnSpPr/>
          <p:nvPr/>
        </p:nvCxnSpPr>
        <p:spPr>
          <a:xfrm>
            <a:off x="960120" y="4105656"/>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0120" y="4105656"/>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Chronos-Bolt Desagregado (Static Share)</a:t>
            </a:r>
          </a:p>
        </p:txBody>
      </p:sp>
      <p:sp>
        <p:nvSpPr>
          <p:cNvPr id="50" name="TextBox 49"/>
          <p:cNvSpPr txBox="1"/>
          <p:nvPr/>
        </p:nvSpPr>
        <p:spPr>
          <a:xfrm>
            <a:off x="6812280" y="4105656"/>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48,44 %</a:t>
            </a:r>
          </a:p>
        </p:txBody>
      </p:sp>
      <p:sp>
        <p:nvSpPr>
          <p:cNvPr id="51" name="TextBox 50"/>
          <p:cNvSpPr txBox="1"/>
          <p:nvPr/>
        </p:nvSpPr>
        <p:spPr>
          <a:xfrm>
            <a:off x="8366760" y="4105656"/>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70,69 %</a:t>
            </a:r>
          </a:p>
        </p:txBody>
      </p:sp>
      <p:sp>
        <p:nvSpPr>
          <p:cNvPr id="52" name="TextBox 51"/>
          <p:cNvSpPr txBox="1"/>
          <p:nvPr/>
        </p:nvSpPr>
        <p:spPr>
          <a:xfrm>
            <a:off x="10104120" y="4105656"/>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65,1</a:t>
            </a:r>
          </a:p>
        </p:txBody>
      </p:sp>
      <p:sp>
        <p:nvSpPr>
          <p:cNvPr id="53" name="TextBox 52"/>
          <p:cNvSpPr txBox="1"/>
          <p:nvPr/>
        </p:nvSpPr>
        <p:spPr>
          <a:xfrm>
            <a:off x="11567160" y="4105656"/>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34,2</a:t>
            </a:r>
          </a:p>
        </p:txBody>
      </p:sp>
      <p:sp>
        <p:nvSpPr>
          <p:cNvPr id="54" name="TextBox 53"/>
          <p:cNvSpPr txBox="1"/>
          <p:nvPr/>
        </p:nvSpPr>
        <p:spPr>
          <a:xfrm>
            <a:off x="12938760" y="4105656"/>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+5,6 %</a:t>
            </a:r>
          </a:p>
        </p:txBody>
      </p:sp>
      <p:sp>
        <p:nvSpPr>
          <p:cNvPr id="55" name="TextBox 54"/>
          <p:cNvSpPr txBox="1"/>
          <p:nvPr/>
        </p:nvSpPr>
        <p:spPr>
          <a:xfrm>
            <a:off x="14493240" y="4105656"/>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0,72</a:t>
            </a:r>
          </a:p>
        </p:txBody>
      </p:sp>
      <p:sp>
        <p:nvSpPr>
          <p:cNvPr id="56" name="TextBox 55"/>
          <p:cNvSpPr txBox="1"/>
          <p:nvPr/>
        </p:nvSpPr>
        <p:spPr>
          <a:xfrm>
            <a:off x="15773400" y="4105656"/>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a:t>
            </a:r>
          </a:p>
        </p:txBody>
      </p:sp>
      <p:cxnSp>
        <p:nvCxnSpPr>
          <p:cNvPr id="57" name="Connector 56"/>
          <p:cNvCxnSpPr/>
          <p:nvPr/>
        </p:nvCxnSpPr>
        <p:spPr>
          <a:xfrm>
            <a:off x="960120" y="4443984"/>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960120" y="4443984"/>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LSTM Recurrente (sin precio ex-ante)</a:t>
            </a:r>
          </a:p>
        </p:txBody>
      </p:sp>
      <p:sp>
        <p:nvSpPr>
          <p:cNvPr id="59" name="TextBox 58"/>
          <p:cNvSpPr txBox="1"/>
          <p:nvPr/>
        </p:nvSpPr>
        <p:spPr>
          <a:xfrm>
            <a:off x="6812280" y="4443984"/>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53,76 %</a:t>
            </a:r>
          </a:p>
        </p:txBody>
      </p:sp>
      <p:sp>
        <p:nvSpPr>
          <p:cNvPr id="60" name="TextBox 59"/>
          <p:cNvSpPr txBox="1"/>
          <p:nvPr/>
        </p:nvSpPr>
        <p:spPr>
          <a:xfrm>
            <a:off x="8366760" y="4443984"/>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61,40 %</a:t>
            </a:r>
          </a:p>
        </p:txBody>
      </p:sp>
      <p:sp>
        <p:nvSpPr>
          <p:cNvPr id="61" name="TextBox 60"/>
          <p:cNvSpPr txBox="1"/>
          <p:nvPr/>
        </p:nvSpPr>
        <p:spPr>
          <a:xfrm>
            <a:off x="10104120" y="4443984"/>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68,1</a:t>
            </a:r>
          </a:p>
        </p:txBody>
      </p:sp>
      <p:sp>
        <p:nvSpPr>
          <p:cNvPr id="62" name="TextBox 61"/>
          <p:cNvSpPr txBox="1"/>
          <p:nvPr/>
        </p:nvSpPr>
        <p:spPr>
          <a:xfrm>
            <a:off x="11567160" y="4443984"/>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38,1</a:t>
            </a:r>
          </a:p>
        </p:txBody>
      </p:sp>
      <p:sp>
        <p:nvSpPr>
          <p:cNvPr id="63" name="TextBox 62"/>
          <p:cNvSpPr txBox="1"/>
          <p:nvPr/>
        </p:nvSpPr>
        <p:spPr>
          <a:xfrm>
            <a:off x="12938760" y="4443984"/>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+11,2 %</a:t>
            </a:r>
          </a:p>
        </p:txBody>
      </p:sp>
      <p:sp>
        <p:nvSpPr>
          <p:cNvPr id="64" name="TextBox 63"/>
          <p:cNvSpPr txBox="1"/>
          <p:nvPr/>
        </p:nvSpPr>
        <p:spPr>
          <a:xfrm>
            <a:off x="14493240" y="4443984"/>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0,38</a:t>
            </a:r>
          </a:p>
        </p:txBody>
      </p:sp>
      <p:sp>
        <p:nvSpPr>
          <p:cNvPr id="65" name="TextBox 64"/>
          <p:cNvSpPr txBox="1"/>
          <p:nvPr/>
        </p:nvSpPr>
        <p:spPr>
          <a:xfrm>
            <a:off x="15773400" y="4443984"/>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a:t>
            </a:r>
          </a:p>
        </p:txBody>
      </p:sp>
      <p:cxnSp>
        <p:nvCxnSpPr>
          <p:cNvPr id="66" name="Connector 65"/>
          <p:cNvCxnSpPr/>
          <p:nvPr/>
        </p:nvCxnSpPr>
        <p:spPr>
          <a:xfrm>
            <a:off x="960120" y="4782312"/>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960120" y="4782312"/>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Seasonal Naïve (benchmark del año anterior)</a:t>
            </a:r>
          </a:p>
        </p:txBody>
      </p:sp>
      <p:sp>
        <p:nvSpPr>
          <p:cNvPr id="68" name="TextBox 67"/>
          <p:cNvSpPr txBox="1"/>
          <p:nvPr/>
        </p:nvSpPr>
        <p:spPr>
          <a:xfrm>
            <a:off x="6812280" y="4782312"/>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69,89 %</a:t>
            </a:r>
          </a:p>
        </p:txBody>
      </p:sp>
      <p:sp>
        <p:nvSpPr>
          <p:cNvPr id="69" name="TextBox 68"/>
          <p:cNvSpPr txBox="1"/>
          <p:nvPr/>
        </p:nvSpPr>
        <p:spPr>
          <a:xfrm>
            <a:off x="8366760" y="4782312"/>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88,17 %</a:t>
            </a:r>
          </a:p>
        </p:txBody>
      </p:sp>
      <p:sp>
        <p:nvSpPr>
          <p:cNvPr id="70" name="TextBox 69"/>
          <p:cNvSpPr txBox="1"/>
          <p:nvPr/>
        </p:nvSpPr>
        <p:spPr>
          <a:xfrm>
            <a:off x="10104120" y="4782312"/>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107,2</a:t>
            </a:r>
          </a:p>
        </p:txBody>
      </p:sp>
      <p:sp>
        <p:nvSpPr>
          <p:cNvPr id="71" name="TextBox 70"/>
          <p:cNvSpPr txBox="1"/>
          <p:nvPr/>
        </p:nvSpPr>
        <p:spPr>
          <a:xfrm>
            <a:off x="11567160" y="4782312"/>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49,4</a:t>
            </a:r>
          </a:p>
        </p:txBody>
      </p:sp>
      <p:sp>
        <p:nvSpPr>
          <p:cNvPr id="72" name="TextBox 71"/>
          <p:cNvSpPr txBox="1"/>
          <p:nvPr/>
        </p:nvSpPr>
        <p:spPr>
          <a:xfrm>
            <a:off x="12938760" y="4782312"/>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+6,3 %</a:t>
            </a:r>
          </a:p>
        </p:txBody>
      </p:sp>
      <p:sp>
        <p:nvSpPr>
          <p:cNvPr id="73" name="TextBox 72"/>
          <p:cNvSpPr txBox="1"/>
          <p:nvPr/>
        </p:nvSpPr>
        <p:spPr>
          <a:xfrm>
            <a:off x="14493240" y="4782312"/>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0,23</a:t>
            </a:r>
          </a:p>
        </p:txBody>
      </p:sp>
      <p:sp>
        <p:nvSpPr>
          <p:cNvPr id="74" name="TextBox 73"/>
          <p:cNvSpPr txBox="1"/>
          <p:nvPr/>
        </p:nvSpPr>
        <p:spPr>
          <a:xfrm>
            <a:off x="15773400" y="4782312"/>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a:t>
            </a:r>
          </a:p>
        </p:txBody>
      </p:sp>
      <p:cxnSp>
        <p:nvCxnSpPr>
          <p:cNvPr id="75" name="Connector 74"/>
          <p:cNvCxnSpPr/>
          <p:nvPr/>
        </p:nvCxnSpPr>
        <p:spPr>
          <a:xfrm>
            <a:off x="960120" y="5120640"/>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60120" y="5120640"/>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SARIMAX (con precio y descuento)</a:t>
            </a:r>
          </a:p>
        </p:txBody>
      </p:sp>
      <p:sp>
        <p:nvSpPr>
          <p:cNvPr id="77" name="TextBox 76"/>
          <p:cNvSpPr txBox="1"/>
          <p:nvPr/>
        </p:nvSpPr>
        <p:spPr>
          <a:xfrm>
            <a:off x="6812280" y="5120640"/>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73,24 %</a:t>
            </a:r>
          </a:p>
        </p:txBody>
      </p:sp>
      <p:sp>
        <p:nvSpPr>
          <p:cNvPr id="78" name="TextBox 77"/>
          <p:cNvSpPr txBox="1"/>
          <p:nvPr/>
        </p:nvSpPr>
        <p:spPr>
          <a:xfrm>
            <a:off x="8366760" y="5120640"/>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170,87 %</a:t>
            </a:r>
          </a:p>
        </p:txBody>
      </p:sp>
      <p:sp>
        <p:nvSpPr>
          <p:cNvPr id="79" name="TextBox 78"/>
          <p:cNvSpPr txBox="1"/>
          <p:nvPr/>
        </p:nvSpPr>
        <p:spPr>
          <a:xfrm>
            <a:off x="10104120" y="5120640"/>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122,9</a:t>
            </a:r>
          </a:p>
        </p:txBody>
      </p:sp>
      <p:sp>
        <p:nvSpPr>
          <p:cNvPr id="80" name="TextBox 79"/>
          <p:cNvSpPr txBox="1"/>
          <p:nvPr/>
        </p:nvSpPr>
        <p:spPr>
          <a:xfrm>
            <a:off x="11567160" y="5120640"/>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51,7</a:t>
            </a:r>
          </a:p>
        </p:txBody>
      </p:sp>
      <p:sp>
        <p:nvSpPr>
          <p:cNvPr id="81" name="TextBox 80"/>
          <p:cNvSpPr txBox="1"/>
          <p:nvPr/>
        </p:nvSpPr>
        <p:spPr>
          <a:xfrm>
            <a:off x="12938760" y="5120640"/>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+11,6 %</a:t>
            </a:r>
          </a:p>
        </p:txBody>
      </p:sp>
      <p:sp>
        <p:nvSpPr>
          <p:cNvPr id="82" name="TextBox 81"/>
          <p:cNvSpPr txBox="1"/>
          <p:nvPr/>
        </p:nvSpPr>
        <p:spPr>
          <a:xfrm>
            <a:off x="14493240" y="5120640"/>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−0,01</a:t>
            </a:r>
          </a:p>
        </p:txBody>
      </p:sp>
      <p:sp>
        <p:nvSpPr>
          <p:cNvPr id="83" name="TextBox 82"/>
          <p:cNvSpPr txBox="1"/>
          <p:nvPr/>
        </p:nvSpPr>
        <p:spPr>
          <a:xfrm>
            <a:off x="15773400" y="5120640"/>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7°</a:t>
            </a:r>
          </a:p>
        </p:txBody>
      </p:sp>
      <p:cxnSp>
        <p:nvCxnSpPr>
          <p:cNvPr id="84" name="Connector 83"/>
          <p:cNvCxnSpPr/>
          <p:nvPr/>
        </p:nvCxnSpPr>
        <p:spPr>
          <a:xfrm>
            <a:off x="960120" y="5458968"/>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960120" y="5458968"/>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SARIMA Univariado (línea base)</a:t>
            </a:r>
          </a:p>
        </p:txBody>
      </p:sp>
      <p:sp>
        <p:nvSpPr>
          <p:cNvPr id="86" name="TextBox 85"/>
          <p:cNvSpPr txBox="1"/>
          <p:nvPr/>
        </p:nvSpPr>
        <p:spPr>
          <a:xfrm>
            <a:off x="6812280" y="5458968"/>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76,74 %</a:t>
            </a:r>
          </a:p>
        </p:txBody>
      </p:sp>
      <p:sp>
        <p:nvSpPr>
          <p:cNvPr id="87" name="TextBox 86"/>
          <p:cNvSpPr txBox="1"/>
          <p:nvPr/>
        </p:nvSpPr>
        <p:spPr>
          <a:xfrm>
            <a:off x="8366760" y="5458968"/>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309,88 %</a:t>
            </a:r>
          </a:p>
        </p:txBody>
      </p:sp>
      <p:sp>
        <p:nvSpPr>
          <p:cNvPr id="88" name="TextBox 87"/>
          <p:cNvSpPr txBox="1"/>
          <p:nvPr/>
        </p:nvSpPr>
        <p:spPr>
          <a:xfrm>
            <a:off x="10104120" y="5458968"/>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139,6</a:t>
            </a:r>
          </a:p>
        </p:txBody>
      </p:sp>
      <p:sp>
        <p:nvSpPr>
          <p:cNvPr id="89" name="TextBox 88"/>
          <p:cNvSpPr txBox="1"/>
          <p:nvPr/>
        </p:nvSpPr>
        <p:spPr>
          <a:xfrm>
            <a:off x="11567160" y="5458968"/>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54,2</a:t>
            </a:r>
          </a:p>
        </p:txBody>
      </p:sp>
      <p:sp>
        <p:nvSpPr>
          <p:cNvPr id="90" name="TextBox 89"/>
          <p:cNvSpPr txBox="1"/>
          <p:nvPr/>
        </p:nvSpPr>
        <p:spPr>
          <a:xfrm>
            <a:off x="12938760" y="5458968"/>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+14,3 %</a:t>
            </a:r>
          </a:p>
        </p:txBody>
      </p:sp>
      <p:sp>
        <p:nvSpPr>
          <p:cNvPr id="91" name="TextBox 90"/>
          <p:cNvSpPr txBox="1"/>
          <p:nvPr/>
        </p:nvSpPr>
        <p:spPr>
          <a:xfrm>
            <a:off x="14493240" y="5458968"/>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−0,31</a:t>
            </a:r>
          </a:p>
        </p:txBody>
      </p:sp>
      <p:sp>
        <p:nvSpPr>
          <p:cNvPr id="92" name="TextBox 91"/>
          <p:cNvSpPr txBox="1"/>
          <p:nvPr/>
        </p:nvSpPr>
        <p:spPr>
          <a:xfrm>
            <a:off x="15773400" y="5458968"/>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8°</a:t>
            </a:r>
          </a:p>
        </p:txBody>
      </p:sp>
      <p:cxnSp>
        <p:nvCxnSpPr>
          <p:cNvPr id="93" name="Connector 92"/>
          <p:cNvCxnSpPr/>
          <p:nvPr/>
        </p:nvCxnSpPr>
        <p:spPr>
          <a:xfrm>
            <a:off x="960120" y="5797296"/>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960120" y="5797296"/>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SBA (Syntetos-Boylan Approximation)</a:t>
            </a:r>
          </a:p>
        </p:txBody>
      </p:sp>
      <p:sp>
        <p:nvSpPr>
          <p:cNvPr id="95" name="TextBox 94"/>
          <p:cNvSpPr txBox="1"/>
          <p:nvPr/>
        </p:nvSpPr>
        <p:spPr>
          <a:xfrm>
            <a:off x="6812280" y="5797296"/>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83,42 %</a:t>
            </a:r>
          </a:p>
        </p:txBody>
      </p:sp>
      <p:sp>
        <p:nvSpPr>
          <p:cNvPr id="96" name="TextBox 95"/>
          <p:cNvSpPr txBox="1"/>
          <p:nvPr/>
        </p:nvSpPr>
        <p:spPr>
          <a:xfrm>
            <a:off x="8366760" y="5797296"/>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95,19 %</a:t>
            </a:r>
          </a:p>
        </p:txBody>
      </p:sp>
      <p:sp>
        <p:nvSpPr>
          <p:cNvPr id="97" name="TextBox 96"/>
          <p:cNvSpPr txBox="1"/>
          <p:nvPr/>
        </p:nvSpPr>
        <p:spPr>
          <a:xfrm>
            <a:off x="10104120" y="5797296"/>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108,1</a:t>
            </a:r>
          </a:p>
        </p:txBody>
      </p:sp>
      <p:sp>
        <p:nvSpPr>
          <p:cNvPr id="98" name="TextBox 97"/>
          <p:cNvSpPr txBox="1"/>
          <p:nvPr/>
        </p:nvSpPr>
        <p:spPr>
          <a:xfrm>
            <a:off x="11567160" y="5797296"/>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58,9</a:t>
            </a:r>
          </a:p>
        </p:txBody>
      </p:sp>
      <p:sp>
        <p:nvSpPr>
          <p:cNvPr id="99" name="TextBox 98"/>
          <p:cNvSpPr txBox="1"/>
          <p:nvPr/>
        </p:nvSpPr>
        <p:spPr>
          <a:xfrm>
            <a:off x="12938760" y="5797296"/>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−4,2 %</a:t>
            </a:r>
          </a:p>
        </p:txBody>
      </p:sp>
      <p:sp>
        <p:nvSpPr>
          <p:cNvPr id="100" name="TextBox 99"/>
          <p:cNvSpPr txBox="1"/>
          <p:nvPr/>
        </p:nvSpPr>
        <p:spPr>
          <a:xfrm>
            <a:off x="14493240" y="5797296"/>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0,22</a:t>
            </a:r>
          </a:p>
        </p:txBody>
      </p:sp>
      <p:sp>
        <p:nvSpPr>
          <p:cNvPr id="101" name="TextBox 100"/>
          <p:cNvSpPr txBox="1"/>
          <p:nvPr/>
        </p:nvSpPr>
        <p:spPr>
          <a:xfrm>
            <a:off x="15773400" y="5797296"/>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9°</a:t>
            </a:r>
          </a:p>
        </p:txBody>
      </p:sp>
      <p:cxnSp>
        <p:nvCxnSpPr>
          <p:cNvPr id="102" name="Connector 101"/>
          <p:cNvCxnSpPr/>
          <p:nvPr/>
        </p:nvCxnSpPr>
        <p:spPr>
          <a:xfrm>
            <a:off x="960120" y="6135624"/>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960120" y="6135624"/>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Croston Clásico</a:t>
            </a:r>
          </a:p>
        </p:txBody>
      </p:sp>
      <p:sp>
        <p:nvSpPr>
          <p:cNvPr id="104" name="TextBox 103"/>
          <p:cNvSpPr txBox="1"/>
          <p:nvPr/>
        </p:nvSpPr>
        <p:spPr>
          <a:xfrm>
            <a:off x="6812280" y="6135624"/>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84,87 %</a:t>
            </a:r>
          </a:p>
        </p:txBody>
      </p:sp>
      <p:sp>
        <p:nvSpPr>
          <p:cNvPr id="105" name="TextBox 104"/>
          <p:cNvSpPr txBox="1"/>
          <p:nvPr/>
        </p:nvSpPr>
        <p:spPr>
          <a:xfrm>
            <a:off x="8366760" y="6135624"/>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95,35 %</a:t>
            </a:r>
          </a:p>
        </p:txBody>
      </p:sp>
      <p:sp>
        <p:nvSpPr>
          <p:cNvPr id="106" name="TextBox 105"/>
          <p:cNvSpPr txBox="1"/>
          <p:nvPr/>
        </p:nvSpPr>
        <p:spPr>
          <a:xfrm>
            <a:off x="10104120" y="6135624"/>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108,6</a:t>
            </a:r>
          </a:p>
        </p:txBody>
      </p:sp>
      <p:sp>
        <p:nvSpPr>
          <p:cNvPr id="107" name="TextBox 106"/>
          <p:cNvSpPr txBox="1"/>
          <p:nvPr/>
        </p:nvSpPr>
        <p:spPr>
          <a:xfrm>
            <a:off x="11567160" y="6135624"/>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59,9</a:t>
            </a:r>
          </a:p>
        </p:txBody>
      </p:sp>
      <p:sp>
        <p:nvSpPr>
          <p:cNvPr id="108" name="TextBox 107"/>
          <p:cNvSpPr txBox="1"/>
          <p:nvPr/>
        </p:nvSpPr>
        <p:spPr>
          <a:xfrm>
            <a:off x="12938760" y="6135624"/>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+0,9 %</a:t>
            </a:r>
          </a:p>
        </p:txBody>
      </p:sp>
      <p:sp>
        <p:nvSpPr>
          <p:cNvPr id="109" name="TextBox 108"/>
          <p:cNvSpPr txBox="1"/>
          <p:nvPr/>
        </p:nvSpPr>
        <p:spPr>
          <a:xfrm>
            <a:off x="14493240" y="6135624"/>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0,21</a:t>
            </a:r>
          </a:p>
        </p:txBody>
      </p:sp>
      <p:sp>
        <p:nvSpPr>
          <p:cNvPr id="110" name="TextBox 109"/>
          <p:cNvSpPr txBox="1"/>
          <p:nvPr/>
        </p:nvSpPr>
        <p:spPr>
          <a:xfrm>
            <a:off x="15773400" y="6135624"/>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10°</a:t>
            </a:r>
          </a:p>
        </p:txBody>
      </p:sp>
      <p:cxnSp>
        <p:nvCxnSpPr>
          <p:cNvPr id="111" name="Connector 110"/>
          <p:cNvCxnSpPr/>
          <p:nvPr/>
        </p:nvCxnSpPr>
        <p:spPr>
          <a:xfrm>
            <a:off x="960120" y="6473952"/>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960120" y="6528816"/>
            <a:ext cx="16367759" cy="292608"/>
          </a:xfrm>
          <a:prstGeom prst="rect">
            <a:avLst/>
          </a:prstGeom>
          <a:noFill/>
        </p:spPr>
        <p:txBody>
          <a:bodyPr wrap="square" lIns="0" rIns="0" tIns="0" bIns="0" anchor="t">
            <a:spAutoFit/>
          </a:bodyPr>
          <a:lstStyle/>
          <a:p>
            <a:pPr algn="l">
              <a:lnSpc>
                <a:spcPct val="116000"/>
              </a:lnSpc>
              <a:spcBef>
                <a:spcPts val="0"/>
              </a:spcBef>
              <a:spcAft>
                <a:spcPts val="0"/>
              </a:spcAft>
            </a:pPr>
            <a:r>
              <a:rPr sz="1050" b="1" i="0" spc="120">
                <a:solidFill>
                  <a:srgbClr val="D10120"/>
                </a:solidFill>
                <a:latin typeface="Open Sans"/>
              </a:rPr>
              <a:t>PANEL B · MODELOS AGREGADOS A NIVEL FAMILIA (58 FAMILIAS)</a:t>
            </a:r>
          </a:p>
        </p:txBody>
      </p:sp>
      <p:sp>
        <p:nvSpPr>
          <p:cNvPr id="113" name="Rectangle 112"/>
          <p:cNvSpPr/>
          <p:nvPr/>
        </p:nvSpPr>
        <p:spPr>
          <a:xfrm>
            <a:off x="960120" y="6839712"/>
            <a:ext cx="16367759" cy="338328"/>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4" name="TextBox 113"/>
          <p:cNvSpPr txBox="1"/>
          <p:nvPr/>
        </p:nvSpPr>
        <p:spPr>
          <a:xfrm>
            <a:off x="960120" y="6839712"/>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1" i="0">
                <a:solidFill>
                  <a:srgbClr val="003F62"/>
                </a:solidFill>
                <a:latin typeface="Open Sans"/>
              </a:rPr>
              <a:t>ES-GBM Ensamble Agregado</a:t>
            </a:r>
          </a:p>
        </p:txBody>
      </p:sp>
      <p:sp>
        <p:nvSpPr>
          <p:cNvPr id="115" name="TextBox 114"/>
          <p:cNvSpPr txBox="1"/>
          <p:nvPr/>
        </p:nvSpPr>
        <p:spPr>
          <a:xfrm>
            <a:off x="6812280" y="6839712"/>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12,89 %</a:t>
            </a:r>
          </a:p>
        </p:txBody>
      </p:sp>
      <p:sp>
        <p:nvSpPr>
          <p:cNvPr id="116" name="TextBox 115"/>
          <p:cNvSpPr txBox="1"/>
          <p:nvPr/>
        </p:nvSpPr>
        <p:spPr>
          <a:xfrm>
            <a:off x="8366760" y="6839712"/>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14,67 %</a:t>
            </a:r>
          </a:p>
        </p:txBody>
      </p:sp>
      <p:sp>
        <p:nvSpPr>
          <p:cNvPr id="117" name="TextBox 116"/>
          <p:cNvSpPr txBox="1"/>
          <p:nvPr/>
        </p:nvSpPr>
        <p:spPr>
          <a:xfrm>
            <a:off x="10104120" y="6839712"/>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35,9</a:t>
            </a:r>
          </a:p>
        </p:txBody>
      </p:sp>
      <p:sp>
        <p:nvSpPr>
          <p:cNvPr id="118" name="TextBox 117"/>
          <p:cNvSpPr txBox="1"/>
          <p:nvPr/>
        </p:nvSpPr>
        <p:spPr>
          <a:xfrm>
            <a:off x="11567160" y="6839712"/>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15,7</a:t>
            </a:r>
          </a:p>
        </p:txBody>
      </p:sp>
      <p:sp>
        <p:nvSpPr>
          <p:cNvPr id="119" name="TextBox 118"/>
          <p:cNvSpPr txBox="1"/>
          <p:nvPr/>
        </p:nvSpPr>
        <p:spPr>
          <a:xfrm>
            <a:off x="12938760" y="6839712"/>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−4,8 %</a:t>
            </a:r>
          </a:p>
        </p:txBody>
      </p:sp>
      <p:sp>
        <p:nvSpPr>
          <p:cNvPr id="120" name="TextBox 119"/>
          <p:cNvSpPr txBox="1"/>
          <p:nvPr/>
        </p:nvSpPr>
        <p:spPr>
          <a:xfrm>
            <a:off x="14493240" y="6839712"/>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0,96</a:t>
            </a:r>
          </a:p>
        </p:txBody>
      </p:sp>
      <p:sp>
        <p:nvSpPr>
          <p:cNvPr id="121" name="TextBox 120"/>
          <p:cNvSpPr txBox="1"/>
          <p:nvPr/>
        </p:nvSpPr>
        <p:spPr>
          <a:xfrm>
            <a:off x="15773400" y="6839712"/>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1" i="0">
                <a:solidFill>
                  <a:srgbClr val="003F62"/>
                </a:solidFill>
                <a:latin typeface="Open Sans"/>
              </a:rPr>
              <a:t>1°</a:t>
            </a:r>
          </a:p>
        </p:txBody>
      </p:sp>
      <p:cxnSp>
        <p:nvCxnSpPr>
          <p:cNvPr id="122" name="Connector 121"/>
          <p:cNvCxnSpPr/>
          <p:nvPr/>
        </p:nvCxnSpPr>
        <p:spPr>
          <a:xfrm>
            <a:off x="960120" y="7178040"/>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60120" y="7178040"/>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Chronos-Bolt Agregado (Zero-Shot)</a:t>
            </a:r>
          </a:p>
        </p:txBody>
      </p:sp>
      <p:sp>
        <p:nvSpPr>
          <p:cNvPr id="124" name="TextBox 123"/>
          <p:cNvSpPr txBox="1"/>
          <p:nvPr/>
        </p:nvSpPr>
        <p:spPr>
          <a:xfrm>
            <a:off x="6812280" y="7178040"/>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36,35 %</a:t>
            </a:r>
          </a:p>
        </p:txBody>
      </p:sp>
      <p:sp>
        <p:nvSpPr>
          <p:cNvPr id="125" name="TextBox 124"/>
          <p:cNvSpPr txBox="1"/>
          <p:nvPr/>
        </p:nvSpPr>
        <p:spPr>
          <a:xfrm>
            <a:off x="8366760" y="7178040"/>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61,38 %</a:t>
            </a:r>
          </a:p>
        </p:txBody>
      </p:sp>
      <p:sp>
        <p:nvSpPr>
          <p:cNvPr id="126" name="TextBox 125"/>
          <p:cNvSpPr txBox="1"/>
          <p:nvPr/>
        </p:nvSpPr>
        <p:spPr>
          <a:xfrm>
            <a:off x="10104120" y="7178040"/>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81,9</a:t>
            </a:r>
          </a:p>
        </p:txBody>
      </p:sp>
      <p:sp>
        <p:nvSpPr>
          <p:cNvPr id="127" name="TextBox 126"/>
          <p:cNvSpPr txBox="1"/>
          <p:nvPr/>
        </p:nvSpPr>
        <p:spPr>
          <a:xfrm>
            <a:off x="11567160" y="7178040"/>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44,3</a:t>
            </a:r>
          </a:p>
        </p:txBody>
      </p:sp>
      <p:sp>
        <p:nvSpPr>
          <p:cNvPr id="128" name="TextBox 127"/>
          <p:cNvSpPr txBox="1"/>
          <p:nvPr/>
        </p:nvSpPr>
        <p:spPr>
          <a:xfrm>
            <a:off x="12938760" y="7178040"/>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+5,6 %</a:t>
            </a:r>
          </a:p>
        </p:txBody>
      </p:sp>
      <p:sp>
        <p:nvSpPr>
          <p:cNvPr id="129" name="TextBox 128"/>
          <p:cNvSpPr txBox="1"/>
          <p:nvPr/>
        </p:nvSpPr>
        <p:spPr>
          <a:xfrm>
            <a:off x="14493240" y="7178040"/>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0,79</a:t>
            </a:r>
          </a:p>
        </p:txBody>
      </p:sp>
      <p:sp>
        <p:nvSpPr>
          <p:cNvPr id="130" name="TextBox 129"/>
          <p:cNvSpPr txBox="1"/>
          <p:nvPr/>
        </p:nvSpPr>
        <p:spPr>
          <a:xfrm>
            <a:off x="15773400" y="7178040"/>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2°</a:t>
            </a:r>
          </a:p>
        </p:txBody>
      </p:sp>
      <p:cxnSp>
        <p:nvCxnSpPr>
          <p:cNvPr id="131" name="Connector 130"/>
          <p:cNvCxnSpPr/>
          <p:nvPr/>
        </p:nvCxnSpPr>
        <p:spPr>
          <a:xfrm>
            <a:off x="960120" y="7516368"/>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960120" y="7516368"/>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LSTM Recurrente Agregado</a:t>
            </a:r>
          </a:p>
        </p:txBody>
      </p:sp>
      <p:sp>
        <p:nvSpPr>
          <p:cNvPr id="133" name="TextBox 132"/>
          <p:cNvSpPr txBox="1"/>
          <p:nvPr/>
        </p:nvSpPr>
        <p:spPr>
          <a:xfrm>
            <a:off x="6812280" y="7516368"/>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40,51 %</a:t>
            </a:r>
          </a:p>
        </p:txBody>
      </p:sp>
      <p:sp>
        <p:nvSpPr>
          <p:cNvPr id="134" name="TextBox 133"/>
          <p:cNvSpPr txBox="1"/>
          <p:nvPr/>
        </p:nvSpPr>
        <p:spPr>
          <a:xfrm>
            <a:off x="8366760" y="7516368"/>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69,36 %</a:t>
            </a:r>
          </a:p>
        </p:txBody>
      </p:sp>
      <p:sp>
        <p:nvSpPr>
          <p:cNvPr id="135" name="TextBox 134"/>
          <p:cNvSpPr txBox="1"/>
          <p:nvPr/>
        </p:nvSpPr>
        <p:spPr>
          <a:xfrm>
            <a:off x="10104120" y="7516368"/>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88,1</a:t>
            </a:r>
          </a:p>
        </p:txBody>
      </p:sp>
      <p:sp>
        <p:nvSpPr>
          <p:cNvPr id="136" name="TextBox 135"/>
          <p:cNvSpPr txBox="1"/>
          <p:nvPr/>
        </p:nvSpPr>
        <p:spPr>
          <a:xfrm>
            <a:off x="11567160" y="7516368"/>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49,3</a:t>
            </a:r>
          </a:p>
        </p:txBody>
      </p:sp>
      <p:sp>
        <p:nvSpPr>
          <p:cNvPr id="137" name="TextBox 136"/>
          <p:cNvSpPr txBox="1"/>
          <p:nvPr/>
        </p:nvSpPr>
        <p:spPr>
          <a:xfrm>
            <a:off x="12938760" y="7516368"/>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+7,9 %</a:t>
            </a:r>
          </a:p>
        </p:txBody>
      </p:sp>
      <p:sp>
        <p:nvSpPr>
          <p:cNvPr id="138" name="TextBox 137"/>
          <p:cNvSpPr txBox="1"/>
          <p:nvPr/>
        </p:nvSpPr>
        <p:spPr>
          <a:xfrm>
            <a:off x="14493240" y="7516368"/>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0,76</a:t>
            </a:r>
          </a:p>
        </p:txBody>
      </p:sp>
      <p:sp>
        <p:nvSpPr>
          <p:cNvPr id="139" name="TextBox 138"/>
          <p:cNvSpPr txBox="1"/>
          <p:nvPr/>
        </p:nvSpPr>
        <p:spPr>
          <a:xfrm>
            <a:off x="15773400" y="7516368"/>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3°</a:t>
            </a:r>
          </a:p>
        </p:txBody>
      </p:sp>
      <p:cxnSp>
        <p:nvCxnSpPr>
          <p:cNvPr id="140" name="Connector 139"/>
          <p:cNvCxnSpPr/>
          <p:nvPr/>
        </p:nvCxnSpPr>
        <p:spPr>
          <a:xfrm>
            <a:off x="960120" y="7854696"/>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141" name="TextBox 140"/>
          <p:cNvSpPr txBox="1"/>
          <p:nvPr/>
        </p:nvSpPr>
        <p:spPr>
          <a:xfrm>
            <a:off x="960120" y="7854696"/>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SARIMAX Agregado</a:t>
            </a:r>
          </a:p>
        </p:txBody>
      </p:sp>
      <p:sp>
        <p:nvSpPr>
          <p:cNvPr id="142" name="TextBox 141"/>
          <p:cNvSpPr txBox="1"/>
          <p:nvPr/>
        </p:nvSpPr>
        <p:spPr>
          <a:xfrm>
            <a:off x="6812280" y="7854696"/>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59,64 %</a:t>
            </a:r>
          </a:p>
        </p:txBody>
      </p:sp>
      <p:sp>
        <p:nvSpPr>
          <p:cNvPr id="143" name="TextBox 142"/>
          <p:cNvSpPr txBox="1"/>
          <p:nvPr/>
        </p:nvSpPr>
        <p:spPr>
          <a:xfrm>
            <a:off x="8366760" y="7854696"/>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268,31 %</a:t>
            </a:r>
          </a:p>
        </p:txBody>
      </p:sp>
      <p:sp>
        <p:nvSpPr>
          <p:cNvPr id="144" name="TextBox 143"/>
          <p:cNvSpPr txBox="1"/>
          <p:nvPr/>
        </p:nvSpPr>
        <p:spPr>
          <a:xfrm>
            <a:off x="10104120" y="7854696"/>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165,3</a:t>
            </a:r>
          </a:p>
        </p:txBody>
      </p:sp>
      <p:sp>
        <p:nvSpPr>
          <p:cNvPr id="145" name="TextBox 144"/>
          <p:cNvSpPr txBox="1"/>
          <p:nvPr/>
        </p:nvSpPr>
        <p:spPr>
          <a:xfrm>
            <a:off x="11567160" y="7854696"/>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72,6</a:t>
            </a:r>
          </a:p>
        </p:txBody>
      </p:sp>
      <p:sp>
        <p:nvSpPr>
          <p:cNvPr id="146" name="TextBox 145"/>
          <p:cNvSpPr txBox="1"/>
          <p:nvPr/>
        </p:nvSpPr>
        <p:spPr>
          <a:xfrm>
            <a:off x="12938760" y="7854696"/>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+11,6 %</a:t>
            </a:r>
          </a:p>
        </p:txBody>
      </p:sp>
      <p:sp>
        <p:nvSpPr>
          <p:cNvPr id="147" name="TextBox 146"/>
          <p:cNvSpPr txBox="1"/>
          <p:nvPr/>
        </p:nvSpPr>
        <p:spPr>
          <a:xfrm>
            <a:off x="14493240" y="7854696"/>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0,16</a:t>
            </a:r>
          </a:p>
        </p:txBody>
      </p:sp>
      <p:sp>
        <p:nvSpPr>
          <p:cNvPr id="148" name="TextBox 147"/>
          <p:cNvSpPr txBox="1"/>
          <p:nvPr/>
        </p:nvSpPr>
        <p:spPr>
          <a:xfrm>
            <a:off x="15773400" y="7854696"/>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a:t>
            </a:r>
          </a:p>
        </p:txBody>
      </p:sp>
      <p:cxnSp>
        <p:nvCxnSpPr>
          <p:cNvPr id="149" name="Connector 148"/>
          <p:cNvCxnSpPr/>
          <p:nvPr/>
        </p:nvCxnSpPr>
        <p:spPr>
          <a:xfrm>
            <a:off x="960120" y="8193023"/>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150" name="TextBox 149"/>
          <p:cNvSpPr txBox="1"/>
          <p:nvPr/>
        </p:nvSpPr>
        <p:spPr>
          <a:xfrm>
            <a:off x="960120" y="8193023"/>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Seasonal Naïve Agregado</a:t>
            </a:r>
          </a:p>
        </p:txBody>
      </p:sp>
      <p:sp>
        <p:nvSpPr>
          <p:cNvPr id="151" name="TextBox 150"/>
          <p:cNvSpPr txBox="1"/>
          <p:nvPr/>
        </p:nvSpPr>
        <p:spPr>
          <a:xfrm>
            <a:off x="6812280" y="8193023"/>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59,78 %</a:t>
            </a:r>
          </a:p>
        </p:txBody>
      </p:sp>
      <p:sp>
        <p:nvSpPr>
          <p:cNvPr id="152" name="TextBox 151"/>
          <p:cNvSpPr txBox="1"/>
          <p:nvPr/>
        </p:nvSpPr>
        <p:spPr>
          <a:xfrm>
            <a:off x="8366760" y="8193023"/>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84,80 %</a:t>
            </a:r>
          </a:p>
        </p:txBody>
      </p:sp>
      <p:sp>
        <p:nvSpPr>
          <p:cNvPr id="153" name="TextBox 152"/>
          <p:cNvSpPr txBox="1"/>
          <p:nvPr/>
        </p:nvSpPr>
        <p:spPr>
          <a:xfrm>
            <a:off x="10104120" y="8193023"/>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148,9</a:t>
            </a:r>
          </a:p>
        </p:txBody>
      </p:sp>
      <p:sp>
        <p:nvSpPr>
          <p:cNvPr id="154" name="TextBox 153"/>
          <p:cNvSpPr txBox="1"/>
          <p:nvPr/>
        </p:nvSpPr>
        <p:spPr>
          <a:xfrm>
            <a:off x="11567160" y="8193023"/>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72,8</a:t>
            </a:r>
          </a:p>
        </p:txBody>
      </p:sp>
      <p:sp>
        <p:nvSpPr>
          <p:cNvPr id="155" name="TextBox 154"/>
          <p:cNvSpPr txBox="1"/>
          <p:nvPr/>
        </p:nvSpPr>
        <p:spPr>
          <a:xfrm>
            <a:off x="12938760" y="8193023"/>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+6,3 %</a:t>
            </a:r>
          </a:p>
        </p:txBody>
      </p:sp>
      <p:sp>
        <p:nvSpPr>
          <p:cNvPr id="156" name="TextBox 155"/>
          <p:cNvSpPr txBox="1"/>
          <p:nvPr/>
        </p:nvSpPr>
        <p:spPr>
          <a:xfrm>
            <a:off x="14493240" y="8193023"/>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0,32</a:t>
            </a:r>
          </a:p>
        </p:txBody>
      </p:sp>
      <p:sp>
        <p:nvSpPr>
          <p:cNvPr id="157" name="TextBox 156"/>
          <p:cNvSpPr txBox="1"/>
          <p:nvPr/>
        </p:nvSpPr>
        <p:spPr>
          <a:xfrm>
            <a:off x="15773400" y="8193023"/>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5°</a:t>
            </a:r>
          </a:p>
        </p:txBody>
      </p:sp>
      <p:cxnSp>
        <p:nvCxnSpPr>
          <p:cNvPr id="158" name="Connector 157"/>
          <p:cNvCxnSpPr/>
          <p:nvPr/>
        </p:nvCxnSpPr>
        <p:spPr>
          <a:xfrm>
            <a:off x="960120" y="8531351"/>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960120" y="8531351"/>
            <a:ext cx="5577840" cy="338328"/>
          </a:xfrm>
          <a:prstGeom prst="rect">
            <a:avLst/>
          </a:prstGeom>
          <a:noFill/>
        </p:spPr>
        <p:txBody>
          <a:bodyPr wrap="square" lIns="0" rIns="0" tIns="0" bIns="0" anchor="ctr">
            <a:spAutoFit/>
          </a:bodyPr>
          <a:lstStyle/>
          <a:p>
            <a:pPr algn="l">
              <a:lnSpc>
                <a:spcPct val="116000"/>
              </a:lnSpc>
              <a:spcBef>
                <a:spcPts val="0"/>
              </a:spcBef>
              <a:spcAft>
                <a:spcPts val="0"/>
              </a:spcAft>
            </a:pPr>
            <a:r>
              <a:rPr sz="1160" b="0" i="0">
                <a:solidFill>
                  <a:srgbClr val="394049"/>
                </a:solidFill>
                <a:latin typeface="Open Sans"/>
              </a:rPr>
              <a:t>SARIMA Agregado</a:t>
            </a:r>
          </a:p>
        </p:txBody>
      </p:sp>
      <p:sp>
        <p:nvSpPr>
          <p:cNvPr id="160" name="TextBox 159"/>
          <p:cNvSpPr txBox="1"/>
          <p:nvPr/>
        </p:nvSpPr>
        <p:spPr>
          <a:xfrm>
            <a:off x="6812280" y="8531351"/>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64,84 %</a:t>
            </a:r>
          </a:p>
        </p:txBody>
      </p:sp>
      <p:sp>
        <p:nvSpPr>
          <p:cNvPr id="161" name="TextBox 160"/>
          <p:cNvSpPr txBox="1"/>
          <p:nvPr/>
        </p:nvSpPr>
        <p:spPr>
          <a:xfrm>
            <a:off x="8366760" y="8531351"/>
            <a:ext cx="14630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450,19 %</a:t>
            </a:r>
          </a:p>
        </p:txBody>
      </p:sp>
      <p:sp>
        <p:nvSpPr>
          <p:cNvPr id="162" name="TextBox 161"/>
          <p:cNvSpPr txBox="1"/>
          <p:nvPr/>
        </p:nvSpPr>
        <p:spPr>
          <a:xfrm>
            <a:off x="10104120" y="8531351"/>
            <a:ext cx="118872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183,3</a:t>
            </a:r>
          </a:p>
        </p:txBody>
      </p:sp>
      <p:sp>
        <p:nvSpPr>
          <p:cNvPr id="163" name="TextBox 162"/>
          <p:cNvSpPr txBox="1"/>
          <p:nvPr/>
        </p:nvSpPr>
        <p:spPr>
          <a:xfrm>
            <a:off x="11567160" y="8531351"/>
            <a:ext cx="109728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79,0</a:t>
            </a:r>
          </a:p>
        </p:txBody>
      </p:sp>
      <p:sp>
        <p:nvSpPr>
          <p:cNvPr id="164" name="TextBox 163"/>
          <p:cNvSpPr txBox="1"/>
          <p:nvPr/>
        </p:nvSpPr>
        <p:spPr>
          <a:xfrm>
            <a:off x="12938760" y="8531351"/>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+14,3 %</a:t>
            </a:r>
          </a:p>
        </p:txBody>
      </p:sp>
      <p:sp>
        <p:nvSpPr>
          <p:cNvPr id="165" name="TextBox 164"/>
          <p:cNvSpPr txBox="1"/>
          <p:nvPr/>
        </p:nvSpPr>
        <p:spPr>
          <a:xfrm>
            <a:off x="14493240" y="8531351"/>
            <a:ext cx="1005839"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−0,03</a:t>
            </a:r>
          </a:p>
        </p:txBody>
      </p:sp>
      <p:sp>
        <p:nvSpPr>
          <p:cNvPr id="166" name="TextBox 165"/>
          <p:cNvSpPr txBox="1"/>
          <p:nvPr/>
        </p:nvSpPr>
        <p:spPr>
          <a:xfrm>
            <a:off x="15773400" y="8531351"/>
            <a:ext cx="1280160" cy="338328"/>
          </a:xfrm>
          <a:prstGeom prst="rect">
            <a:avLst/>
          </a:prstGeom>
          <a:noFill/>
        </p:spPr>
        <p:txBody>
          <a:bodyPr wrap="square" lIns="0" rIns="0" tIns="0" bIns="0" anchor="ctr">
            <a:spAutoFit/>
          </a:bodyPr>
          <a:lstStyle/>
          <a:p>
            <a:pPr algn="r">
              <a:lnSpc>
                <a:spcPct val="116000"/>
              </a:lnSpc>
              <a:spcBef>
                <a:spcPts val="0"/>
              </a:spcBef>
              <a:spcAft>
                <a:spcPts val="0"/>
              </a:spcAft>
            </a:pPr>
            <a:r>
              <a:rPr sz="1160" b="0" i="0">
                <a:solidFill>
                  <a:srgbClr val="394049"/>
                </a:solidFill>
                <a:latin typeface="Open Sans"/>
              </a:rPr>
              <a:t>6°</a:t>
            </a:r>
          </a:p>
        </p:txBody>
      </p:sp>
      <p:cxnSp>
        <p:nvCxnSpPr>
          <p:cNvPr id="167" name="Connector 166"/>
          <p:cNvCxnSpPr/>
          <p:nvPr/>
        </p:nvCxnSpPr>
        <p:spPr>
          <a:xfrm>
            <a:off x="960120" y="8869679"/>
            <a:ext cx="16367760" cy="0"/>
          </a:xfrm>
          <a:prstGeom prst="line">
            <a:avLst/>
          </a:prstGeom>
          <a:ln w="6350">
            <a:solidFill>
              <a:srgbClr val="EDF0F2"/>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960120" y="8869679"/>
            <a:ext cx="16367760" cy="0"/>
          </a:xfrm>
          <a:prstGeom prst="line">
            <a:avLst/>
          </a:prstGeom>
          <a:ln w="21590">
            <a:solidFill>
              <a:srgbClr val="13161B"/>
            </a:solidFill>
          </a:ln>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960120" y="9015983"/>
            <a:ext cx="16367759"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Evaluación fuera de muestra, febrero a agosto de 2025. Las fórmulas de cada métrica están en los anexos A4 a A6.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A4</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Métricas de error relativo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27</a:t>
            </a:r>
          </a:p>
        </p:txBody>
      </p:sp>
      <p:sp>
        <p:nvSpPr>
          <p:cNvPr id="10" name="TextBox 9"/>
          <p:cNvSpPr txBox="1"/>
          <p:nvPr/>
        </p:nvSpPr>
        <p:spPr>
          <a:xfrm>
            <a:off x="960120" y="2249424"/>
            <a:ext cx="7863840" cy="457200"/>
          </a:xfrm>
          <a:prstGeom prst="rect">
            <a:avLst/>
          </a:prstGeom>
          <a:noFill/>
        </p:spPr>
        <p:txBody>
          <a:bodyPr wrap="square" lIns="0" rIns="0" tIns="0" bIns="0" anchor="t">
            <a:spAutoFit/>
          </a:bodyPr>
          <a:lstStyle/>
          <a:p>
            <a:pPr algn="l">
              <a:lnSpc>
                <a:spcPct val="116000"/>
              </a:lnSpc>
              <a:spcBef>
                <a:spcPts val="0"/>
              </a:spcBef>
              <a:spcAft>
                <a:spcPts val="200"/>
              </a:spcAft>
            </a:pPr>
            <a:r>
              <a:rPr sz="2000" b="1" i="0">
                <a:solidFill>
                  <a:srgbClr val="005F91"/>
                </a:solidFill>
                <a:latin typeface="Open Sans"/>
              </a:rPr>
              <a:t>WAPE</a:t>
            </a:r>
          </a:p>
        </p:txBody>
      </p:sp>
      <p:sp>
        <p:nvSpPr>
          <p:cNvPr id="11" name="TextBox 10"/>
          <p:cNvSpPr txBox="1"/>
          <p:nvPr/>
        </p:nvSpPr>
        <p:spPr>
          <a:xfrm>
            <a:off x="960120" y="2688336"/>
            <a:ext cx="7863840" cy="365760"/>
          </a:xfrm>
          <a:prstGeom prst="rect">
            <a:avLst/>
          </a:prstGeom>
          <a:noFill/>
        </p:spPr>
        <p:txBody>
          <a:bodyPr wrap="square" lIns="0" rIns="0" tIns="0" bIns="0" anchor="t">
            <a:spAutoFit/>
          </a:bodyPr>
          <a:lstStyle/>
          <a:p>
            <a:pPr algn="l">
              <a:lnSpc>
                <a:spcPct val="116000"/>
              </a:lnSpc>
              <a:spcBef>
                <a:spcPts val="0"/>
              </a:spcBef>
              <a:spcAft>
                <a:spcPts val="0"/>
              </a:spcAft>
            </a:pPr>
            <a:r>
              <a:rPr sz="1300" b="0" i="0">
                <a:solidFill>
                  <a:srgbClr val="6E6E6E"/>
                </a:solidFill>
                <a:latin typeface="Open Sans"/>
              </a:rPr>
              <a:t>Weighted Absolute Percentage Error  ·  métrica rectora del estudio</a:t>
            </a:r>
          </a:p>
        </p:txBody>
      </p:sp>
      <p:sp>
        <p:nvSpPr>
          <p:cNvPr id="12" name="Rounded Rectangle 11"/>
          <p:cNvSpPr/>
          <p:nvPr/>
        </p:nvSpPr>
        <p:spPr>
          <a:xfrm>
            <a:off x="960120" y="3072384"/>
            <a:ext cx="7863840" cy="1417320"/>
          </a:xfrm>
          <a:prstGeom prst="roundRect">
            <a:avLst>
              <a:gd name="adj" fmla="val 322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wape.png"/>
          <p:cNvPicPr>
            <a:picLocks noChangeAspect="1"/>
          </p:cNvPicPr>
          <p:nvPr/>
        </p:nvPicPr>
        <p:blipFill>
          <a:blip r:embed="rId2"/>
          <a:stretch>
            <a:fillRect/>
          </a:stretch>
        </p:blipFill>
        <p:spPr>
          <a:xfrm>
            <a:off x="3386244" y="3182112"/>
            <a:ext cx="3011590" cy="1197864"/>
          </a:xfrm>
          <a:prstGeom prst="rect">
            <a:avLst/>
          </a:prstGeom>
        </p:spPr>
      </p:pic>
      <p:sp>
        <p:nvSpPr>
          <p:cNvPr id="14" name="TextBox 13"/>
          <p:cNvSpPr txBox="1"/>
          <p:nvPr/>
        </p:nvSpPr>
        <p:spPr>
          <a:xfrm>
            <a:off x="960120" y="4608576"/>
            <a:ext cx="7863840" cy="320040"/>
          </a:xfrm>
          <a:prstGeom prst="rect">
            <a:avLst/>
          </a:prstGeom>
          <a:noFill/>
        </p:spPr>
        <p:txBody>
          <a:bodyPr wrap="square" lIns="0" rIns="0" tIns="0" bIns="0" anchor="t">
            <a:spAutoFit/>
          </a:bodyPr>
          <a:lstStyle/>
          <a:p>
            <a:pPr algn="l">
              <a:lnSpc>
                <a:spcPct val="116000"/>
              </a:lnSpc>
              <a:spcBef>
                <a:spcPts val="0"/>
              </a:spcBef>
              <a:spcAft>
                <a:spcPts val="0"/>
              </a:spcAft>
            </a:pPr>
            <a:r>
              <a:rPr sz="1100" b="1" i="0" spc="160">
                <a:solidFill>
                  <a:srgbClr val="6E6E6E"/>
                </a:solidFill>
                <a:latin typeface="Open Sans"/>
              </a:rPr>
              <a:t>QUÉ SIGNIFICA CADA SÍMBOLO</a:t>
            </a:r>
          </a:p>
        </p:txBody>
      </p:sp>
      <p:cxnSp>
        <p:nvCxnSpPr>
          <p:cNvPr id="15" name="Connector 14"/>
          <p:cNvCxnSpPr/>
          <p:nvPr/>
        </p:nvCxnSpPr>
        <p:spPr>
          <a:xfrm>
            <a:off x="960120" y="4919472"/>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05840" y="49743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y</a:t>
            </a:r>
          </a:p>
        </p:txBody>
      </p:sp>
      <p:sp>
        <p:nvSpPr>
          <p:cNvPr id="17" name="TextBox 16"/>
          <p:cNvSpPr txBox="1"/>
          <p:nvPr/>
        </p:nvSpPr>
        <p:spPr>
          <a:xfrm>
            <a:off x="2240280" y="49743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demanda real observada en el mes t, en unidades vendidas</a:t>
            </a:r>
          </a:p>
        </p:txBody>
      </p:sp>
      <p:cxnSp>
        <p:nvCxnSpPr>
          <p:cNvPr id="18" name="Connector 17"/>
          <p:cNvCxnSpPr/>
          <p:nvPr/>
        </p:nvCxnSpPr>
        <p:spPr>
          <a:xfrm>
            <a:off x="960120" y="53766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 y="54315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ŷ</a:t>
            </a:r>
          </a:p>
        </p:txBody>
      </p:sp>
      <p:sp>
        <p:nvSpPr>
          <p:cNvPr id="20" name="TextBox 19"/>
          <p:cNvSpPr txBox="1"/>
          <p:nvPr/>
        </p:nvSpPr>
        <p:spPr>
          <a:xfrm>
            <a:off x="2240280" y="54315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pronóstico del modelo para ese mismo mes</a:t>
            </a:r>
          </a:p>
        </p:txBody>
      </p:sp>
      <p:cxnSp>
        <p:nvCxnSpPr>
          <p:cNvPr id="21" name="Connector 20"/>
          <p:cNvCxnSpPr/>
          <p:nvPr/>
        </p:nvCxnSpPr>
        <p:spPr>
          <a:xfrm>
            <a:off x="960120" y="58338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05840" y="58887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Σ</a:t>
            </a:r>
          </a:p>
        </p:txBody>
      </p:sp>
      <p:sp>
        <p:nvSpPr>
          <p:cNvPr id="23" name="TextBox 22"/>
          <p:cNvSpPr txBox="1"/>
          <p:nvPr/>
        </p:nvSpPr>
        <p:spPr>
          <a:xfrm>
            <a:off x="2240280" y="58887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suma sobre los n meses del horizonte de evaluación</a:t>
            </a:r>
          </a:p>
        </p:txBody>
      </p:sp>
      <p:cxnSp>
        <p:nvCxnSpPr>
          <p:cNvPr id="24" name="Connector 23"/>
          <p:cNvCxnSpPr/>
          <p:nvPr/>
        </p:nvCxnSpPr>
        <p:spPr>
          <a:xfrm>
            <a:off x="960120" y="62910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05840" y="63459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n</a:t>
            </a:r>
          </a:p>
        </p:txBody>
      </p:sp>
      <p:sp>
        <p:nvSpPr>
          <p:cNvPr id="26" name="TextBox 25"/>
          <p:cNvSpPr txBox="1"/>
          <p:nvPr/>
        </p:nvSpPr>
        <p:spPr>
          <a:xfrm>
            <a:off x="2240280" y="63459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número de meses evaluados: 7 en la prueba ciega</a:t>
            </a:r>
          </a:p>
        </p:txBody>
      </p:sp>
      <p:cxnSp>
        <p:nvCxnSpPr>
          <p:cNvPr id="27" name="Connector 26"/>
          <p:cNvCxnSpPr/>
          <p:nvPr/>
        </p:nvCxnSpPr>
        <p:spPr>
          <a:xfrm>
            <a:off x="960120" y="67482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05840" y="68031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100 %</a:t>
            </a:r>
          </a:p>
        </p:txBody>
      </p:sp>
      <p:sp>
        <p:nvSpPr>
          <p:cNvPr id="29" name="TextBox 28"/>
          <p:cNvSpPr txBox="1"/>
          <p:nvPr/>
        </p:nvSpPr>
        <p:spPr>
          <a:xfrm>
            <a:off x="2240280" y="68031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expresa el resultado como porcentaje del volumen vendido</a:t>
            </a:r>
          </a:p>
        </p:txBody>
      </p:sp>
      <p:cxnSp>
        <p:nvCxnSpPr>
          <p:cNvPr id="30" name="Connector 29"/>
          <p:cNvCxnSpPr/>
          <p:nvPr/>
        </p:nvCxnSpPr>
        <p:spPr>
          <a:xfrm>
            <a:off x="960120" y="7260336"/>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0120" y="7498079"/>
            <a:ext cx="7863840" cy="1664208"/>
          </a:xfrm>
          <a:prstGeom prst="roundRect">
            <a:avLst>
              <a:gd name="adj" fmla="val 302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2" name="Rectangle 31"/>
          <p:cNvSpPr/>
          <p:nvPr/>
        </p:nvSpPr>
        <p:spPr>
          <a:xfrm>
            <a:off x="960120" y="7498079"/>
            <a:ext cx="68580" cy="1664208"/>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3" name="TextBox 32"/>
          <p:cNvSpPr txBox="1"/>
          <p:nvPr/>
        </p:nvSpPr>
        <p:spPr>
          <a:xfrm>
            <a:off x="1325880" y="7735823"/>
            <a:ext cx="7205472" cy="1188720"/>
          </a:xfrm>
          <a:prstGeom prst="rect">
            <a:avLst/>
          </a:prstGeom>
          <a:noFill/>
        </p:spPr>
        <p:txBody>
          <a:bodyPr wrap="square" lIns="0" rIns="0" tIns="0" bIns="0" anchor="t">
            <a:spAutoFit/>
          </a:bodyPr>
          <a:lstStyle/>
          <a:p>
            <a:pPr algn="l">
              <a:lnSpc>
                <a:spcPct val="112000"/>
              </a:lnSpc>
              <a:spcBef>
                <a:spcPts val="0"/>
              </a:spcBef>
              <a:spcAft>
                <a:spcPts val="800"/>
              </a:spcAft>
            </a:pPr>
            <a:r>
              <a:rPr sz="1550" b="1" i="0">
                <a:solidFill>
                  <a:srgbClr val="13161B"/>
                </a:solidFill>
                <a:latin typeface="Open Sans"/>
              </a:rPr>
              <a:t>Cómo se lee</a:t>
            </a:r>
          </a:p>
          <a:p>
            <a:pPr algn="l">
              <a:lnSpc>
                <a:spcPct val="120000"/>
              </a:lnSpc>
              <a:spcBef>
                <a:spcPts val="0"/>
              </a:spcBef>
              <a:spcAft>
                <a:spcPts val="0"/>
              </a:spcAft>
            </a:pPr>
            <a:r>
              <a:rPr sz="1270" b="0" i="0">
                <a:solidFill>
                  <a:srgbClr val="394049"/>
                </a:solidFill>
                <a:latin typeface="Open Sans"/>
              </a:rPr>
              <a:t>Suma todos los errores y los divide por el volumen total vendido: es inmune a la división por cero. Un WAPE de 16,10 % significa que el error acumulado equivale al 16,10 % de las unidades vendidas.</a:t>
            </a:r>
          </a:p>
        </p:txBody>
      </p:sp>
      <p:cxnSp>
        <p:nvCxnSpPr>
          <p:cNvPr id="34" name="Connector 33"/>
          <p:cNvCxnSpPr/>
          <p:nvPr/>
        </p:nvCxnSpPr>
        <p:spPr>
          <a:xfrm>
            <a:off x="9144000" y="2249424"/>
            <a:ext cx="0" cy="676656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464040" y="2249424"/>
            <a:ext cx="7863840" cy="457200"/>
          </a:xfrm>
          <a:prstGeom prst="rect">
            <a:avLst/>
          </a:prstGeom>
          <a:noFill/>
        </p:spPr>
        <p:txBody>
          <a:bodyPr wrap="square" lIns="0" rIns="0" tIns="0" bIns="0" anchor="t">
            <a:spAutoFit/>
          </a:bodyPr>
          <a:lstStyle/>
          <a:p>
            <a:pPr algn="l">
              <a:lnSpc>
                <a:spcPct val="116000"/>
              </a:lnSpc>
              <a:spcBef>
                <a:spcPts val="0"/>
              </a:spcBef>
              <a:spcAft>
                <a:spcPts val="200"/>
              </a:spcAft>
            </a:pPr>
            <a:r>
              <a:rPr sz="2000" b="1" i="0">
                <a:solidFill>
                  <a:srgbClr val="D10120"/>
                </a:solidFill>
                <a:latin typeface="Open Sans"/>
              </a:rPr>
              <a:t>MAPE</a:t>
            </a:r>
          </a:p>
        </p:txBody>
      </p:sp>
      <p:sp>
        <p:nvSpPr>
          <p:cNvPr id="36" name="TextBox 35"/>
          <p:cNvSpPr txBox="1"/>
          <p:nvPr/>
        </p:nvSpPr>
        <p:spPr>
          <a:xfrm>
            <a:off x="9464040" y="2688336"/>
            <a:ext cx="7863840" cy="365760"/>
          </a:xfrm>
          <a:prstGeom prst="rect">
            <a:avLst/>
          </a:prstGeom>
          <a:noFill/>
        </p:spPr>
        <p:txBody>
          <a:bodyPr wrap="square" lIns="0" rIns="0" tIns="0" bIns="0" anchor="t">
            <a:spAutoFit/>
          </a:bodyPr>
          <a:lstStyle/>
          <a:p>
            <a:pPr algn="l">
              <a:lnSpc>
                <a:spcPct val="116000"/>
              </a:lnSpc>
              <a:spcBef>
                <a:spcPts val="0"/>
              </a:spcBef>
              <a:spcAft>
                <a:spcPts val="0"/>
              </a:spcAft>
            </a:pPr>
            <a:r>
              <a:rPr sz="1300" b="0" i="0">
                <a:solidFill>
                  <a:srgbClr val="6E6E6E"/>
                </a:solidFill>
                <a:latin typeface="Open Sans"/>
              </a:rPr>
              <a:t>Mean Absolute Percentage Error  ·  reportado en su variante simétrica</a:t>
            </a:r>
          </a:p>
        </p:txBody>
      </p:sp>
      <p:sp>
        <p:nvSpPr>
          <p:cNvPr id="37" name="Rounded Rectangle 36"/>
          <p:cNvSpPr/>
          <p:nvPr/>
        </p:nvSpPr>
        <p:spPr>
          <a:xfrm>
            <a:off x="9464040" y="3072384"/>
            <a:ext cx="7863840" cy="1417320"/>
          </a:xfrm>
          <a:prstGeom prst="roundRect">
            <a:avLst>
              <a:gd name="adj" fmla="val 322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8" name="Picture 37" descr="mape.png"/>
          <p:cNvPicPr>
            <a:picLocks noChangeAspect="1"/>
          </p:cNvPicPr>
          <p:nvPr/>
        </p:nvPicPr>
        <p:blipFill>
          <a:blip r:embed="rId3"/>
          <a:stretch>
            <a:fillRect/>
          </a:stretch>
        </p:blipFill>
        <p:spPr>
          <a:xfrm>
            <a:off x="10826936" y="3182112"/>
            <a:ext cx="5138046" cy="1197864"/>
          </a:xfrm>
          <a:prstGeom prst="rect">
            <a:avLst/>
          </a:prstGeom>
        </p:spPr>
      </p:pic>
      <p:sp>
        <p:nvSpPr>
          <p:cNvPr id="39" name="TextBox 38"/>
          <p:cNvSpPr txBox="1"/>
          <p:nvPr/>
        </p:nvSpPr>
        <p:spPr>
          <a:xfrm>
            <a:off x="9464040" y="4608576"/>
            <a:ext cx="7863840" cy="320040"/>
          </a:xfrm>
          <a:prstGeom prst="rect">
            <a:avLst/>
          </a:prstGeom>
          <a:noFill/>
        </p:spPr>
        <p:txBody>
          <a:bodyPr wrap="square" lIns="0" rIns="0" tIns="0" bIns="0" anchor="t">
            <a:spAutoFit/>
          </a:bodyPr>
          <a:lstStyle/>
          <a:p>
            <a:pPr algn="l">
              <a:lnSpc>
                <a:spcPct val="116000"/>
              </a:lnSpc>
              <a:spcBef>
                <a:spcPts val="0"/>
              </a:spcBef>
              <a:spcAft>
                <a:spcPts val="0"/>
              </a:spcAft>
            </a:pPr>
            <a:r>
              <a:rPr sz="1100" b="1" i="0" spc="160">
                <a:solidFill>
                  <a:srgbClr val="6E6E6E"/>
                </a:solidFill>
                <a:latin typeface="Open Sans"/>
              </a:rPr>
              <a:t>QUÉ SIGNIFICA CADA SÍMBOLO</a:t>
            </a:r>
          </a:p>
        </p:txBody>
      </p:sp>
      <p:cxnSp>
        <p:nvCxnSpPr>
          <p:cNvPr id="40" name="Connector 39"/>
          <p:cNvCxnSpPr/>
          <p:nvPr/>
        </p:nvCxnSpPr>
        <p:spPr>
          <a:xfrm>
            <a:off x="9464040" y="4919472"/>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509760" y="49743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y</a:t>
            </a:r>
          </a:p>
        </p:txBody>
      </p:sp>
      <p:sp>
        <p:nvSpPr>
          <p:cNvPr id="42" name="TextBox 41"/>
          <p:cNvSpPr txBox="1"/>
          <p:nvPr/>
        </p:nvSpPr>
        <p:spPr>
          <a:xfrm>
            <a:off x="10744200" y="49743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demanda real observada en el mes t</a:t>
            </a:r>
          </a:p>
        </p:txBody>
      </p:sp>
      <p:cxnSp>
        <p:nvCxnSpPr>
          <p:cNvPr id="43" name="Connector 42"/>
          <p:cNvCxnSpPr/>
          <p:nvPr/>
        </p:nvCxnSpPr>
        <p:spPr>
          <a:xfrm>
            <a:off x="9464040" y="53766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509760" y="54315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ŷ</a:t>
            </a:r>
          </a:p>
        </p:txBody>
      </p:sp>
      <p:sp>
        <p:nvSpPr>
          <p:cNvPr id="45" name="TextBox 44"/>
          <p:cNvSpPr txBox="1"/>
          <p:nvPr/>
        </p:nvSpPr>
        <p:spPr>
          <a:xfrm>
            <a:off x="10744200" y="54315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pronóstico del modelo para ese mismo mes</a:t>
            </a:r>
          </a:p>
        </p:txBody>
      </p:sp>
      <p:cxnSp>
        <p:nvCxnSpPr>
          <p:cNvPr id="46" name="Connector 45"/>
          <p:cNvCxnSpPr/>
          <p:nvPr/>
        </p:nvCxnSpPr>
        <p:spPr>
          <a:xfrm>
            <a:off x="9464040" y="58338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509760" y="58887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T +</a:t>
            </a:r>
          </a:p>
        </p:txBody>
      </p:sp>
      <p:sp>
        <p:nvSpPr>
          <p:cNvPr id="48" name="TextBox 47"/>
          <p:cNvSpPr txBox="1"/>
          <p:nvPr/>
        </p:nvSpPr>
        <p:spPr>
          <a:xfrm>
            <a:off x="10744200" y="58887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conjunto de meses con demanda estrictamente positiva</a:t>
            </a:r>
          </a:p>
        </p:txBody>
      </p:sp>
      <p:cxnSp>
        <p:nvCxnSpPr>
          <p:cNvPr id="49" name="Connector 48"/>
          <p:cNvCxnSpPr/>
          <p:nvPr/>
        </p:nvCxnSpPr>
        <p:spPr>
          <a:xfrm>
            <a:off x="9464040" y="62910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509760" y="63459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|T +|</a:t>
            </a:r>
          </a:p>
        </p:txBody>
      </p:sp>
      <p:sp>
        <p:nvSpPr>
          <p:cNvPr id="51" name="TextBox 50"/>
          <p:cNvSpPr txBox="1"/>
          <p:nvPr/>
        </p:nvSpPr>
        <p:spPr>
          <a:xfrm>
            <a:off x="10744200" y="63459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cantidad de esos meses: el promedio se calcula solo sobre ellos</a:t>
            </a:r>
          </a:p>
        </p:txBody>
      </p:sp>
      <p:cxnSp>
        <p:nvCxnSpPr>
          <p:cNvPr id="52" name="Connector 51"/>
          <p:cNvCxnSpPr/>
          <p:nvPr/>
        </p:nvCxnSpPr>
        <p:spPr>
          <a:xfrm>
            <a:off x="9464040" y="6803136"/>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9464040" y="7040879"/>
            <a:ext cx="7863840" cy="2121408"/>
          </a:xfrm>
          <a:prstGeom prst="roundRect">
            <a:avLst>
              <a:gd name="adj" fmla="val 237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4" name="Rectangle 53"/>
          <p:cNvSpPr/>
          <p:nvPr/>
        </p:nvSpPr>
        <p:spPr>
          <a:xfrm>
            <a:off x="9464040" y="7040879"/>
            <a:ext cx="68580" cy="2121408"/>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5" name="TextBox 54"/>
          <p:cNvSpPr txBox="1"/>
          <p:nvPr/>
        </p:nvSpPr>
        <p:spPr>
          <a:xfrm>
            <a:off x="9829800" y="7278624"/>
            <a:ext cx="7205472" cy="1645920"/>
          </a:xfrm>
          <a:prstGeom prst="rect">
            <a:avLst/>
          </a:prstGeom>
          <a:noFill/>
        </p:spPr>
        <p:txBody>
          <a:bodyPr wrap="square" lIns="0" rIns="0" tIns="0" bIns="0" anchor="t">
            <a:spAutoFit/>
          </a:bodyPr>
          <a:lstStyle/>
          <a:p>
            <a:pPr algn="l">
              <a:lnSpc>
                <a:spcPct val="112000"/>
              </a:lnSpc>
              <a:spcBef>
                <a:spcPts val="0"/>
              </a:spcBef>
              <a:spcAft>
                <a:spcPts val="800"/>
              </a:spcAft>
            </a:pPr>
            <a:r>
              <a:rPr sz="1550" b="1" i="0">
                <a:solidFill>
                  <a:srgbClr val="13161B"/>
                </a:solidFill>
                <a:latin typeface="Open Sans"/>
              </a:rPr>
              <a:t>Cómo se lee</a:t>
            </a:r>
          </a:p>
          <a:p>
            <a:pPr algn="l">
              <a:lnSpc>
                <a:spcPct val="120000"/>
              </a:lnSpc>
              <a:spcBef>
                <a:spcPts val="0"/>
              </a:spcBef>
              <a:spcAft>
                <a:spcPts val="0"/>
              </a:spcAft>
            </a:pPr>
            <a:r>
              <a:rPr sz="1270" b="0" i="0">
                <a:solidFill>
                  <a:srgbClr val="394049"/>
                </a:solidFill>
                <a:latin typeface="Open Sans"/>
              </a:rPr>
              <a:t>Promedia el error relativo mes a mes. Con demanda cero se indetermina y con demanda baja se dispara: SARIMA llega a un sMAPE de 309,88 % pese a un WAPE de 76,74 %.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A5</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Métricas de escala absoluta</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28</a:t>
            </a:r>
          </a:p>
        </p:txBody>
      </p:sp>
      <p:sp>
        <p:nvSpPr>
          <p:cNvPr id="10" name="TextBox 9"/>
          <p:cNvSpPr txBox="1"/>
          <p:nvPr/>
        </p:nvSpPr>
        <p:spPr>
          <a:xfrm>
            <a:off x="960120" y="2249424"/>
            <a:ext cx="7863840" cy="457200"/>
          </a:xfrm>
          <a:prstGeom prst="rect">
            <a:avLst/>
          </a:prstGeom>
          <a:noFill/>
        </p:spPr>
        <p:txBody>
          <a:bodyPr wrap="square" lIns="0" rIns="0" tIns="0" bIns="0" anchor="t">
            <a:spAutoFit/>
          </a:bodyPr>
          <a:lstStyle/>
          <a:p>
            <a:pPr algn="l">
              <a:lnSpc>
                <a:spcPct val="116000"/>
              </a:lnSpc>
              <a:spcBef>
                <a:spcPts val="0"/>
              </a:spcBef>
              <a:spcAft>
                <a:spcPts val="200"/>
              </a:spcAft>
            </a:pPr>
            <a:r>
              <a:rPr sz="2000" b="1" i="0">
                <a:solidFill>
                  <a:srgbClr val="005F91"/>
                </a:solidFill>
                <a:latin typeface="Open Sans"/>
              </a:rPr>
              <a:t>MAE</a:t>
            </a:r>
          </a:p>
        </p:txBody>
      </p:sp>
      <p:sp>
        <p:nvSpPr>
          <p:cNvPr id="11" name="TextBox 10"/>
          <p:cNvSpPr txBox="1"/>
          <p:nvPr/>
        </p:nvSpPr>
        <p:spPr>
          <a:xfrm>
            <a:off x="960120" y="2688336"/>
            <a:ext cx="7863840" cy="365760"/>
          </a:xfrm>
          <a:prstGeom prst="rect">
            <a:avLst/>
          </a:prstGeom>
          <a:noFill/>
        </p:spPr>
        <p:txBody>
          <a:bodyPr wrap="square" lIns="0" rIns="0" tIns="0" bIns="0" anchor="t">
            <a:spAutoFit/>
          </a:bodyPr>
          <a:lstStyle/>
          <a:p>
            <a:pPr algn="l">
              <a:lnSpc>
                <a:spcPct val="116000"/>
              </a:lnSpc>
              <a:spcBef>
                <a:spcPts val="0"/>
              </a:spcBef>
              <a:spcAft>
                <a:spcPts val="0"/>
              </a:spcAft>
            </a:pPr>
            <a:r>
              <a:rPr sz="1300" b="0" i="0">
                <a:solidFill>
                  <a:srgbClr val="6E6E6E"/>
                </a:solidFill>
                <a:latin typeface="Open Sans"/>
              </a:rPr>
              <a:t>Mean Absolute Error  ·  error promedio en unidades físicas</a:t>
            </a:r>
          </a:p>
        </p:txBody>
      </p:sp>
      <p:sp>
        <p:nvSpPr>
          <p:cNvPr id="12" name="Rounded Rectangle 11"/>
          <p:cNvSpPr/>
          <p:nvPr/>
        </p:nvSpPr>
        <p:spPr>
          <a:xfrm>
            <a:off x="960120" y="3072384"/>
            <a:ext cx="7863840" cy="1417320"/>
          </a:xfrm>
          <a:prstGeom prst="roundRect">
            <a:avLst>
              <a:gd name="adj" fmla="val 322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mae.png"/>
          <p:cNvPicPr>
            <a:picLocks noChangeAspect="1"/>
          </p:cNvPicPr>
          <p:nvPr/>
        </p:nvPicPr>
        <p:blipFill>
          <a:blip r:embed="rId2"/>
          <a:stretch>
            <a:fillRect/>
          </a:stretch>
        </p:blipFill>
        <p:spPr>
          <a:xfrm>
            <a:off x="3307279" y="3182112"/>
            <a:ext cx="3169520" cy="1197864"/>
          </a:xfrm>
          <a:prstGeom prst="rect">
            <a:avLst/>
          </a:prstGeom>
        </p:spPr>
      </p:pic>
      <p:sp>
        <p:nvSpPr>
          <p:cNvPr id="14" name="TextBox 13"/>
          <p:cNvSpPr txBox="1"/>
          <p:nvPr/>
        </p:nvSpPr>
        <p:spPr>
          <a:xfrm>
            <a:off x="960120" y="4608576"/>
            <a:ext cx="7863840" cy="320040"/>
          </a:xfrm>
          <a:prstGeom prst="rect">
            <a:avLst/>
          </a:prstGeom>
          <a:noFill/>
        </p:spPr>
        <p:txBody>
          <a:bodyPr wrap="square" lIns="0" rIns="0" tIns="0" bIns="0" anchor="t">
            <a:spAutoFit/>
          </a:bodyPr>
          <a:lstStyle/>
          <a:p>
            <a:pPr algn="l">
              <a:lnSpc>
                <a:spcPct val="116000"/>
              </a:lnSpc>
              <a:spcBef>
                <a:spcPts val="0"/>
              </a:spcBef>
              <a:spcAft>
                <a:spcPts val="0"/>
              </a:spcAft>
            </a:pPr>
            <a:r>
              <a:rPr sz="1100" b="1" i="0" spc="160">
                <a:solidFill>
                  <a:srgbClr val="6E6E6E"/>
                </a:solidFill>
                <a:latin typeface="Open Sans"/>
              </a:rPr>
              <a:t>QUÉ SIGNIFICA CADA SÍMBOLO</a:t>
            </a:r>
          </a:p>
        </p:txBody>
      </p:sp>
      <p:cxnSp>
        <p:nvCxnSpPr>
          <p:cNvPr id="15" name="Connector 14"/>
          <p:cNvCxnSpPr/>
          <p:nvPr/>
        </p:nvCxnSpPr>
        <p:spPr>
          <a:xfrm>
            <a:off x="960120" y="4919472"/>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05840" y="49743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y</a:t>
            </a:r>
          </a:p>
        </p:txBody>
      </p:sp>
      <p:sp>
        <p:nvSpPr>
          <p:cNvPr id="17" name="TextBox 16"/>
          <p:cNvSpPr txBox="1"/>
          <p:nvPr/>
        </p:nvSpPr>
        <p:spPr>
          <a:xfrm>
            <a:off x="2240280" y="49743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demanda real observada en el mes t</a:t>
            </a:r>
          </a:p>
        </p:txBody>
      </p:sp>
      <p:cxnSp>
        <p:nvCxnSpPr>
          <p:cNvPr id="18" name="Connector 17"/>
          <p:cNvCxnSpPr/>
          <p:nvPr/>
        </p:nvCxnSpPr>
        <p:spPr>
          <a:xfrm>
            <a:off x="960120" y="53766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 y="54315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ŷ</a:t>
            </a:r>
          </a:p>
        </p:txBody>
      </p:sp>
      <p:sp>
        <p:nvSpPr>
          <p:cNvPr id="20" name="TextBox 19"/>
          <p:cNvSpPr txBox="1"/>
          <p:nvPr/>
        </p:nvSpPr>
        <p:spPr>
          <a:xfrm>
            <a:off x="2240280" y="54315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pronóstico del modelo para ese mismo mes</a:t>
            </a:r>
          </a:p>
        </p:txBody>
      </p:sp>
      <p:cxnSp>
        <p:nvCxnSpPr>
          <p:cNvPr id="21" name="Connector 20"/>
          <p:cNvCxnSpPr/>
          <p:nvPr/>
        </p:nvCxnSpPr>
        <p:spPr>
          <a:xfrm>
            <a:off x="960120" y="58338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05840" y="58887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 |</a:t>
            </a:r>
          </a:p>
        </p:txBody>
      </p:sp>
      <p:sp>
        <p:nvSpPr>
          <p:cNvPr id="23" name="TextBox 22"/>
          <p:cNvSpPr txBox="1"/>
          <p:nvPr/>
        </p:nvSpPr>
        <p:spPr>
          <a:xfrm>
            <a:off x="2240280" y="58887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valor absoluto: ignora si el modelo sobrestimó o subestimó</a:t>
            </a:r>
          </a:p>
        </p:txBody>
      </p:sp>
      <p:cxnSp>
        <p:nvCxnSpPr>
          <p:cNvPr id="24" name="Connector 23"/>
          <p:cNvCxnSpPr/>
          <p:nvPr/>
        </p:nvCxnSpPr>
        <p:spPr>
          <a:xfrm>
            <a:off x="960120" y="62910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05840" y="63459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n</a:t>
            </a:r>
          </a:p>
        </p:txBody>
      </p:sp>
      <p:sp>
        <p:nvSpPr>
          <p:cNvPr id="26" name="TextBox 25"/>
          <p:cNvSpPr txBox="1"/>
          <p:nvPr/>
        </p:nvSpPr>
        <p:spPr>
          <a:xfrm>
            <a:off x="2240280" y="63459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número total de observaciones evaluadas</a:t>
            </a:r>
          </a:p>
        </p:txBody>
      </p:sp>
      <p:cxnSp>
        <p:nvCxnSpPr>
          <p:cNvPr id="27" name="Connector 26"/>
          <p:cNvCxnSpPr/>
          <p:nvPr/>
        </p:nvCxnSpPr>
        <p:spPr>
          <a:xfrm>
            <a:off x="960120" y="6803136"/>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60120" y="7040879"/>
            <a:ext cx="7863840" cy="2121408"/>
          </a:xfrm>
          <a:prstGeom prst="roundRect">
            <a:avLst>
              <a:gd name="adj" fmla="val 237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Rectangle 28"/>
          <p:cNvSpPr/>
          <p:nvPr/>
        </p:nvSpPr>
        <p:spPr>
          <a:xfrm>
            <a:off x="960120" y="7040879"/>
            <a:ext cx="68580" cy="2121408"/>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1325880" y="7278624"/>
            <a:ext cx="7205472" cy="1645920"/>
          </a:xfrm>
          <a:prstGeom prst="rect">
            <a:avLst/>
          </a:prstGeom>
          <a:noFill/>
        </p:spPr>
        <p:txBody>
          <a:bodyPr wrap="square" lIns="0" rIns="0" tIns="0" bIns="0" anchor="t">
            <a:spAutoFit/>
          </a:bodyPr>
          <a:lstStyle/>
          <a:p>
            <a:pPr algn="l">
              <a:lnSpc>
                <a:spcPct val="112000"/>
              </a:lnSpc>
              <a:spcBef>
                <a:spcPts val="0"/>
              </a:spcBef>
              <a:spcAft>
                <a:spcPts val="800"/>
              </a:spcAft>
            </a:pPr>
            <a:r>
              <a:rPr sz="1550" b="1" i="0">
                <a:solidFill>
                  <a:srgbClr val="13161B"/>
                </a:solidFill>
                <a:latin typeface="Open Sans"/>
              </a:rPr>
              <a:t>Cómo se lee</a:t>
            </a:r>
          </a:p>
          <a:p>
            <a:pPr algn="l">
              <a:lnSpc>
                <a:spcPct val="120000"/>
              </a:lnSpc>
              <a:spcBef>
                <a:spcPts val="0"/>
              </a:spcBef>
              <a:spcAft>
                <a:spcPts val="0"/>
              </a:spcAft>
            </a:pPr>
            <a:r>
              <a:rPr sz="1270" b="0" i="0">
                <a:solidFill>
                  <a:srgbClr val="394049"/>
                </a:solidFill>
                <a:latin typeface="Open Sans"/>
              </a:rPr>
              <a:t>Error promedio expresado en prendas. Alimenta el cálculo del stock de seguridad: 11,4 unidades por SKU frente a 54,2 de SARIMA, y esa diferencia es la que libera capital.</a:t>
            </a:r>
          </a:p>
        </p:txBody>
      </p:sp>
      <p:cxnSp>
        <p:nvCxnSpPr>
          <p:cNvPr id="31" name="Connector 30"/>
          <p:cNvCxnSpPr/>
          <p:nvPr/>
        </p:nvCxnSpPr>
        <p:spPr>
          <a:xfrm>
            <a:off x="9144000" y="2249424"/>
            <a:ext cx="0" cy="676656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4040" y="2249424"/>
            <a:ext cx="7863840" cy="457200"/>
          </a:xfrm>
          <a:prstGeom prst="rect">
            <a:avLst/>
          </a:prstGeom>
          <a:noFill/>
        </p:spPr>
        <p:txBody>
          <a:bodyPr wrap="square" lIns="0" rIns="0" tIns="0" bIns="0" anchor="t">
            <a:spAutoFit/>
          </a:bodyPr>
          <a:lstStyle/>
          <a:p>
            <a:pPr algn="l">
              <a:lnSpc>
                <a:spcPct val="116000"/>
              </a:lnSpc>
              <a:spcBef>
                <a:spcPts val="0"/>
              </a:spcBef>
              <a:spcAft>
                <a:spcPts val="200"/>
              </a:spcAft>
            </a:pPr>
            <a:r>
              <a:rPr sz="2000" b="1" i="0">
                <a:solidFill>
                  <a:srgbClr val="D10120"/>
                </a:solidFill>
                <a:latin typeface="Open Sans"/>
              </a:rPr>
              <a:t>RMSE</a:t>
            </a:r>
          </a:p>
        </p:txBody>
      </p:sp>
      <p:sp>
        <p:nvSpPr>
          <p:cNvPr id="33" name="TextBox 32"/>
          <p:cNvSpPr txBox="1"/>
          <p:nvPr/>
        </p:nvSpPr>
        <p:spPr>
          <a:xfrm>
            <a:off x="9464040" y="2688336"/>
            <a:ext cx="7863840" cy="365760"/>
          </a:xfrm>
          <a:prstGeom prst="rect">
            <a:avLst/>
          </a:prstGeom>
          <a:noFill/>
        </p:spPr>
        <p:txBody>
          <a:bodyPr wrap="square" lIns="0" rIns="0" tIns="0" bIns="0" anchor="t">
            <a:spAutoFit/>
          </a:bodyPr>
          <a:lstStyle/>
          <a:p>
            <a:pPr algn="l">
              <a:lnSpc>
                <a:spcPct val="116000"/>
              </a:lnSpc>
              <a:spcBef>
                <a:spcPts val="0"/>
              </a:spcBef>
              <a:spcAft>
                <a:spcPts val="0"/>
              </a:spcAft>
            </a:pPr>
            <a:r>
              <a:rPr sz="1300" b="0" i="0">
                <a:solidFill>
                  <a:srgbClr val="6E6E6E"/>
                </a:solidFill>
                <a:latin typeface="Open Sans"/>
              </a:rPr>
              <a:t>Root Mean Squared Error  ·  penaliza los errores grandes</a:t>
            </a:r>
          </a:p>
        </p:txBody>
      </p:sp>
      <p:sp>
        <p:nvSpPr>
          <p:cNvPr id="34" name="Rounded Rectangle 33"/>
          <p:cNvSpPr/>
          <p:nvPr/>
        </p:nvSpPr>
        <p:spPr>
          <a:xfrm>
            <a:off x="9464040" y="3072384"/>
            <a:ext cx="7863840" cy="1417320"/>
          </a:xfrm>
          <a:prstGeom prst="roundRect">
            <a:avLst>
              <a:gd name="adj" fmla="val 322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5" name="Picture 34" descr="rmse.png"/>
          <p:cNvPicPr>
            <a:picLocks noChangeAspect="1"/>
          </p:cNvPicPr>
          <p:nvPr/>
        </p:nvPicPr>
        <p:blipFill>
          <a:blip r:embed="rId3"/>
          <a:stretch>
            <a:fillRect/>
          </a:stretch>
        </p:blipFill>
        <p:spPr>
          <a:xfrm>
            <a:off x="11659687" y="3182112"/>
            <a:ext cx="3472544" cy="1197864"/>
          </a:xfrm>
          <a:prstGeom prst="rect">
            <a:avLst/>
          </a:prstGeom>
        </p:spPr>
      </p:pic>
      <p:sp>
        <p:nvSpPr>
          <p:cNvPr id="36" name="TextBox 35"/>
          <p:cNvSpPr txBox="1"/>
          <p:nvPr/>
        </p:nvSpPr>
        <p:spPr>
          <a:xfrm>
            <a:off x="9464040" y="4608576"/>
            <a:ext cx="7863840" cy="320040"/>
          </a:xfrm>
          <a:prstGeom prst="rect">
            <a:avLst/>
          </a:prstGeom>
          <a:noFill/>
        </p:spPr>
        <p:txBody>
          <a:bodyPr wrap="square" lIns="0" rIns="0" tIns="0" bIns="0" anchor="t">
            <a:spAutoFit/>
          </a:bodyPr>
          <a:lstStyle/>
          <a:p>
            <a:pPr algn="l">
              <a:lnSpc>
                <a:spcPct val="116000"/>
              </a:lnSpc>
              <a:spcBef>
                <a:spcPts val="0"/>
              </a:spcBef>
              <a:spcAft>
                <a:spcPts val="0"/>
              </a:spcAft>
            </a:pPr>
            <a:r>
              <a:rPr sz="1100" b="1" i="0" spc="160">
                <a:solidFill>
                  <a:srgbClr val="6E6E6E"/>
                </a:solidFill>
                <a:latin typeface="Open Sans"/>
              </a:rPr>
              <a:t>QUÉ SIGNIFICA CADA SÍMBOLO</a:t>
            </a:r>
          </a:p>
        </p:txBody>
      </p:sp>
      <p:cxnSp>
        <p:nvCxnSpPr>
          <p:cNvPr id="37" name="Connector 36"/>
          <p:cNvCxnSpPr/>
          <p:nvPr/>
        </p:nvCxnSpPr>
        <p:spPr>
          <a:xfrm>
            <a:off x="9464040" y="4919472"/>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509760" y="49743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y</a:t>
            </a:r>
          </a:p>
        </p:txBody>
      </p:sp>
      <p:sp>
        <p:nvSpPr>
          <p:cNvPr id="39" name="TextBox 38"/>
          <p:cNvSpPr txBox="1"/>
          <p:nvPr/>
        </p:nvSpPr>
        <p:spPr>
          <a:xfrm>
            <a:off x="10744200" y="49743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demanda real observada en el mes t</a:t>
            </a:r>
          </a:p>
        </p:txBody>
      </p:sp>
      <p:cxnSp>
        <p:nvCxnSpPr>
          <p:cNvPr id="40" name="Connector 39"/>
          <p:cNvCxnSpPr/>
          <p:nvPr/>
        </p:nvCxnSpPr>
        <p:spPr>
          <a:xfrm>
            <a:off x="9464040" y="53766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509760" y="54315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ŷ</a:t>
            </a:r>
          </a:p>
        </p:txBody>
      </p:sp>
      <p:sp>
        <p:nvSpPr>
          <p:cNvPr id="42" name="TextBox 41"/>
          <p:cNvSpPr txBox="1"/>
          <p:nvPr/>
        </p:nvSpPr>
        <p:spPr>
          <a:xfrm>
            <a:off x="10744200" y="54315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pronóstico del modelo para ese mismo mes</a:t>
            </a:r>
          </a:p>
        </p:txBody>
      </p:sp>
      <p:cxnSp>
        <p:nvCxnSpPr>
          <p:cNvPr id="43" name="Connector 42"/>
          <p:cNvCxnSpPr/>
          <p:nvPr/>
        </p:nvCxnSpPr>
        <p:spPr>
          <a:xfrm>
            <a:off x="9464040" y="58338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509760" y="58887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 )²</a:t>
            </a:r>
          </a:p>
        </p:txBody>
      </p:sp>
      <p:sp>
        <p:nvSpPr>
          <p:cNvPr id="45" name="TextBox 44"/>
          <p:cNvSpPr txBox="1"/>
          <p:nvPr/>
        </p:nvSpPr>
        <p:spPr>
          <a:xfrm>
            <a:off x="10744200" y="58887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eleva al cuadrado: castiga con más fuerza las desviaciones grandes</a:t>
            </a:r>
          </a:p>
        </p:txBody>
      </p:sp>
      <p:cxnSp>
        <p:nvCxnSpPr>
          <p:cNvPr id="46" name="Connector 45"/>
          <p:cNvCxnSpPr/>
          <p:nvPr/>
        </p:nvCxnSpPr>
        <p:spPr>
          <a:xfrm>
            <a:off x="9464040" y="62910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509760" y="63459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raíz</a:t>
            </a:r>
          </a:p>
        </p:txBody>
      </p:sp>
      <p:sp>
        <p:nvSpPr>
          <p:cNvPr id="48" name="TextBox 47"/>
          <p:cNvSpPr txBox="1"/>
          <p:nvPr/>
        </p:nvSpPr>
        <p:spPr>
          <a:xfrm>
            <a:off x="10744200" y="63459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devuelve el resultado a las unidades originales</a:t>
            </a:r>
          </a:p>
        </p:txBody>
      </p:sp>
      <p:cxnSp>
        <p:nvCxnSpPr>
          <p:cNvPr id="49" name="Connector 48"/>
          <p:cNvCxnSpPr/>
          <p:nvPr/>
        </p:nvCxnSpPr>
        <p:spPr>
          <a:xfrm>
            <a:off x="9464040" y="6803136"/>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464040" y="7040879"/>
            <a:ext cx="7863840" cy="2121408"/>
          </a:xfrm>
          <a:prstGeom prst="roundRect">
            <a:avLst>
              <a:gd name="adj" fmla="val 237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1" name="Rectangle 50"/>
          <p:cNvSpPr/>
          <p:nvPr/>
        </p:nvSpPr>
        <p:spPr>
          <a:xfrm>
            <a:off x="9464040" y="7040879"/>
            <a:ext cx="68580" cy="2121408"/>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TextBox 51"/>
          <p:cNvSpPr txBox="1"/>
          <p:nvPr/>
        </p:nvSpPr>
        <p:spPr>
          <a:xfrm>
            <a:off x="9829800" y="7278624"/>
            <a:ext cx="7205472" cy="1645920"/>
          </a:xfrm>
          <a:prstGeom prst="rect">
            <a:avLst/>
          </a:prstGeom>
          <a:noFill/>
        </p:spPr>
        <p:txBody>
          <a:bodyPr wrap="square" lIns="0" rIns="0" tIns="0" bIns="0" anchor="t">
            <a:spAutoFit/>
          </a:bodyPr>
          <a:lstStyle/>
          <a:p>
            <a:pPr algn="l">
              <a:lnSpc>
                <a:spcPct val="112000"/>
              </a:lnSpc>
              <a:spcBef>
                <a:spcPts val="0"/>
              </a:spcBef>
              <a:spcAft>
                <a:spcPts val="800"/>
              </a:spcAft>
            </a:pPr>
            <a:r>
              <a:rPr sz="1550" b="1" i="0">
                <a:solidFill>
                  <a:srgbClr val="13161B"/>
                </a:solidFill>
                <a:latin typeface="Open Sans"/>
              </a:rPr>
              <a:t>Cómo se lee</a:t>
            </a:r>
          </a:p>
          <a:p>
            <a:pPr algn="l">
              <a:lnSpc>
                <a:spcPct val="120000"/>
              </a:lnSpc>
              <a:spcBef>
                <a:spcPts val="0"/>
              </a:spcBef>
              <a:spcAft>
                <a:spcPts val="0"/>
              </a:spcAft>
            </a:pPr>
            <a:r>
              <a:rPr sz="1270" b="0" i="0">
                <a:solidFill>
                  <a:srgbClr val="394049"/>
                </a:solidFill>
                <a:latin typeface="Open Sans"/>
              </a:rPr>
              <a:t>Al castigar los errores grandes, delata a los modelos que aciertan casi siempre pero fallan feo en los peaks de campaña. El ES-GBM obtiene 26,7 unidades frente a 139,6 de SARIMA.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A6</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Métricas de calibración y bondad de ajuste</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29</a:t>
            </a:r>
          </a:p>
        </p:txBody>
      </p:sp>
      <p:sp>
        <p:nvSpPr>
          <p:cNvPr id="10" name="TextBox 9"/>
          <p:cNvSpPr txBox="1"/>
          <p:nvPr/>
        </p:nvSpPr>
        <p:spPr>
          <a:xfrm>
            <a:off x="960120" y="2249424"/>
            <a:ext cx="7863840" cy="457200"/>
          </a:xfrm>
          <a:prstGeom prst="rect">
            <a:avLst/>
          </a:prstGeom>
          <a:noFill/>
        </p:spPr>
        <p:txBody>
          <a:bodyPr wrap="square" lIns="0" rIns="0" tIns="0" bIns="0" anchor="t">
            <a:spAutoFit/>
          </a:bodyPr>
          <a:lstStyle/>
          <a:p>
            <a:pPr algn="l">
              <a:lnSpc>
                <a:spcPct val="116000"/>
              </a:lnSpc>
              <a:spcBef>
                <a:spcPts val="0"/>
              </a:spcBef>
              <a:spcAft>
                <a:spcPts val="200"/>
              </a:spcAft>
            </a:pPr>
            <a:r>
              <a:rPr sz="2000" b="1" i="0">
                <a:solidFill>
                  <a:srgbClr val="B07800"/>
                </a:solidFill>
                <a:latin typeface="Open Sans"/>
              </a:rPr>
              <a:t>Bias</a:t>
            </a:r>
          </a:p>
        </p:txBody>
      </p:sp>
      <p:sp>
        <p:nvSpPr>
          <p:cNvPr id="11" name="TextBox 10"/>
          <p:cNvSpPr txBox="1"/>
          <p:nvPr/>
        </p:nvSpPr>
        <p:spPr>
          <a:xfrm>
            <a:off x="960120" y="2688336"/>
            <a:ext cx="7863840" cy="365760"/>
          </a:xfrm>
          <a:prstGeom prst="rect">
            <a:avLst/>
          </a:prstGeom>
          <a:noFill/>
        </p:spPr>
        <p:txBody>
          <a:bodyPr wrap="square" lIns="0" rIns="0" tIns="0" bIns="0" anchor="t">
            <a:spAutoFit/>
          </a:bodyPr>
          <a:lstStyle/>
          <a:p>
            <a:pPr algn="l">
              <a:lnSpc>
                <a:spcPct val="116000"/>
              </a:lnSpc>
              <a:spcBef>
                <a:spcPts val="0"/>
              </a:spcBef>
              <a:spcAft>
                <a:spcPts val="0"/>
              </a:spcAft>
            </a:pPr>
            <a:r>
              <a:rPr sz="1300" b="0" i="0">
                <a:solidFill>
                  <a:srgbClr val="6E6E6E"/>
                </a:solidFill>
                <a:latin typeface="Open Sans"/>
              </a:rPr>
              <a:t>Sesgo porcentual  ·  hacia qué lado se equivoca el modelo</a:t>
            </a:r>
          </a:p>
        </p:txBody>
      </p:sp>
      <p:sp>
        <p:nvSpPr>
          <p:cNvPr id="12" name="Rounded Rectangle 11"/>
          <p:cNvSpPr/>
          <p:nvPr/>
        </p:nvSpPr>
        <p:spPr>
          <a:xfrm>
            <a:off x="960120" y="3072384"/>
            <a:ext cx="7863840" cy="1417320"/>
          </a:xfrm>
          <a:prstGeom prst="roundRect">
            <a:avLst>
              <a:gd name="adj" fmla="val 322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3" name="Picture 12" descr="bias.png"/>
          <p:cNvPicPr>
            <a:picLocks noChangeAspect="1"/>
          </p:cNvPicPr>
          <p:nvPr/>
        </p:nvPicPr>
        <p:blipFill>
          <a:blip r:embed="rId2"/>
          <a:stretch>
            <a:fillRect/>
          </a:stretch>
        </p:blipFill>
        <p:spPr>
          <a:xfrm>
            <a:off x="3539681" y="3182112"/>
            <a:ext cx="2704717" cy="1197864"/>
          </a:xfrm>
          <a:prstGeom prst="rect">
            <a:avLst/>
          </a:prstGeom>
        </p:spPr>
      </p:pic>
      <p:sp>
        <p:nvSpPr>
          <p:cNvPr id="14" name="TextBox 13"/>
          <p:cNvSpPr txBox="1"/>
          <p:nvPr/>
        </p:nvSpPr>
        <p:spPr>
          <a:xfrm>
            <a:off x="960120" y="4608576"/>
            <a:ext cx="7863840" cy="320040"/>
          </a:xfrm>
          <a:prstGeom prst="rect">
            <a:avLst/>
          </a:prstGeom>
          <a:noFill/>
        </p:spPr>
        <p:txBody>
          <a:bodyPr wrap="square" lIns="0" rIns="0" tIns="0" bIns="0" anchor="t">
            <a:spAutoFit/>
          </a:bodyPr>
          <a:lstStyle/>
          <a:p>
            <a:pPr algn="l">
              <a:lnSpc>
                <a:spcPct val="116000"/>
              </a:lnSpc>
              <a:spcBef>
                <a:spcPts val="0"/>
              </a:spcBef>
              <a:spcAft>
                <a:spcPts val="0"/>
              </a:spcAft>
            </a:pPr>
            <a:r>
              <a:rPr sz="1100" b="1" i="0" spc="160">
                <a:solidFill>
                  <a:srgbClr val="6E6E6E"/>
                </a:solidFill>
                <a:latin typeface="Open Sans"/>
              </a:rPr>
              <a:t>QUÉ SIGNIFICA CADA SÍMBOLO</a:t>
            </a:r>
          </a:p>
        </p:txBody>
      </p:sp>
      <p:cxnSp>
        <p:nvCxnSpPr>
          <p:cNvPr id="15" name="Connector 14"/>
          <p:cNvCxnSpPr/>
          <p:nvPr/>
        </p:nvCxnSpPr>
        <p:spPr>
          <a:xfrm>
            <a:off x="960120" y="4919472"/>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05840" y="49743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ŷ − y</a:t>
            </a:r>
          </a:p>
        </p:txBody>
      </p:sp>
      <p:sp>
        <p:nvSpPr>
          <p:cNvPr id="17" name="TextBox 16"/>
          <p:cNvSpPr txBox="1"/>
          <p:nvPr/>
        </p:nvSpPr>
        <p:spPr>
          <a:xfrm>
            <a:off x="2240280" y="49743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diferencia con signo entre pronóstico y demanda real</a:t>
            </a:r>
          </a:p>
        </p:txBody>
      </p:sp>
      <p:cxnSp>
        <p:nvCxnSpPr>
          <p:cNvPr id="18" name="Connector 17"/>
          <p:cNvCxnSpPr/>
          <p:nvPr/>
        </p:nvCxnSpPr>
        <p:spPr>
          <a:xfrm>
            <a:off x="960120" y="53766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05840" y="54315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a:t>
            </a:r>
          </a:p>
        </p:txBody>
      </p:sp>
      <p:sp>
        <p:nvSpPr>
          <p:cNvPr id="20" name="TextBox 19"/>
          <p:cNvSpPr txBox="1"/>
          <p:nvPr/>
        </p:nvSpPr>
        <p:spPr>
          <a:xfrm>
            <a:off x="2240280" y="54315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sobreestimación sistemática: riesgo de sobre-stock</a:t>
            </a:r>
          </a:p>
        </p:txBody>
      </p:sp>
      <p:cxnSp>
        <p:nvCxnSpPr>
          <p:cNvPr id="21" name="Connector 20"/>
          <p:cNvCxnSpPr/>
          <p:nvPr/>
        </p:nvCxnSpPr>
        <p:spPr>
          <a:xfrm>
            <a:off x="960120" y="58338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05840" y="58887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a:t>
            </a:r>
          </a:p>
        </p:txBody>
      </p:sp>
      <p:sp>
        <p:nvSpPr>
          <p:cNvPr id="23" name="TextBox 22"/>
          <p:cNvSpPr txBox="1"/>
          <p:nvPr/>
        </p:nvSpPr>
        <p:spPr>
          <a:xfrm>
            <a:off x="2240280" y="58887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subestimación sistemática: riesgo de quiebre</a:t>
            </a:r>
          </a:p>
        </p:txBody>
      </p:sp>
      <p:cxnSp>
        <p:nvCxnSpPr>
          <p:cNvPr id="24" name="Connector 23"/>
          <p:cNvCxnSpPr/>
          <p:nvPr/>
        </p:nvCxnSpPr>
        <p:spPr>
          <a:xfrm>
            <a:off x="960120" y="62910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05840" y="63459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Σ y</a:t>
            </a:r>
          </a:p>
        </p:txBody>
      </p:sp>
      <p:sp>
        <p:nvSpPr>
          <p:cNvPr id="26" name="TextBox 25"/>
          <p:cNvSpPr txBox="1"/>
          <p:nvPr/>
        </p:nvSpPr>
        <p:spPr>
          <a:xfrm>
            <a:off x="2240280" y="63459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volumen total vendido, para expresarlo como porcentaje</a:t>
            </a:r>
          </a:p>
        </p:txBody>
      </p:sp>
      <p:cxnSp>
        <p:nvCxnSpPr>
          <p:cNvPr id="27" name="Connector 26"/>
          <p:cNvCxnSpPr/>
          <p:nvPr/>
        </p:nvCxnSpPr>
        <p:spPr>
          <a:xfrm>
            <a:off x="960120" y="6803136"/>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60120" y="7040879"/>
            <a:ext cx="7863840" cy="2121408"/>
          </a:xfrm>
          <a:prstGeom prst="roundRect">
            <a:avLst>
              <a:gd name="adj" fmla="val 237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9" name="Rectangle 28"/>
          <p:cNvSpPr/>
          <p:nvPr/>
        </p:nvSpPr>
        <p:spPr>
          <a:xfrm>
            <a:off x="960120" y="7040879"/>
            <a:ext cx="68580" cy="2121408"/>
          </a:xfrm>
          <a:prstGeom prst="rect">
            <a:avLst/>
          </a:prstGeom>
          <a:solidFill>
            <a:srgbClr val="B078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1325880" y="7278624"/>
            <a:ext cx="7205472" cy="1645920"/>
          </a:xfrm>
          <a:prstGeom prst="rect">
            <a:avLst/>
          </a:prstGeom>
          <a:noFill/>
        </p:spPr>
        <p:txBody>
          <a:bodyPr wrap="square" lIns="0" rIns="0" tIns="0" bIns="0" anchor="t">
            <a:spAutoFit/>
          </a:bodyPr>
          <a:lstStyle/>
          <a:p>
            <a:pPr algn="l">
              <a:lnSpc>
                <a:spcPct val="112000"/>
              </a:lnSpc>
              <a:spcBef>
                <a:spcPts val="0"/>
              </a:spcBef>
              <a:spcAft>
                <a:spcPts val="800"/>
              </a:spcAft>
            </a:pPr>
            <a:r>
              <a:rPr sz="1550" b="1" i="0">
                <a:solidFill>
                  <a:srgbClr val="13161B"/>
                </a:solidFill>
                <a:latin typeface="Open Sans"/>
              </a:rPr>
              <a:t>Cómo se lee</a:t>
            </a:r>
          </a:p>
          <a:p>
            <a:pPr algn="l">
              <a:lnSpc>
                <a:spcPct val="120000"/>
              </a:lnSpc>
              <a:spcBef>
                <a:spcPts val="0"/>
              </a:spcBef>
              <a:spcAft>
                <a:spcPts val="0"/>
              </a:spcAft>
            </a:pPr>
            <a:r>
              <a:rPr sz="1270" b="0" i="0">
                <a:solidFill>
                  <a:srgbClr val="394049"/>
                </a:solidFill>
                <a:latin typeface="Open Sans"/>
              </a:rPr>
              <a:t>Un buen modelo combina WAPE bajo con sesgo cercano a cero. El ES-GBM tiene −4,8 %: subestima levemente, que en gestión de inventario es el error más barato de los dos.</a:t>
            </a:r>
          </a:p>
        </p:txBody>
      </p:sp>
      <p:cxnSp>
        <p:nvCxnSpPr>
          <p:cNvPr id="31" name="Connector 30"/>
          <p:cNvCxnSpPr/>
          <p:nvPr/>
        </p:nvCxnSpPr>
        <p:spPr>
          <a:xfrm>
            <a:off x="9144000" y="2249424"/>
            <a:ext cx="0" cy="676656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4040" y="2249424"/>
            <a:ext cx="7863840" cy="457200"/>
          </a:xfrm>
          <a:prstGeom prst="rect">
            <a:avLst/>
          </a:prstGeom>
          <a:noFill/>
        </p:spPr>
        <p:txBody>
          <a:bodyPr wrap="square" lIns="0" rIns="0" tIns="0" bIns="0" anchor="t">
            <a:spAutoFit/>
          </a:bodyPr>
          <a:lstStyle/>
          <a:p>
            <a:pPr algn="l">
              <a:lnSpc>
                <a:spcPct val="116000"/>
              </a:lnSpc>
              <a:spcBef>
                <a:spcPts val="0"/>
              </a:spcBef>
              <a:spcAft>
                <a:spcPts val="200"/>
              </a:spcAft>
            </a:pPr>
            <a:r>
              <a:rPr sz="2000" b="1" i="0">
                <a:solidFill>
                  <a:srgbClr val="005F91"/>
                </a:solidFill>
                <a:latin typeface="Open Sans"/>
              </a:rPr>
              <a:t>R²</a:t>
            </a:r>
          </a:p>
        </p:txBody>
      </p:sp>
      <p:sp>
        <p:nvSpPr>
          <p:cNvPr id="33" name="TextBox 32"/>
          <p:cNvSpPr txBox="1"/>
          <p:nvPr/>
        </p:nvSpPr>
        <p:spPr>
          <a:xfrm>
            <a:off x="9464040" y="2688336"/>
            <a:ext cx="7863840" cy="365760"/>
          </a:xfrm>
          <a:prstGeom prst="rect">
            <a:avLst/>
          </a:prstGeom>
          <a:noFill/>
        </p:spPr>
        <p:txBody>
          <a:bodyPr wrap="square" lIns="0" rIns="0" tIns="0" bIns="0" anchor="t">
            <a:spAutoFit/>
          </a:bodyPr>
          <a:lstStyle/>
          <a:p>
            <a:pPr algn="l">
              <a:lnSpc>
                <a:spcPct val="116000"/>
              </a:lnSpc>
              <a:spcBef>
                <a:spcPts val="0"/>
              </a:spcBef>
              <a:spcAft>
                <a:spcPts val="0"/>
              </a:spcAft>
            </a:pPr>
            <a:r>
              <a:rPr sz="1300" b="0" i="0">
                <a:solidFill>
                  <a:srgbClr val="6E6E6E"/>
                </a:solidFill>
                <a:latin typeface="Open Sans"/>
              </a:rPr>
              <a:t>Coeficiente de determinación  ·  cuánta varianza explica el modelo</a:t>
            </a:r>
          </a:p>
        </p:txBody>
      </p:sp>
      <p:sp>
        <p:nvSpPr>
          <p:cNvPr id="34" name="Rounded Rectangle 33"/>
          <p:cNvSpPr/>
          <p:nvPr/>
        </p:nvSpPr>
        <p:spPr>
          <a:xfrm>
            <a:off x="9464040" y="3072384"/>
            <a:ext cx="7863840" cy="1417320"/>
          </a:xfrm>
          <a:prstGeom prst="roundRect">
            <a:avLst>
              <a:gd name="adj" fmla="val 322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35" name="Picture 34" descr="r2.png"/>
          <p:cNvPicPr>
            <a:picLocks noChangeAspect="1"/>
          </p:cNvPicPr>
          <p:nvPr/>
        </p:nvPicPr>
        <p:blipFill>
          <a:blip r:embed="rId3"/>
          <a:stretch>
            <a:fillRect/>
          </a:stretch>
        </p:blipFill>
        <p:spPr>
          <a:xfrm>
            <a:off x="12299681" y="3182112"/>
            <a:ext cx="2192556" cy="1197864"/>
          </a:xfrm>
          <a:prstGeom prst="rect">
            <a:avLst/>
          </a:prstGeom>
        </p:spPr>
      </p:pic>
      <p:sp>
        <p:nvSpPr>
          <p:cNvPr id="36" name="TextBox 35"/>
          <p:cNvSpPr txBox="1"/>
          <p:nvPr/>
        </p:nvSpPr>
        <p:spPr>
          <a:xfrm>
            <a:off x="9464040" y="4608576"/>
            <a:ext cx="7863840" cy="320040"/>
          </a:xfrm>
          <a:prstGeom prst="rect">
            <a:avLst/>
          </a:prstGeom>
          <a:noFill/>
        </p:spPr>
        <p:txBody>
          <a:bodyPr wrap="square" lIns="0" rIns="0" tIns="0" bIns="0" anchor="t">
            <a:spAutoFit/>
          </a:bodyPr>
          <a:lstStyle/>
          <a:p>
            <a:pPr algn="l">
              <a:lnSpc>
                <a:spcPct val="116000"/>
              </a:lnSpc>
              <a:spcBef>
                <a:spcPts val="0"/>
              </a:spcBef>
              <a:spcAft>
                <a:spcPts val="0"/>
              </a:spcAft>
            </a:pPr>
            <a:r>
              <a:rPr sz="1100" b="1" i="0" spc="160">
                <a:solidFill>
                  <a:srgbClr val="6E6E6E"/>
                </a:solidFill>
                <a:latin typeface="Open Sans"/>
              </a:rPr>
              <a:t>QUÉ SIGNIFICA CADA SÍMBOLO</a:t>
            </a:r>
          </a:p>
        </p:txBody>
      </p:sp>
      <p:cxnSp>
        <p:nvCxnSpPr>
          <p:cNvPr id="37" name="Connector 36"/>
          <p:cNvCxnSpPr/>
          <p:nvPr/>
        </p:nvCxnSpPr>
        <p:spPr>
          <a:xfrm>
            <a:off x="9464040" y="4919472"/>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509760" y="49743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y</a:t>
            </a:r>
          </a:p>
        </p:txBody>
      </p:sp>
      <p:sp>
        <p:nvSpPr>
          <p:cNvPr id="39" name="TextBox 38"/>
          <p:cNvSpPr txBox="1"/>
          <p:nvPr/>
        </p:nvSpPr>
        <p:spPr>
          <a:xfrm>
            <a:off x="10744200" y="49743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demanda real observada en el mes t</a:t>
            </a:r>
          </a:p>
        </p:txBody>
      </p:sp>
      <p:cxnSp>
        <p:nvCxnSpPr>
          <p:cNvPr id="40" name="Connector 39"/>
          <p:cNvCxnSpPr/>
          <p:nvPr/>
        </p:nvCxnSpPr>
        <p:spPr>
          <a:xfrm>
            <a:off x="9464040" y="53766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509760" y="54315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ŷ</a:t>
            </a:r>
          </a:p>
        </p:txBody>
      </p:sp>
      <p:sp>
        <p:nvSpPr>
          <p:cNvPr id="42" name="TextBox 41"/>
          <p:cNvSpPr txBox="1"/>
          <p:nvPr/>
        </p:nvSpPr>
        <p:spPr>
          <a:xfrm>
            <a:off x="10744200" y="54315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pronóstico del modelo para ese mismo mes</a:t>
            </a:r>
          </a:p>
        </p:txBody>
      </p:sp>
      <p:cxnSp>
        <p:nvCxnSpPr>
          <p:cNvPr id="43" name="Connector 42"/>
          <p:cNvCxnSpPr/>
          <p:nvPr/>
        </p:nvCxnSpPr>
        <p:spPr>
          <a:xfrm>
            <a:off x="9464040" y="58338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509760" y="58887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media</a:t>
            </a:r>
          </a:p>
        </p:txBody>
      </p:sp>
      <p:sp>
        <p:nvSpPr>
          <p:cNvPr id="45" name="TextBox 44"/>
          <p:cNvSpPr txBox="1"/>
          <p:nvPr/>
        </p:nvSpPr>
        <p:spPr>
          <a:xfrm>
            <a:off x="10744200" y="58887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demanda promedio del período: la y con barra en la fórmula</a:t>
            </a:r>
          </a:p>
        </p:txBody>
      </p:sp>
      <p:cxnSp>
        <p:nvCxnSpPr>
          <p:cNvPr id="46" name="Connector 45"/>
          <p:cNvCxnSpPr/>
          <p:nvPr/>
        </p:nvCxnSpPr>
        <p:spPr>
          <a:xfrm>
            <a:off x="9464040" y="6291072"/>
            <a:ext cx="786384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509760" y="6345936"/>
            <a:ext cx="1097280" cy="402336"/>
          </a:xfrm>
          <a:prstGeom prst="rect">
            <a:avLst/>
          </a:prstGeom>
          <a:noFill/>
        </p:spPr>
        <p:txBody>
          <a:bodyPr wrap="square" lIns="0" rIns="0" tIns="0" bIns="0" anchor="ctr">
            <a:spAutoFit/>
          </a:bodyPr>
          <a:lstStyle/>
          <a:p>
            <a:pPr algn="ctr">
              <a:lnSpc>
                <a:spcPct val="116000"/>
              </a:lnSpc>
              <a:spcBef>
                <a:spcPts val="0"/>
              </a:spcBef>
              <a:spcAft>
                <a:spcPts val="0"/>
              </a:spcAft>
            </a:pPr>
            <a:r>
              <a:rPr sz="1450" b="1" i="0">
                <a:solidFill>
                  <a:srgbClr val="13161B"/>
                </a:solidFill>
                <a:latin typeface="Open Sans"/>
              </a:rPr>
              <a:t>1 −</a:t>
            </a:r>
          </a:p>
        </p:txBody>
      </p:sp>
      <p:sp>
        <p:nvSpPr>
          <p:cNvPr id="48" name="TextBox 47"/>
          <p:cNvSpPr txBox="1"/>
          <p:nvPr/>
        </p:nvSpPr>
        <p:spPr>
          <a:xfrm>
            <a:off x="10744200" y="6345936"/>
            <a:ext cx="6492240" cy="402336"/>
          </a:xfrm>
          <a:prstGeom prst="rect">
            <a:avLst/>
          </a:prstGeom>
          <a:noFill/>
        </p:spPr>
        <p:txBody>
          <a:bodyPr wrap="square" lIns="0" rIns="0" tIns="0" bIns="0" anchor="ctr">
            <a:spAutoFit/>
          </a:bodyPr>
          <a:lstStyle/>
          <a:p>
            <a:pPr algn="l">
              <a:lnSpc>
                <a:spcPct val="118000"/>
              </a:lnSpc>
              <a:spcBef>
                <a:spcPts val="0"/>
              </a:spcBef>
              <a:spcAft>
                <a:spcPts val="0"/>
              </a:spcAft>
            </a:pPr>
            <a:r>
              <a:rPr sz="1280" b="0" i="0">
                <a:solidFill>
                  <a:srgbClr val="394049"/>
                </a:solidFill>
                <a:latin typeface="Open Sans"/>
              </a:rPr>
              <a:t>resta la varianza no explicada sobre la varianza total</a:t>
            </a:r>
          </a:p>
        </p:txBody>
      </p:sp>
      <p:cxnSp>
        <p:nvCxnSpPr>
          <p:cNvPr id="49" name="Connector 48"/>
          <p:cNvCxnSpPr/>
          <p:nvPr/>
        </p:nvCxnSpPr>
        <p:spPr>
          <a:xfrm>
            <a:off x="9464040" y="6803136"/>
            <a:ext cx="7863840" cy="0"/>
          </a:xfrm>
          <a:prstGeom prst="line">
            <a:avLst/>
          </a:prstGeom>
          <a:ln w="13970">
            <a:solidFill>
              <a:srgbClr val="13161B"/>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464040" y="7040879"/>
            <a:ext cx="7863840" cy="2121408"/>
          </a:xfrm>
          <a:prstGeom prst="roundRect">
            <a:avLst>
              <a:gd name="adj" fmla="val 237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1" name="Rectangle 50"/>
          <p:cNvSpPr/>
          <p:nvPr/>
        </p:nvSpPr>
        <p:spPr>
          <a:xfrm>
            <a:off x="9464040" y="7040879"/>
            <a:ext cx="68580" cy="2121408"/>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2" name="TextBox 51"/>
          <p:cNvSpPr txBox="1"/>
          <p:nvPr/>
        </p:nvSpPr>
        <p:spPr>
          <a:xfrm>
            <a:off x="9829800" y="7278624"/>
            <a:ext cx="7205472" cy="1645920"/>
          </a:xfrm>
          <a:prstGeom prst="rect">
            <a:avLst/>
          </a:prstGeom>
          <a:noFill/>
        </p:spPr>
        <p:txBody>
          <a:bodyPr wrap="square" lIns="0" rIns="0" tIns="0" bIns="0" anchor="t">
            <a:spAutoFit/>
          </a:bodyPr>
          <a:lstStyle/>
          <a:p>
            <a:pPr algn="l">
              <a:lnSpc>
                <a:spcPct val="112000"/>
              </a:lnSpc>
              <a:spcBef>
                <a:spcPts val="0"/>
              </a:spcBef>
              <a:spcAft>
                <a:spcPts val="800"/>
              </a:spcAft>
            </a:pPr>
            <a:r>
              <a:rPr sz="1550" b="1" i="0">
                <a:solidFill>
                  <a:srgbClr val="13161B"/>
                </a:solidFill>
                <a:latin typeface="Open Sans"/>
              </a:rPr>
              <a:t>Cómo se lee</a:t>
            </a:r>
          </a:p>
          <a:p>
            <a:pPr algn="l">
              <a:lnSpc>
                <a:spcPct val="120000"/>
              </a:lnSpc>
              <a:spcBef>
                <a:spcPts val="0"/>
              </a:spcBef>
              <a:spcAft>
                <a:spcPts val="0"/>
              </a:spcAft>
            </a:pPr>
            <a:r>
              <a:rPr sz="1270" b="0" i="0">
                <a:solidFill>
                  <a:srgbClr val="394049"/>
                </a:solidFill>
                <a:latin typeface="Open Sans"/>
              </a:rPr>
              <a:t>Proporción de la variabilidad de la demanda que el modelo explica. El ES-GBM alcanza 0,95 a nivel SKU y 0,96 a nivel familia; SARIMA queda en terreno negativo, es decir, predice peor que usar el promedio.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A7</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Ficha técnica del pipeline</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30</a:t>
            </a:r>
          </a:p>
        </p:txBody>
      </p:sp>
      <p:sp>
        <p:nvSpPr>
          <p:cNvPr id="10" name="Rounded Rectangle 9"/>
          <p:cNvSpPr/>
          <p:nvPr/>
        </p:nvSpPr>
        <p:spPr>
          <a:xfrm>
            <a:off x="960120" y="2249424"/>
            <a:ext cx="5239512" cy="4114800"/>
          </a:xfrm>
          <a:prstGeom prst="roundRect">
            <a:avLst>
              <a:gd name="adj" fmla="val 1222"/>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249424"/>
            <a:ext cx="68580" cy="411480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417320" y="2578608"/>
            <a:ext cx="4398264" cy="345643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Horizonte de pronóstico</a:t>
            </a:r>
          </a:p>
          <a:p>
            <a:pPr algn="l">
              <a:lnSpc>
                <a:spcPct val="116000"/>
              </a:lnSpc>
              <a:spcBef>
                <a:spcPts val="0"/>
              </a:spcBef>
              <a:spcAft>
                <a:spcPts val="200"/>
              </a:spcAft>
            </a:pPr>
            <a:r>
              <a:rPr sz="1360" b="1" i="0">
                <a:solidFill>
                  <a:srgbClr val="13161B"/>
                </a:solidFill>
                <a:latin typeface="Open Sans"/>
              </a:rPr>
              <a:t>h = 1 mes</a:t>
            </a:r>
          </a:p>
          <a:p>
            <a:pPr algn="l">
              <a:lnSpc>
                <a:spcPct val="120000"/>
              </a:lnSpc>
              <a:spcBef>
                <a:spcPts val="0"/>
              </a:spcBef>
              <a:spcAft>
                <a:spcPts val="0"/>
              </a:spcAft>
            </a:pPr>
            <a:r>
              <a:rPr sz="1300" b="0" i="0">
                <a:solidFill>
                  <a:srgbClr val="394049"/>
                </a:solidFill>
                <a:latin typeface="Open Sans"/>
              </a:rPr>
              <a:t>Cada predicción es a un mes vista, no a seis.</a:t>
            </a:r>
          </a:p>
          <a:p>
            <a:pPr algn="l">
              <a:lnSpc>
                <a:spcPct val="116000"/>
              </a:lnSpc>
              <a:spcBef>
                <a:spcPts val="800"/>
              </a:spcBef>
              <a:spcAft>
                <a:spcPts val="200"/>
              </a:spcAft>
            </a:pPr>
            <a:r>
              <a:rPr sz="1360" b="1" i="0">
                <a:solidFill>
                  <a:srgbClr val="13161B"/>
                </a:solidFill>
                <a:latin typeface="Open Sans"/>
              </a:rPr>
              <a:t>7 orígenes encadenados</a:t>
            </a:r>
          </a:p>
          <a:p>
            <a:pPr algn="l">
              <a:lnSpc>
                <a:spcPct val="120000"/>
              </a:lnSpc>
              <a:spcBef>
                <a:spcPts val="0"/>
              </a:spcBef>
              <a:spcAft>
                <a:spcPts val="0"/>
              </a:spcAft>
            </a:pPr>
            <a:r>
              <a:rPr sz="1300" b="0" i="0">
                <a:solidFill>
                  <a:srgbClr val="394049"/>
                </a:solidFill>
                <a:latin typeface="Open Sans"/>
              </a:rPr>
              <a:t>La prueba ciega recorre febrero a agosto de 2025 avanzando mes a mes.</a:t>
            </a:r>
          </a:p>
          <a:p>
            <a:pPr algn="l">
              <a:lnSpc>
                <a:spcPct val="116000"/>
              </a:lnSpc>
              <a:spcBef>
                <a:spcPts val="800"/>
              </a:spcBef>
              <a:spcAft>
                <a:spcPts val="200"/>
              </a:spcAft>
            </a:pPr>
            <a:r>
              <a:rPr sz="1360" b="1" i="0">
                <a:solidFill>
                  <a:srgbClr val="13161B"/>
                </a:solidFill>
                <a:latin typeface="Open Sans"/>
              </a:rPr>
              <a:t>Extensión pendiente</a:t>
            </a:r>
          </a:p>
          <a:p>
            <a:pPr algn="l">
              <a:lnSpc>
                <a:spcPct val="120000"/>
              </a:lnSpc>
              <a:spcBef>
                <a:spcPts val="0"/>
              </a:spcBef>
              <a:spcAft>
                <a:spcPts val="0"/>
              </a:spcAft>
            </a:pPr>
            <a:r>
              <a:rPr sz="1300" b="0" i="0">
                <a:solidFill>
                  <a:srgbClr val="394049"/>
                </a:solidFill>
                <a:latin typeface="Open Sans"/>
              </a:rPr>
              <a:t>Evaluar h = 3 y h = 6 para el ciclo de compra marítimo.</a:t>
            </a:r>
          </a:p>
        </p:txBody>
      </p:sp>
      <p:sp>
        <p:nvSpPr>
          <p:cNvPr id="13" name="Rounded Rectangle 12"/>
          <p:cNvSpPr/>
          <p:nvPr/>
        </p:nvSpPr>
        <p:spPr>
          <a:xfrm>
            <a:off x="6519672" y="2249424"/>
            <a:ext cx="5239512" cy="4114800"/>
          </a:xfrm>
          <a:prstGeom prst="roundRect">
            <a:avLst>
              <a:gd name="adj" fmla="val 1222"/>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6519672" y="2249424"/>
            <a:ext cx="68580" cy="411480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6976872" y="2578608"/>
            <a:ext cx="4398264" cy="345643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Validación rolling-origin</a:t>
            </a:r>
          </a:p>
          <a:p>
            <a:pPr algn="l">
              <a:lnSpc>
                <a:spcPct val="116000"/>
              </a:lnSpc>
              <a:spcBef>
                <a:spcPts val="0"/>
              </a:spcBef>
              <a:spcAft>
                <a:spcPts val="200"/>
              </a:spcAft>
            </a:pPr>
            <a:r>
              <a:rPr sz="1360" b="1" i="0">
                <a:solidFill>
                  <a:srgbClr val="13161B"/>
                </a:solidFill>
                <a:latin typeface="Open Sans"/>
              </a:rPr>
              <a:t>Walk-forward</a:t>
            </a:r>
          </a:p>
          <a:p>
            <a:pPr algn="l">
              <a:lnSpc>
                <a:spcPct val="120000"/>
              </a:lnSpc>
              <a:spcBef>
                <a:spcPts val="0"/>
              </a:spcBef>
              <a:spcAft>
                <a:spcPts val="0"/>
              </a:spcAft>
            </a:pPr>
            <a:r>
              <a:rPr sz="1300" b="0" i="0">
                <a:solidFill>
                  <a:srgbClr val="394049"/>
                </a:solidFill>
                <a:latin typeface="Open Sans"/>
              </a:rPr>
              <a:t>El origen se desplaza en el tiempo; nunca se usa información posterior al punto de corte.</a:t>
            </a:r>
          </a:p>
          <a:p>
            <a:pPr algn="l">
              <a:lnSpc>
                <a:spcPct val="116000"/>
              </a:lnSpc>
              <a:spcBef>
                <a:spcPts val="800"/>
              </a:spcBef>
              <a:spcAft>
                <a:spcPts val="200"/>
              </a:spcAft>
            </a:pPr>
            <a:r>
              <a:rPr sz="1360" b="1" i="0">
                <a:solidFill>
                  <a:srgbClr val="13161B"/>
                </a:solidFill>
                <a:latin typeface="Open Sans"/>
              </a:rPr>
              <a:t>C1 = marzo 2024</a:t>
            </a:r>
          </a:p>
          <a:p>
            <a:pPr algn="l">
              <a:lnSpc>
                <a:spcPct val="120000"/>
              </a:lnSpc>
              <a:spcBef>
                <a:spcPts val="0"/>
              </a:spcBef>
              <a:spcAft>
                <a:spcPts val="0"/>
              </a:spcAft>
            </a:pPr>
            <a:r>
              <a:rPr sz="1300" b="0" i="0">
                <a:solidFill>
                  <a:srgbClr val="394049"/>
                </a:solidFill>
                <a:latin typeface="Open Sans"/>
              </a:rPr>
              <a:t>Inicio de la ventana que calibra el ensamble, los pesos NNLS y el ruteo.</a:t>
            </a:r>
          </a:p>
          <a:p>
            <a:pPr algn="l">
              <a:lnSpc>
                <a:spcPct val="116000"/>
              </a:lnSpc>
              <a:spcBef>
                <a:spcPts val="800"/>
              </a:spcBef>
              <a:spcAft>
                <a:spcPts val="200"/>
              </a:spcAft>
            </a:pPr>
            <a:r>
              <a:rPr sz="1360" b="1" i="0">
                <a:solidFill>
                  <a:srgbClr val="13161B"/>
                </a:solidFill>
                <a:latin typeface="Open Sans"/>
              </a:rPr>
              <a:t>CUT = enero 2025</a:t>
            </a:r>
          </a:p>
          <a:p>
            <a:pPr algn="l">
              <a:lnSpc>
                <a:spcPct val="120000"/>
              </a:lnSpc>
              <a:spcBef>
                <a:spcPts val="0"/>
              </a:spcBef>
              <a:spcAft>
                <a:spcPts val="0"/>
              </a:spcAft>
            </a:pPr>
            <a:r>
              <a:rPr sz="1300" b="0" i="0">
                <a:solidFill>
                  <a:srgbClr val="394049"/>
                </a:solidFill>
                <a:latin typeface="Open Sans"/>
              </a:rPr>
              <a:t>Corte que separa definitivamente entrenamiento de prueba.</a:t>
            </a:r>
          </a:p>
        </p:txBody>
      </p:sp>
      <p:sp>
        <p:nvSpPr>
          <p:cNvPr id="16" name="Rounded Rectangle 15"/>
          <p:cNvSpPr/>
          <p:nvPr/>
        </p:nvSpPr>
        <p:spPr>
          <a:xfrm>
            <a:off x="12079224" y="2249424"/>
            <a:ext cx="5239512" cy="4114800"/>
          </a:xfrm>
          <a:prstGeom prst="roundRect">
            <a:avLst>
              <a:gd name="adj" fmla="val 1222"/>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12079224" y="2249424"/>
            <a:ext cx="68580" cy="411480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2536424" y="2578608"/>
            <a:ext cx="4398264" cy="345643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Qué se actualiza y qué se congela</a:t>
            </a:r>
          </a:p>
          <a:p>
            <a:pPr algn="l">
              <a:lnSpc>
                <a:spcPct val="116000"/>
              </a:lnSpc>
              <a:spcBef>
                <a:spcPts val="0"/>
              </a:spcBef>
              <a:spcAft>
                <a:spcPts val="200"/>
              </a:spcAft>
            </a:pPr>
            <a:r>
              <a:rPr sz="1360" b="1" i="0">
                <a:solidFill>
                  <a:srgbClr val="13161B"/>
                </a:solidFill>
                <a:latin typeface="Open Sans"/>
              </a:rPr>
              <a:t>Se actualiza</a:t>
            </a:r>
          </a:p>
          <a:p>
            <a:pPr algn="l">
              <a:lnSpc>
                <a:spcPct val="120000"/>
              </a:lnSpc>
              <a:spcBef>
                <a:spcPts val="0"/>
              </a:spcBef>
              <a:spcAft>
                <a:spcPts val="0"/>
              </a:spcAft>
            </a:pPr>
            <a:r>
              <a:rPr sz="1300" b="0" i="0">
                <a:solidFill>
                  <a:srgbClr val="394049"/>
                </a:solidFill>
                <a:latin typeface="Open Sans"/>
              </a:rPr>
              <a:t>El nivel base de Holt se recalcula mes a mes con la historia hasta t−1.</a:t>
            </a:r>
          </a:p>
          <a:p>
            <a:pPr algn="l">
              <a:lnSpc>
                <a:spcPct val="116000"/>
              </a:lnSpc>
              <a:spcBef>
                <a:spcPts val="800"/>
              </a:spcBef>
              <a:spcAft>
                <a:spcPts val="200"/>
              </a:spcAft>
            </a:pPr>
            <a:r>
              <a:rPr sz="1360" b="1" i="0">
                <a:solidFill>
                  <a:srgbClr val="13161B"/>
                </a:solidFill>
                <a:latin typeface="Open Sans"/>
              </a:rPr>
              <a:t>Se congela</a:t>
            </a:r>
          </a:p>
          <a:p>
            <a:pPr algn="l">
              <a:lnSpc>
                <a:spcPct val="120000"/>
              </a:lnSpc>
              <a:spcBef>
                <a:spcPts val="0"/>
              </a:spcBef>
              <a:spcAft>
                <a:spcPts val="0"/>
              </a:spcAft>
            </a:pPr>
            <a:r>
              <a:rPr sz="1300" b="0" i="0">
                <a:solidFill>
                  <a:srgbClr val="394049"/>
                </a:solidFill>
                <a:latin typeface="Open Sans"/>
              </a:rPr>
              <a:t>Modelos GBDT, pesos NNLS, umbral de ruteo y cuotas quedan fijos desde el corte.</a:t>
            </a:r>
          </a:p>
          <a:p>
            <a:pPr algn="l">
              <a:lnSpc>
                <a:spcPct val="116000"/>
              </a:lnSpc>
              <a:spcBef>
                <a:spcPts val="800"/>
              </a:spcBef>
              <a:spcAft>
                <a:spcPts val="200"/>
              </a:spcAft>
            </a:pPr>
            <a:r>
              <a:rPr sz="1360" b="1" i="0">
                <a:solidFill>
                  <a:srgbClr val="13161B"/>
                </a:solidFill>
                <a:latin typeface="Open Sans"/>
              </a:rPr>
              <a:t>Por qué</a:t>
            </a:r>
          </a:p>
          <a:p>
            <a:pPr algn="l">
              <a:lnSpc>
                <a:spcPct val="120000"/>
              </a:lnSpc>
              <a:spcBef>
                <a:spcPts val="0"/>
              </a:spcBef>
              <a:spcAft>
                <a:spcPts val="0"/>
              </a:spcAft>
            </a:pPr>
            <a:r>
              <a:rPr sz="1300" b="0" i="0">
                <a:solidFill>
                  <a:srgbClr val="394049"/>
                </a:solidFill>
                <a:latin typeface="Open Sans"/>
              </a:rPr>
              <a:t>Reentrenar cada mes tiene fricción real y riesgo de sobrerreaccionar a anomalías.</a:t>
            </a:r>
          </a:p>
        </p:txBody>
      </p:sp>
      <p:sp>
        <p:nvSpPr>
          <p:cNvPr id="19" name="Rounded Rectangle 18"/>
          <p:cNvSpPr/>
          <p:nvPr/>
        </p:nvSpPr>
        <p:spPr>
          <a:xfrm>
            <a:off x="960120" y="6638544"/>
            <a:ext cx="7863840" cy="1481328"/>
          </a:xfrm>
          <a:prstGeom prst="roundRect">
            <a:avLst>
              <a:gd name="adj" fmla="val 339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Rectangle 19"/>
          <p:cNvSpPr/>
          <p:nvPr/>
        </p:nvSpPr>
        <p:spPr>
          <a:xfrm>
            <a:off x="960120" y="6638544"/>
            <a:ext cx="68580" cy="1481328"/>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TextBox 20"/>
          <p:cNvSpPr txBox="1"/>
          <p:nvPr/>
        </p:nvSpPr>
        <p:spPr>
          <a:xfrm>
            <a:off x="1344168" y="6894576"/>
            <a:ext cx="7168896" cy="969264"/>
          </a:xfrm>
          <a:prstGeom prst="rect">
            <a:avLst/>
          </a:prstGeom>
          <a:noFill/>
        </p:spPr>
        <p:txBody>
          <a:bodyPr wrap="square" lIns="0" rIns="0" tIns="0" bIns="0" anchor="t">
            <a:spAutoFit/>
          </a:bodyPr>
          <a:lstStyle/>
          <a:p>
            <a:pPr algn="l">
              <a:lnSpc>
                <a:spcPct val="112000"/>
              </a:lnSpc>
              <a:spcBef>
                <a:spcPts val="0"/>
              </a:spcBef>
              <a:spcAft>
                <a:spcPts val="800"/>
              </a:spcAft>
            </a:pPr>
            <a:r>
              <a:rPr sz="1600" b="1" i="0">
                <a:solidFill>
                  <a:srgbClr val="13161B"/>
                </a:solidFill>
                <a:latin typeface="Open Sans"/>
              </a:rPr>
              <a:t>Reproducibilidad</a:t>
            </a:r>
          </a:p>
          <a:p>
            <a:pPr algn="l">
              <a:lnSpc>
                <a:spcPct val="120000"/>
              </a:lnSpc>
              <a:spcBef>
                <a:spcPts val="0"/>
              </a:spcBef>
              <a:spcAft>
                <a:spcPts val="0"/>
              </a:spcAft>
            </a:pPr>
            <a:r>
              <a:rPr sz="1320" b="0" i="0">
                <a:solidFill>
                  <a:srgbClr val="394049"/>
                </a:solidFill>
                <a:latin typeface="Open Sans"/>
              </a:rPr>
              <a:t>Cada modelo se entrena con 8 semillas —42, 1, 7, 2025, 99, 3, 11 y 21— y se promedian las inferencias; se fijan versiones de librerías y parámetros de ejecución.</a:t>
            </a:r>
          </a:p>
        </p:txBody>
      </p:sp>
      <p:sp>
        <p:nvSpPr>
          <p:cNvPr id="22" name="Rounded Rectangle 21"/>
          <p:cNvSpPr/>
          <p:nvPr/>
        </p:nvSpPr>
        <p:spPr>
          <a:xfrm>
            <a:off x="9464040" y="6638544"/>
            <a:ext cx="7863840" cy="1481328"/>
          </a:xfrm>
          <a:prstGeom prst="roundRect">
            <a:avLst>
              <a:gd name="adj" fmla="val 339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Rectangle 22"/>
          <p:cNvSpPr/>
          <p:nvPr/>
        </p:nvSpPr>
        <p:spPr>
          <a:xfrm>
            <a:off x="9464040" y="6638544"/>
            <a:ext cx="68580" cy="1481328"/>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9848088" y="6894576"/>
            <a:ext cx="7168896" cy="969264"/>
          </a:xfrm>
          <a:prstGeom prst="rect">
            <a:avLst/>
          </a:prstGeom>
          <a:noFill/>
        </p:spPr>
        <p:txBody>
          <a:bodyPr wrap="square" lIns="0" rIns="0" tIns="0" bIns="0" anchor="t">
            <a:spAutoFit/>
          </a:bodyPr>
          <a:lstStyle/>
          <a:p>
            <a:pPr algn="l">
              <a:lnSpc>
                <a:spcPct val="112000"/>
              </a:lnSpc>
              <a:spcBef>
                <a:spcPts val="0"/>
              </a:spcBef>
              <a:spcAft>
                <a:spcPts val="800"/>
              </a:spcAft>
            </a:pPr>
            <a:r>
              <a:rPr sz="1600" b="1" i="0">
                <a:solidFill>
                  <a:srgbClr val="13161B"/>
                </a:solidFill>
                <a:latin typeface="Open Sans"/>
              </a:rPr>
              <a:t>Qué prueba realmente este diseño</a:t>
            </a:r>
          </a:p>
          <a:p>
            <a:pPr algn="l">
              <a:lnSpc>
                <a:spcPct val="120000"/>
              </a:lnSpc>
              <a:spcBef>
                <a:spcPts val="0"/>
              </a:spcBef>
              <a:spcAft>
                <a:spcPts val="0"/>
              </a:spcAft>
            </a:pPr>
            <a:r>
              <a:rPr sz="1320" b="0" i="0">
                <a:solidFill>
                  <a:srgbClr val="394049"/>
                </a:solidFill>
                <a:latin typeface="Open Sans"/>
              </a:rPr>
              <a:t>Evaluar siete meses con los pesos congelados somete la arquitectura a una prueba de estrés frente al cambio de régimen, en lugar de premiarla por reajustarse.</a:t>
            </a:r>
          </a:p>
        </p:txBody>
      </p:sp>
      <p:sp>
        <p:nvSpPr>
          <p:cNvPr id="25" name="Rounded Rectangle 24"/>
          <p:cNvSpPr/>
          <p:nvPr/>
        </p:nvSpPr>
        <p:spPr>
          <a:xfrm>
            <a:off x="960120" y="8302752"/>
            <a:ext cx="16367759" cy="822960"/>
          </a:xfrm>
          <a:prstGeom prst="roundRect">
            <a:avLst>
              <a:gd name="adj" fmla="val 6111"/>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1417320" y="8302752"/>
            <a:ext cx="15453359" cy="822960"/>
          </a:xfrm>
          <a:prstGeom prst="rect">
            <a:avLst/>
          </a:prstGeom>
          <a:noFill/>
        </p:spPr>
        <p:txBody>
          <a:bodyPr wrap="square" lIns="0" rIns="0" tIns="0" bIns="0" anchor="ctr">
            <a:spAutoFit/>
          </a:bodyPr>
          <a:lstStyle/>
          <a:p>
            <a:pPr algn="ctr">
              <a:lnSpc>
                <a:spcPct val="118000"/>
              </a:lnSpc>
              <a:spcBef>
                <a:spcPts val="0"/>
              </a:spcBef>
              <a:spcAft>
                <a:spcPts val="0"/>
              </a:spcAft>
            </a:pPr>
            <a:r>
              <a:rPr sz="1550" b="1" i="0">
                <a:solidFill>
                  <a:srgbClr val="FFFFFF"/>
                </a:solidFill>
                <a:latin typeface="Open Sans"/>
              </a:rPr>
              <a:t>El 16,10 % no se obtuvo reentrenando cada mes: se obtuvo con una calibración única anterior a enero de 2025 sostenida durante siete meses.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A8</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Cómo se trató la intermitencia</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31</a:t>
            </a:r>
          </a:p>
        </p:txBody>
      </p:sp>
      <p:sp>
        <p:nvSpPr>
          <p:cNvPr id="10" name="Rounded Rectangle 9"/>
          <p:cNvSpPr/>
          <p:nvPr/>
        </p:nvSpPr>
        <p:spPr>
          <a:xfrm>
            <a:off x="960120" y="2249424"/>
            <a:ext cx="5239512" cy="1938528"/>
          </a:xfrm>
          <a:prstGeom prst="roundRect">
            <a:avLst>
              <a:gd name="adj" fmla="val 2594"/>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TextBox 10"/>
          <p:cNvSpPr txBox="1"/>
          <p:nvPr/>
        </p:nvSpPr>
        <p:spPr>
          <a:xfrm>
            <a:off x="1289304" y="2249424"/>
            <a:ext cx="4581144" cy="1938528"/>
          </a:xfrm>
          <a:prstGeom prst="rect">
            <a:avLst/>
          </a:prstGeom>
          <a:noFill/>
        </p:spPr>
        <p:txBody>
          <a:bodyPr wrap="square" lIns="0" rIns="0" tIns="0" bIns="0" anchor="ctr">
            <a:spAutoFit/>
          </a:bodyPr>
          <a:lstStyle/>
          <a:p>
            <a:pPr algn="l">
              <a:lnSpc>
                <a:spcPct val="100000"/>
              </a:lnSpc>
              <a:spcBef>
                <a:spcPts val="0"/>
              </a:spcBef>
              <a:spcAft>
                <a:spcPts val="200"/>
              </a:spcAft>
            </a:pPr>
            <a:r>
              <a:rPr sz="3800" b="1" i="0">
                <a:solidFill>
                  <a:srgbClr val="D10120"/>
                </a:solidFill>
                <a:latin typeface="Open Sans"/>
              </a:rPr>
              <a:t>34,8 %</a:t>
            </a:r>
          </a:p>
          <a:p>
            <a:pPr algn="l">
              <a:lnSpc>
                <a:spcPct val="120000"/>
              </a:lnSpc>
              <a:spcBef>
                <a:spcPts val="0"/>
              </a:spcBef>
              <a:spcAft>
                <a:spcPts val="0"/>
              </a:spcAft>
            </a:pPr>
            <a:r>
              <a:rPr sz="1300" b="0" i="0">
                <a:solidFill>
                  <a:srgbClr val="394049"/>
                </a:solidFill>
                <a:latin typeface="Open Sans"/>
              </a:rPr>
              <a:t>de los meses a nivel SKU tienen demanda nula</a:t>
            </a:r>
          </a:p>
          <a:p>
            <a:pPr algn="l">
              <a:lnSpc>
                <a:spcPct val="115000"/>
              </a:lnSpc>
              <a:spcBef>
                <a:spcPts val="400"/>
              </a:spcBef>
              <a:spcAft>
                <a:spcPts val="0"/>
              </a:spcAft>
            </a:pPr>
            <a:r>
              <a:rPr sz="1150" b="0" i="0">
                <a:solidFill>
                  <a:srgbClr val="9AA1A9"/>
                </a:solidFill>
                <a:latin typeface="Open Sans"/>
              </a:rPr>
              <a:t>A nivel familia las series son densas y continuas</a:t>
            </a:r>
          </a:p>
        </p:txBody>
      </p:sp>
      <p:sp>
        <p:nvSpPr>
          <p:cNvPr id="12" name="Rounded Rectangle 11"/>
          <p:cNvSpPr/>
          <p:nvPr/>
        </p:nvSpPr>
        <p:spPr>
          <a:xfrm>
            <a:off x="6519672" y="2249424"/>
            <a:ext cx="10808208" cy="1938528"/>
          </a:xfrm>
          <a:prstGeom prst="roundRect">
            <a:avLst>
              <a:gd name="adj" fmla="val 2594"/>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6519672" y="2249424"/>
            <a:ext cx="68580" cy="1938528"/>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6976872" y="2578608"/>
            <a:ext cx="9966960" cy="1280160"/>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Zero-filling: lo que sí se hizo</a:t>
            </a:r>
          </a:p>
          <a:p>
            <a:pPr algn="l">
              <a:lnSpc>
                <a:spcPct val="122000"/>
              </a:lnSpc>
              <a:spcBef>
                <a:spcPts val="0"/>
              </a:spcBef>
              <a:spcAft>
                <a:spcPts val="0"/>
              </a:spcAft>
            </a:pPr>
            <a:r>
              <a:rPr sz="1350" b="0" i="0">
                <a:solidFill>
                  <a:srgbClr val="394049"/>
                </a:solidFill>
                <a:latin typeface="Open Sans"/>
              </a:rPr>
              <a:t>El ERP no guarda una fila cuando no hay venta: simplemente la omite. Se generó el producto cartesiano de todos los meses por cada SKU y familia, asignando explícitamente demanda cero en los períodos sin movimiento, para poder calcular rezagos y medias móviles consistentes.</a:t>
            </a:r>
          </a:p>
        </p:txBody>
      </p:sp>
      <p:sp>
        <p:nvSpPr>
          <p:cNvPr id="15" name="Rounded Rectangle 14"/>
          <p:cNvSpPr/>
          <p:nvPr/>
        </p:nvSpPr>
        <p:spPr>
          <a:xfrm>
            <a:off x="960120" y="4462272"/>
            <a:ext cx="5239512" cy="2194560"/>
          </a:xfrm>
          <a:prstGeom prst="roundRect">
            <a:avLst>
              <a:gd name="adj" fmla="val 229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960120" y="4462272"/>
            <a:ext cx="68580" cy="219456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417320" y="4791456"/>
            <a:ext cx="4398264" cy="1536192"/>
          </a:xfrm>
          <a:prstGeom prst="rect">
            <a:avLst/>
          </a:prstGeom>
          <a:noFill/>
        </p:spPr>
        <p:txBody>
          <a:bodyPr wrap="square" lIns="0" rIns="0" tIns="0" bIns="0" anchor="t">
            <a:spAutoFit/>
          </a:bodyPr>
          <a:lstStyle/>
          <a:p>
            <a:pPr algn="l">
              <a:lnSpc>
                <a:spcPct val="112000"/>
              </a:lnSpc>
              <a:spcBef>
                <a:spcPts val="0"/>
              </a:spcBef>
              <a:spcAft>
                <a:spcPts val="800"/>
              </a:spcAft>
            </a:pPr>
            <a:r>
              <a:rPr sz="1650" b="1" i="0">
                <a:solidFill>
                  <a:srgbClr val="13161B"/>
                </a:solidFill>
                <a:latin typeface="Open Sans"/>
              </a:rPr>
              <a:t>No se imputó la media</a:t>
            </a:r>
          </a:p>
          <a:p>
            <a:pPr algn="l">
              <a:lnSpc>
                <a:spcPct val="122000"/>
              </a:lnSpc>
              <a:spcBef>
                <a:spcPts val="0"/>
              </a:spcBef>
              <a:spcAft>
                <a:spcPts val="0"/>
              </a:spcAft>
            </a:pPr>
            <a:r>
              <a:rPr sz="1320" b="0" i="0">
                <a:solidFill>
                  <a:srgbClr val="394049"/>
                </a:solidFill>
                <a:latin typeface="Open Sans"/>
              </a:rPr>
              <a:t>Sustituir los ceros por un promedio inventaría demanda que nunca existió y aplanaría la estacionalidad real.</a:t>
            </a:r>
          </a:p>
        </p:txBody>
      </p:sp>
      <p:sp>
        <p:nvSpPr>
          <p:cNvPr id="18" name="Rounded Rectangle 17"/>
          <p:cNvSpPr/>
          <p:nvPr/>
        </p:nvSpPr>
        <p:spPr>
          <a:xfrm>
            <a:off x="6519672" y="4462272"/>
            <a:ext cx="5239512" cy="2194560"/>
          </a:xfrm>
          <a:prstGeom prst="roundRect">
            <a:avLst>
              <a:gd name="adj" fmla="val 229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Rectangle 18"/>
          <p:cNvSpPr/>
          <p:nvPr/>
        </p:nvSpPr>
        <p:spPr>
          <a:xfrm>
            <a:off x="6519672" y="4462272"/>
            <a:ext cx="68580" cy="219456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0" name="TextBox 19"/>
          <p:cNvSpPr txBox="1"/>
          <p:nvPr/>
        </p:nvSpPr>
        <p:spPr>
          <a:xfrm>
            <a:off x="6976872" y="4791456"/>
            <a:ext cx="4398264" cy="1536192"/>
          </a:xfrm>
          <a:prstGeom prst="rect">
            <a:avLst/>
          </a:prstGeom>
          <a:noFill/>
        </p:spPr>
        <p:txBody>
          <a:bodyPr wrap="square" lIns="0" rIns="0" tIns="0" bIns="0" anchor="t">
            <a:spAutoFit/>
          </a:bodyPr>
          <a:lstStyle/>
          <a:p>
            <a:pPr algn="l">
              <a:lnSpc>
                <a:spcPct val="112000"/>
              </a:lnSpc>
              <a:spcBef>
                <a:spcPts val="0"/>
              </a:spcBef>
              <a:spcAft>
                <a:spcPts val="800"/>
              </a:spcAft>
            </a:pPr>
            <a:r>
              <a:rPr sz="1650" b="1" i="0">
                <a:solidFill>
                  <a:srgbClr val="13161B"/>
                </a:solidFill>
                <a:latin typeface="Open Sans"/>
              </a:rPr>
              <a:t>No se interpoló</a:t>
            </a:r>
          </a:p>
          <a:p>
            <a:pPr algn="l">
              <a:lnSpc>
                <a:spcPct val="122000"/>
              </a:lnSpc>
              <a:spcBef>
                <a:spcPts val="0"/>
              </a:spcBef>
              <a:spcAft>
                <a:spcPts val="0"/>
              </a:spcAft>
            </a:pPr>
            <a:r>
              <a:rPr sz="1320" b="0" i="0">
                <a:solidFill>
                  <a:srgbClr val="394049"/>
                </a:solidFill>
                <a:latin typeface="Open Sans"/>
              </a:rPr>
              <a:t>Interpolar entre meses con venta suavizaría artificialmente el patrón intermitente que justamente se quiere modelar.</a:t>
            </a:r>
          </a:p>
        </p:txBody>
      </p:sp>
      <p:sp>
        <p:nvSpPr>
          <p:cNvPr id="21" name="Rounded Rectangle 20"/>
          <p:cNvSpPr/>
          <p:nvPr/>
        </p:nvSpPr>
        <p:spPr>
          <a:xfrm>
            <a:off x="12079224" y="4462272"/>
            <a:ext cx="5239512" cy="2194560"/>
          </a:xfrm>
          <a:prstGeom prst="roundRect">
            <a:avLst>
              <a:gd name="adj" fmla="val 229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Rectangle 21"/>
          <p:cNvSpPr/>
          <p:nvPr/>
        </p:nvSpPr>
        <p:spPr>
          <a:xfrm>
            <a:off x="12079224" y="4462272"/>
            <a:ext cx="68580" cy="219456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3" name="TextBox 22"/>
          <p:cNvSpPr txBox="1"/>
          <p:nvPr/>
        </p:nvSpPr>
        <p:spPr>
          <a:xfrm>
            <a:off x="12536424" y="4791456"/>
            <a:ext cx="4398264" cy="1536192"/>
          </a:xfrm>
          <a:prstGeom prst="rect">
            <a:avLst/>
          </a:prstGeom>
          <a:noFill/>
        </p:spPr>
        <p:txBody>
          <a:bodyPr wrap="square" lIns="0" rIns="0" tIns="0" bIns="0" anchor="t">
            <a:spAutoFit/>
          </a:bodyPr>
          <a:lstStyle/>
          <a:p>
            <a:pPr algn="l">
              <a:lnSpc>
                <a:spcPct val="112000"/>
              </a:lnSpc>
              <a:spcBef>
                <a:spcPts val="0"/>
              </a:spcBef>
              <a:spcAft>
                <a:spcPts val="800"/>
              </a:spcAft>
            </a:pPr>
            <a:r>
              <a:rPr sz="1650" b="1" i="0">
                <a:solidFill>
                  <a:srgbClr val="13161B"/>
                </a:solidFill>
                <a:latin typeface="Open Sans"/>
              </a:rPr>
              <a:t>No se eliminaron los ceros</a:t>
            </a:r>
          </a:p>
          <a:p>
            <a:pPr algn="l">
              <a:lnSpc>
                <a:spcPct val="122000"/>
              </a:lnSpc>
              <a:spcBef>
                <a:spcPts val="0"/>
              </a:spcBef>
              <a:spcAft>
                <a:spcPts val="0"/>
              </a:spcAft>
            </a:pPr>
            <a:r>
              <a:rPr sz="1320" b="0" i="0">
                <a:solidFill>
                  <a:srgbClr val="394049"/>
                </a:solidFill>
                <a:latin typeface="Open Sans"/>
              </a:rPr>
              <a:t>Un cero no es un dato faltante: es la observación de que ese mes no hubo venta, y esa información es predictiva.</a:t>
            </a:r>
          </a:p>
        </p:txBody>
      </p:sp>
      <p:sp>
        <p:nvSpPr>
          <p:cNvPr id="24" name="Rounded Rectangle 23"/>
          <p:cNvSpPr/>
          <p:nvPr/>
        </p:nvSpPr>
        <p:spPr>
          <a:xfrm>
            <a:off x="960120" y="6931152"/>
            <a:ext cx="16367759" cy="1691640"/>
          </a:xfrm>
          <a:prstGeom prst="roundRect">
            <a:avLst>
              <a:gd name="adj" fmla="val 2972"/>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Rectangle 24"/>
          <p:cNvSpPr/>
          <p:nvPr/>
        </p:nvSpPr>
        <p:spPr>
          <a:xfrm>
            <a:off x="960120" y="6931152"/>
            <a:ext cx="68580" cy="169164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6" name="TextBox 25"/>
          <p:cNvSpPr txBox="1"/>
          <p:nvPr/>
        </p:nvSpPr>
        <p:spPr>
          <a:xfrm>
            <a:off x="1417320" y="7260336"/>
            <a:ext cx="15526512" cy="10332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Entonces, ¿cómo se resuelve la intermitencia?</a:t>
            </a:r>
          </a:p>
          <a:p>
            <a:pPr algn="l">
              <a:lnSpc>
                <a:spcPct val="124000"/>
              </a:lnSpc>
              <a:spcBef>
                <a:spcPts val="0"/>
              </a:spcBef>
              <a:spcAft>
                <a:spcPts val="0"/>
              </a:spcAft>
            </a:pPr>
            <a:r>
              <a:rPr sz="1400" b="0" i="0">
                <a:solidFill>
                  <a:srgbClr val="394049"/>
                </a:solidFill>
                <a:latin typeface="Open Sans"/>
              </a:rPr>
              <a:t>Por arquitectura, no por imputación. Se pronostica en el nivel donde la serie es continua y tiene estacionalidad clara —la familia comercial— y desde ahí se reparte a cada SKU mediante cuotas. El problema del cero deja de ser un problema de modelado y pasa a ser uno de reparto.</a:t>
            </a:r>
          </a:p>
        </p:txBody>
      </p:sp>
      <p:sp>
        <p:nvSpPr>
          <p:cNvPr id="27" name="Rounded Rectangle 26"/>
          <p:cNvSpPr/>
          <p:nvPr/>
        </p:nvSpPr>
        <p:spPr>
          <a:xfrm>
            <a:off x="960120" y="8787384"/>
            <a:ext cx="16367759" cy="502920"/>
          </a:xfrm>
          <a:prstGeom prst="roundRect">
            <a:avLst>
              <a:gd name="adj" fmla="val 10000"/>
            </a:avLst>
          </a:prstGeom>
          <a:solidFill>
            <a:srgbClr val="EF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1417320" y="8787384"/>
            <a:ext cx="15453359" cy="502920"/>
          </a:xfrm>
          <a:prstGeom prst="rect">
            <a:avLst/>
          </a:prstGeom>
          <a:noFill/>
        </p:spPr>
        <p:txBody>
          <a:bodyPr wrap="square" lIns="0" rIns="0" tIns="0" bIns="0" anchor="ctr">
            <a:spAutoFit/>
          </a:bodyPr>
          <a:lstStyle/>
          <a:p>
            <a:pPr algn="ctr">
              <a:lnSpc>
                <a:spcPct val="118000"/>
              </a:lnSpc>
              <a:spcBef>
                <a:spcPts val="0"/>
              </a:spcBef>
              <a:spcAft>
                <a:spcPts val="0"/>
              </a:spcAft>
            </a:pPr>
            <a:r>
              <a:rPr sz="1350" b="0" i="0">
                <a:solidFill>
                  <a:srgbClr val="394049"/>
                </a:solidFill>
                <a:latin typeface="Open Sans"/>
              </a:rPr>
              <a:t>Supuesto declarado: si hay inventario disponible y la venta es cero, se interpreta como demanda cero. Los quiebres de stock son la limitación conocida de ese supuesto.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A9</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Hiperparámetros calibrados</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32</a:t>
            </a:r>
          </a:p>
        </p:txBody>
      </p:sp>
      <p:cxnSp>
        <p:nvCxnSpPr>
          <p:cNvPr id="10" name="Connector 9"/>
          <p:cNvCxnSpPr/>
          <p:nvPr/>
        </p:nvCxnSpPr>
        <p:spPr>
          <a:xfrm>
            <a:off x="960120" y="2249424"/>
            <a:ext cx="16367760" cy="0"/>
          </a:xfrm>
          <a:prstGeom prst="line">
            <a:avLst/>
          </a:prstGeom>
          <a:ln w="21590">
            <a:solidFill>
              <a:srgbClr val="13161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60120" y="2377440"/>
            <a:ext cx="214884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Modelo</a:t>
            </a:r>
          </a:p>
        </p:txBody>
      </p:sp>
      <p:sp>
        <p:nvSpPr>
          <p:cNvPr id="12" name="TextBox 11"/>
          <p:cNvSpPr txBox="1"/>
          <p:nvPr/>
        </p:nvSpPr>
        <p:spPr>
          <a:xfrm>
            <a:off x="3429000" y="2377440"/>
            <a:ext cx="260604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Módulo</a:t>
            </a:r>
          </a:p>
        </p:txBody>
      </p:sp>
      <p:sp>
        <p:nvSpPr>
          <p:cNvPr id="13" name="TextBox 12"/>
          <p:cNvSpPr txBox="1"/>
          <p:nvPr/>
        </p:nvSpPr>
        <p:spPr>
          <a:xfrm>
            <a:off x="6355080" y="2377440"/>
            <a:ext cx="708660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Hiperparámetros</a:t>
            </a:r>
          </a:p>
        </p:txBody>
      </p:sp>
      <p:sp>
        <p:nvSpPr>
          <p:cNvPr id="14" name="TextBox 13"/>
          <p:cNvSpPr txBox="1"/>
          <p:nvPr/>
        </p:nvSpPr>
        <p:spPr>
          <a:xfrm>
            <a:off x="13761720" y="2377440"/>
            <a:ext cx="3246120" cy="384048"/>
          </a:xfrm>
          <a:prstGeom prst="rect">
            <a:avLst/>
          </a:prstGeom>
          <a:noFill/>
        </p:spPr>
        <p:txBody>
          <a:bodyPr wrap="square" lIns="0" rIns="0" tIns="0" bIns="0" anchor="t">
            <a:spAutoFit/>
          </a:bodyPr>
          <a:lstStyle/>
          <a:p>
            <a:pPr algn="l">
              <a:lnSpc>
                <a:spcPct val="116000"/>
              </a:lnSpc>
              <a:spcBef>
                <a:spcPts val="0"/>
              </a:spcBef>
              <a:spcAft>
                <a:spcPts val="0"/>
              </a:spcAft>
            </a:pPr>
            <a:r>
              <a:rPr sz="1130" b="1" i="0" spc="150">
                <a:solidFill>
                  <a:srgbClr val="6E6E6E"/>
                </a:solidFill>
                <a:latin typeface="Open Sans"/>
              </a:rPr>
              <a:t>Función objetivo</a:t>
            </a:r>
          </a:p>
        </p:txBody>
      </p:sp>
      <p:cxnSp>
        <p:nvCxnSpPr>
          <p:cNvPr id="15" name="Connector 14"/>
          <p:cNvCxnSpPr/>
          <p:nvPr/>
        </p:nvCxnSpPr>
        <p:spPr>
          <a:xfrm>
            <a:off x="960120" y="2852928"/>
            <a:ext cx="16367760" cy="0"/>
          </a:xfrm>
          <a:prstGeom prst="line">
            <a:avLst/>
          </a:prstGeom>
          <a:ln w="11430">
            <a:solidFill>
              <a:srgbClr val="13161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60120" y="2852928"/>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70" b="1" i="0">
                <a:solidFill>
                  <a:srgbClr val="13161B"/>
                </a:solidFill>
                <a:latin typeface="Open Sans"/>
              </a:rPr>
              <a:t>XGBoost</a:t>
            </a:r>
          </a:p>
        </p:txBody>
      </p:sp>
      <p:sp>
        <p:nvSpPr>
          <p:cNvPr id="17" name="TextBox 16"/>
          <p:cNvSpPr txBox="1"/>
          <p:nvPr/>
        </p:nvSpPr>
        <p:spPr>
          <a:xfrm>
            <a:off x="3429000" y="2852928"/>
            <a:ext cx="260604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Ensamble combo</a:t>
            </a:r>
          </a:p>
        </p:txBody>
      </p:sp>
      <p:sp>
        <p:nvSpPr>
          <p:cNvPr id="18" name="TextBox 17"/>
          <p:cNvSpPr txBox="1"/>
          <p:nvPr/>
        </p:nvSpPr>
        <p:spPr>
          <a:xfrm>
            <a:off x="6355080" y="2852928"/>
            <a:ext cx="708660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learning_rate 0,05 · max_depth 6 · subsample 0,90 · colsample_bytree 0,90 · n_estimators 500</a:t>
            </a:r>
          </a:p>
        </p:txBody>
      </p:sp>
      <p:sp>
        <p:nvSpPr>
          <p:cNvPr id="19" name="TextBox 18"/>
          <p:cNvSpPr txBox="1"/>
          <p:nvPr/>
        </p:nvSpPr>
        <p:spPr>
          <a:xfrm>
            <a:off x="13761720" y="2852928"/>
            <a:ext cx="324612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reg:squarederror</a:t>
            </a:r>
          </a:p>
        </p:txBody>
      </p:sp>
      <p:cxnSp>
        <p:nvCxnSpPr>
          <p:cNvPr id="20" name="Connector 19"/>
          <p:cNvCxnSpPr/>
          <p:nvPr/>
        </p:nvCxnSpPr>
        <p:spPr>
          <a:xfrm>
            <a:off x="960120" y="3694176"/>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60120" y="3694176"/>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70" b="1" i="0">
                <a:solidFill>
                  <a:srgbClr val="13161B"/>
                </a:solidFill>
                <a:latin typeface="Open Sans"/>
              </a:rPr>
              <a:t>LightGBM</a:t>
            </a:r>
          </a:p>
        </p:txBody>
      </p:sp>
      <p:sp>
        <p:nvSpPr>
          <p:cNvPr id="22" name="TextBox 21"/>
          <p:cNvSpPr txBox="1"/>
          <p:nvPr/>
        </p:nvSpPr>
        <p:spPr>
          <a:xfrm>
            <a:off x="3429000" y="3694176"/>
            <a:ext cx="260604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Residual y ensamble global</a:t>
            </a:r>
          </a:p>
        </p:txBody>
      </p:sp>
      <p:sp>
        <p:nvSpPr>
          <p:cNvPr id="23" name="TextBox 22"/>
          <p:cNvSpPr txBox="1"/>
          <p:nvPr/>
        </p:nvSpPr>
        <p:spPr>
          <a:xfrm>
            <a:off x="6355080" y="3694176"/>
            <a:ext cx="708660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learning_rate 0,05 · num_leaves 31 · subsample 0,90 · colsample_bytree 0,90 · n_estimators 600</a:t>
            </a:r>
          </a:p>
        </p:txBody>
      </p:sp>
      <p:sp>
        <p:nvSpPr>
          <p:cNvPr id="24" name="TextBox 23"/>
          <p:cNvSpPr txBox="1"/>
          <p:nvPr/>
        </p:nvSpPr>
        <p:spPr>
          <a:xfrm>
            <a:off x="13761720" y="3694176"/>
            <a:ext cx="324612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regression</a:t>
            </a:r>
          </a:p>
        </p:txBody>
      </p:sp>
      <p:cxnSp>
        <p:nvCxnSpPr>
          <p:cNvPr id="25" name="Connector 24"/>
          <p:cNvCxnSpPr/>
          <p:nvPr/>
        </p:nvCxnSpPr>
        <p:spPr>
          <a:xfrm>
            <a:off x="960120" y="4535424"/>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0120" y="4535424"/>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70" b="1" i="0">
                <a:solidFill>
                  <a:srgbClr val="13161B"/>
                </a:solidFill>
                <a:latin typeface="Open Sans"/>
              </a:rPr>
              <a:t>CatBoost</a:t>
            </a:r>
          </a:p>
        </p:txBody>
      </p:sp>
      <p:sp>
        <p:nvSpPr>
          <p:cNvPr id="27" name="TextBox 26"/>
          <p:cNvSpPr txBox="1"/>
          <p:nvPr/>
        </p:nvSpPr>
        <p:spPr>
          <a:xfrm>
            <a:off x="3429000" y="4535424"/>
            <a:ext cx="260604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Módulo categórico</a:t>
            </a:r>
          </a:p>
        </p:txBody>
      </p:sp>
      <p:sp>
        <p:nvSpPr>
          <p:cNvPr id="28" name="TextBox 27"/>
          <p:cNvSpPr txBox="1"/>
          <p:nvPr/>
        </p:nvSpPr>
        <p:spPr>
          <a:xfrm>
            <a:off x="6355080" y="4535424"/>
            <a:ext cx="708660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learning_rate 0,05 · depth 6 · iterations 600</a:t>
            </a:r>
          </a:p>
        </p:txBody>
      </p:sp>
      <p:sp>
        <p:nvSpPr>
          <p:cNvPr id="29" name="TextBox 28"/>
          <p:cNvSpPr txBox="1"/>
          <p:nvPr/>
        </p:nvSpPr>
        <p:spPr>
          <a:xfrm>
            <a:off x="13761720" y="4535424"/>
            <a:ext cx="324612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RMSE</a:t>
            </a:r>
          </a:p>
        </p:txBody>
      </p:sp>
      <p:cxnSp>
        <p:nvCxnSpPr>
          <p:cNvPr id="30" name="Connector 29"/>
          <p:cNvCxnSpPr/>
          <p:nvPr/>
        </p:nvCxnSpPr>
        <p:spPr>
          <a:xfrm>
            <a:off x="960120" y="5376672"/>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60120" y="5376672"/>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70" b="1" i="0">
                <a:solidFill>
                  <a:srgbClr val="13161B"/>
                </a:solidFill>
                <a:latin typeface="Open Sans"/>
              </a:rPr>
              <a:t>TabPFN</a:t>
            </a:r>
          </a:p>
        </p:txBody>
      </p:sp>
      <p:sp>
        <p:nvSpPr>
          <p:cNvPr id="32" name="TextBox 31"/>
          <p:cNvSpPr txBox="1"/>
          <p:nvPr/>
        </p:nvSpPr>
        <p:spPr>
          <a:xfrm>
            <a:off x="3429000" y="5376672"/>
            <a:ext cx="260604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Fundacional tabular</a:t>
            </a:r>
          </a:p>
        </p:txBody>
      </p:sp>
      <p:sp>
        <p:nvSpPr>
          <p:cNvPr id="33" name="TextBox 32"/>
          <p:cNvSpPr txBox="1"/>
          <p:nvPr/>
        </p:nvSpPr>
        <p:spPr>
          <a:xfrm>
            <a:off x="6355080" y="5376672"/>
            <a:ext cx="708660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TabPFNRegressor v2 · n_estimators 2 · inferencia in-context zero-shot · escalado robusto</a:t>
            </a:r>
          </a:p>
        </p:txBody>
      </p:sp>
      <p:sp>
        <p:nvSpPr>
          <p:cNvPr id="34" name="TextBox 33"/>
          <p:cNvSpPr txBox="1"/>
          <p:nvPr/>
        </p:nvSpPr>
        <p:spPr>
          <a:xfrm>
            <a:off x="13761720" y="5376672"/>
            <a:ext cx="324612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Sin ajuste: zero-shot</a:t>
            </a:r>
          </a:p>
        </p:txBody>
      </p:sp>
      <p:cxnSp>
        <p:nvCxnSpPr>
          <p:cNvPr id="35" name="Connector 34"/>
          <p:cNvCxnSpPr/>
          <p:nvPr/>
        </p:nvCxnSpPr>
        <p:spPr>
          <a:xfrm>
            <a:off x="960120" y="6217920"/>
            <a:ext cx="16367760" cy="0"/>
          </a:xfrm>
          <a:prstGeom prst="line">
            <a:avLst/>
          </a:prstGeom>
          <a:ln w="7620">
            <a:solidFill>
              <a:srgbClr val="EAEDF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60120" y="6217920"/>
            <a:ext cx="2148840" cy="841248"/>
          </a:xfrm>
          <a:prstGeom prst="rect">
            <a:avLst/>
          </a:prstGeom>
          <a:noFill/>
        </p:spPr>
        <p:txBody>
          <a:bodyPr wrap="square" lIns="0" rIns="0" tIns="0" bIns="0" anchor="ctr">
            <a:spAutoFit/>
          </a:bodyPr>
          <a:lstStyle/>
          <a:p>
            <a:pPr algn="l">
              <a:lnSpc>
                <a:spcPct val="120000"/>
              </a:lnSpc>
              <a:spcBef>
                <a:spcPts val="0"/>
              </a:spcBef>
              <a:spcAft>
                <a:spcPts val="0"/>
              </a:spcAft>
            </a:pPr>
            <a:r>
              <a:rPr sz="1370" b="1" i="0">
                <a:solidFill>
                  <a:srgbClr val="13161B"/>
                </a:solidFill>
                <a:latin typeface="Open Sans"/>
              </a:rPr>
              <a:t>Motor de cuotas</a:t>
            </a:r>
          </a:p>
        </p:txBody>
      </p:sp>
      <p:sp>
        <p:nvSpPr>
          <p:cNvPr id="37" name="TextBox 36"/>
          <p:cNvSpPr txBox="1"/>
          <p:nvPr/>
        </p:nvSpPr>
        <p:spPr>
          <a:xfrm>
            <a:off x="3429000" y="6217920"/>
            <a:ext cx="260604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Capa 3 · vía dinámica</a:t>
            </a:r>
          </a:p>
        </p:txBody>
      </p:sp>
      <p:sp>
        <p:nvSpPr>
          <p:cNvPr id="38" name="TextBox 37"/>
          <p:cNvSpPr txBox="1"/>
          <p:nvPr/>
        </p:nvSpPr>
        <p:spPr>
          <a:xfrm>
            <a:off x="6355080" y="6217920"/>
            <a:ext cx="708660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LightGBM y XGBoost: n_estimators 500, learning_rate 0,05 · CatBoost por grilla: depth entre 4 y 8, learning_rate 0,03 o 0,05, iterations 600</a:t>
            </a:r>
          </a:p>
        </p:txBody>
      </p:sp>
      <p:sp>
        <p:nvSpPr>
          <p:cNvPr id="39" name="TextBox 38"/>
          <p:cNvSpPr txBox="1"/>
          <p:nvPr/>
        </p:nvSpPr>
        <p:spPr>
          <a:xfrm>
            <a:off x="13761720" y="6217920"/>
            <a:ext cx="3246120" cy="841248"/>
          </a:xfrm>
          <a:prstGeom prst="rect">
            <a:avLst/>
          </a:prstGeom>
          <a:noFill/>
        </p:spPr>
        <p:txBody>
          <a:bodyPr wrap="square" lIns="0" rIns="0" tIns="0" bIns="0" anchor="ctr">
            <a:spAutoFit/>
          </a:bodyPr>
          <a:lstStyle/>
          <a:p>
            <a:pPr algn="l">
              <a:lnSpc>
                <a:spcPct val="120000"/>
              </a:lnSpc>
              <a:spcBef>
                <a:spcPts val="0"/>
              </a:spcBef>
              <a:spcAft>
                <a:spcPts val="0"/>
              </a:spcAft>
            </a:pPr>
            <a:r>
              <a:rPr sz="1240" b="0" i="0">
                <a:solidFill>
                  <a:srgbClr val="394049"/>
                </a:solidFill>
                <a:latin typeface="Open Sans"/>
              </a:rPr>
              <a:t>Huber (α = 0,9) y normalización al símplex</a:t>
            </a:r>
          </a:p>
        </p:txBody>
      </p:sp>
      <p:cxnSp>
        <p:nvCxnSpPr>
          <p:cNvPr id="40" name="Connector 39"/>
          <p:cNvCxnSpPr/>
          <p:nvPr/>
        </p:nvCxnSpPr>
        <p:spPr>
          <a:xfrm>
            <a:off x="960120" y="7059168"/>
            <a:ext cx="16367760" cy="0"/>
          </a:xfrm>
          <a:prstGeom prst="line">
            <a:avLst/>
          </a:prstGeom>
          <a:ln w="21590">
            <a:solidFill>
              <a:srgbClr val="13161B"/>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60120" y="7424927"/>
            <a:ext cx="7863840" cy="1600200"/>
          </a:xfrm>
          <a:prstGeom prst="roundRect">
            <a:avLst>
              <a:gd name="adj" fmla="val 3142"/>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2" name="Rectangle 41"/>
          <p:cNvSpPr/>
          <p:nvPr/>
        </p:nvSpPr>
        <p:spPr>
          <a:xfrm>
            <a:off x="960120" y="7424927"/>
            <a:ext cx="68580" cy="160020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3" name="TextBox 42"/>
          <p:cNvSpPr txBox="1"/>
          <p:nvPr/>
        </p:nvSpPr>
        <p:spPr>
          <a:xfrm>
            <a:off x="1417320" y="7754111"/>
            <a:ext cx="7022592" cy="941832"/>
          </a:xfrm>
          <a:prstGeom prst="rect">
            <a:avLst/>
          </a:prstGeom>
          <a:noFill/>
        </p:spPr>
        <p:txBody>
          <a:bodyPr wrap="square" lIns="0" rIns="0" tIns="0" bIns="0" anchor="t">
            <a:spAutoFit/>
          </a:bodyPr>
          <a:lstStyle/>
          <a:p>
            <a:pPr algn="l">
              <a:lnSpc>
                <a:spcPct val="112000"/>
              </a:lnSpc>
              <a:spcBef>
                <a:spcPts val="0"/>
              </a:spcBef>
              <a:spcAft>
                <a:spcPts val="800"/>
              </a:spcAft>
            </a:pPr>
            <a:r>
              <a:rPr sz="1650" b="1" i="0">
                <a:solidFill>
                  <a:srgbClr val="13161B"/>
                </a:solidFill>
                <a:latin typeface="Open Sans"/>
              </a:rPr>
              <a:t>Cómo se eligieron</a:t>
            </a:r>
          </a:p>
          <a:p>
            <a:pPr algn="l">
              <a:lnSpc>
                <a:spcPct val="122000"/>
              </a:lnSpc>
              <a:spcBef>
                <a:spcPts val="0"/>
              </a:spcBef>
              <a:spcAft>
                <a:spcPts val="0"/>
              </a:spcAft>
            </a:pPr>
            <a:r>
              <a:rPr sz="1340" b="0" i="0">
                <a:solidFill>
                  <a:srgbClr val="394049"/>
                </a:solidFill>
                <a:latin typeface="Open Sans"/>
              </a:rPr>
              <a:t>Búsqueda en grilla sobre la ventana de validación intermedia (marzo 2024 a enero 2025). Ningún hiperparámetro se ajustó mirando el período de prueba.</a:t>
            </a:r>
          </a:p>
        </p:txBody>
      </p:sp>
      <p:sp>
        <p:nvSpPr>
          <p:cNvPr id="44" name="Rounded Rectangle 43"/>
          <p:cNvSpPr/>
          <p:nvPr/>
        </p:nvSpPr>
        <p:spPr>
          <a:xfrm>
            <a:off x="9464040" y="7424927"/>
            <a:ext cx="7863840" cy="1600200"/>
          </a:xfrm>
          <a:prstGeom prst="roundRect">
            <a:avLst>
              <a:gd name="adj" fmla="val 3142"/>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5" name="Rectangle 44"/>
          <p:cNvSpPr/>
          <p:nvPr/>
        </p:nvSpPr>
        <p:spPr>
          <a:xfrm>
            <a:off x="9464040" y="7424927"/>
            <a:ext cx="68580" cy="160020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6" name="TextBox 45"/>
          <p:cNvSpPr txBox="1"/>
          <p:nvPr/>
        </p:nvSpPr>
        <p:spPr>
          <a:xfrm>
            <a:off x="9921240" y="7754111"/>
            <a:ext cx="7022592" cy="941832"/>
          </a:xfrm>
          <a:prstGeom prst="rect">
            <a:avLst/>
          </a:prstGeom>
          <a:noFill/>
        </p:spPr>
        <p:txBody>
          <a:bodyPr wrap="square" lIns="0" rIns="0" tIns="0" bIns="0" anchor="t">
            <a:spAutoFit/>
          </a:bodyPr>
          <a:lstStyle/>
          <a:p>
            <a:pPr algn="l">
              <a:lnSpc>
                <a:spcPct val="112000"/>
              </a:lnSpc>
              <a:spcBef>
                <a:spcPts val="0"/>
              </a:spcBef>
              <a:spcAft>
                <a:spcPts val="800"/>
              </a:spcAft>
            </a:pPr>
            <a:r>
              <a:rPr sz="1650" b="1" i="0">
                <a:solidFill>
                  <a:srgbClr val="13161B"/>
                </a:solidFill>
                <a:latin typeface="Open Sans"/>
              </a:rPr>
              <a:t>Por qué ocho semillas</a:t>
            </a:r>
          </a:p>
          <a:p>
            <a:pPr algn="l">
              <a:lnSpc>
                <a:spcPct val="122000"/>
              </a:lnSpc>
              <a:spcBef>
                <a:spcPts val="0"/>
              </a:spcBef>
              <a:spcAft>
                <a:spcPts val="0"/>
              </a:spcAft>
            </a:pPr>
            <a:r>
              <a:rPr sz="1340" b="0" i="0">
                <a:solidFill>
                  <a:srgbClr val="394049"/>
                </a:solidFill>
                <a:latin typeface="Open Sans"/>
              </a:rPr>
              <a:t>Cada configuración se entrena con las semillas 42, 1, 7, 2025, 99, 3, 11 y 21, promediando las inferencias: reduce la varianza de inicialización y evita resultados afortunados.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A10</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¿Es estadísticamente significativa la diferencia?</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33</a:t>
            </a:r>
          </a:p>
        </p:txBody>
      </p:sp>
      <p:sp>
        <p:nvSpPr>
          <p:cNvPr id="10" name="TextBox 9"/>
          <p:cNvSpPr txBox="1"/>
          <p:nvPr/>
        </p:nvSpPr>
        <p:spPr>
          <a:xfrm>
            <a:off x="960120" y="2212848"/>
            <a:ext cx="16367759" cy="384048"/>
          </a:xfrm>
          <a:prstGeom prst="rect">
            <a:avLst/>
          </a:prstGeom>
          <a:noFill/>
        </p:spPr>
        <p:txBody>
          <a:bodyPr wrap="square" lIns="0" rIns="0" tIns="0" bIns="0" anchor="t">
            <a:spAutoFit/>
          </a:bodyPr>
          <a:lstStyle/>
          <a:p>
            <a:pPr algn="l">
              <a:lnSpc>
                <a:spcPct val="116000"/>
              </a:lnSpc>
              <a:spcBef>
                <a:spcPts val="0"/>
              </a:spcBef>
              <a:spcAft>
                <a:spcPts val="0"/>
              </a:spcAft>
            </a:pPr>
            <a:r>
              <a:rPr sz="1250" b="1" i="0" spc="180">
                <a:solidFill>
                  <a:srgbClr val="6E6E6E"/>
                </a:solidFill>
                <a:latin typeface="Open Sans"/>
              </a:rPr>
              <a:t>TEST DE DIEBOLD-MARIANO  ·  ES-GBM FRENTE A LOS BENCHMARKS PRIMARIOS</a:t>
            </a:r>
          </a:p>
        </p:txBody>
      </p:sp>
      <p:sp>
        <p:nvSpPr>
          <p:cNvPr id="11" name="Rounded Rectangle 10"/>
          <p:cNvSpPr/>
          <p:nvPr/>
        </p:nvSpPr>
        <p:spPr>
          <a:xfrm>
            <a:off x="960120" y="2660904"/>
            <a:ext cx="5239512" cy="1783080"/>
          </a:xfrm>
          <a:prstGeom prst="roundRect">
            <a:avLst>
              <a:gd name="adj" fmla="val 3076"/>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Rectangle 11"/>
          <p:cNvSpPr/>
          <p:nvPr/>
        </p:nvSpPr>
        <p:spPr>
          <a:xfrm>
            <a:off x="960120" y="2660904"/>
            <a:ext cx="68580" cy="178308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TextBox 12"/>
          <p:cNvSpPr txBox="1"/>
          <p:nvPr/>
        </p:nvSpPr>
        <p:spPr>
          <a:xfrm>
            <a:off x="1417320" y="2660904"/>
            <a:ext cx="4572000" cy="1783080"/>
          </a:xfrm>
          <a:prstGeom prst="rect">
            <a:avLst/>
          </a:prstGeom>
          <a:noFill/>
        </p:spPr>
        <p:txBody>
          <a:bodyPr wrap="square" lIns="0" rIns="0" tIns="0" bIns="0" anchor="ctr">
            <a:spAutoFit/>
          </a:bodyPr>
          <a:lstStyle/>
          <a:p>
            <a:pPr algn="l">
              <a:lnSpc>
                <a:spcPct val="116000"/>
              </a:lnSpc>
              <a:spcBef>
                <a:spcPts val="0"/>
              </a:spcBef>
              <a:spcAft>
                <a:spcPts val="600"/>
              </a:spcAft>
            </a:pPr>
            <a:r>
              <a:rPr sz="1500" b="0" i="0">
                <a:solidFill>
                  <a:srgbClr val="6E6E6E"/>
                </a:solidFill>
                <a:latin typeface="Open Sans"/>
              </a:rPr>
              <a:t>vs. SARIMA</a:t>
            </a:r>
          </a:p>
          <a:p>
            <a:pPr algn="l">
              <a:lnSpc>
                <a:spcPct val="100000"/>
              </a:lnSpc>
              <a:spcBef>
                <a:spcPts val="0"/>
              </a:spcBef>
              <a:spcAft>
                <a:spcPts val="200"/>
              </a:spcAft>
            </a:pPr>
            <a:r>
              <a:rPr sz="3000" b="1" i="0">
                <a:solidFill>
                  <a:srgbClr val="005F91"/>
                </a:solidFill>
                <a:latin typeface="Open Sans"/>
              </a:rPr>
              <a:t>t = 7,84</a:t>
            </a:r>
          </a:p>
          <a:p>
            <a:pPr algn="l">
              <a:lnSpc>
                <a:spcPct val="116000"/>
              </a:lnSpc>
              <a:spcBef>
                <a:spcPts val="0"/>
              </a:spcBef>
              <a:spcAft>
                <a:spcPts val="0"/>
              </a:spcAft>
            </a:pPr>
            <a:r>
              <a:rPr sz="1500" b="1" i="0">
                <a:solidFill>
                  <a:srgbClr val="13161B"/>
                </a:solidFill>
                <a:latin typeface="Open Sans"/>
              </a:rPr>
              <a:t>p = 0,0002</a:t>
            </a:r>
          </a:p>
        </p:txBody>
      </p:sp>
      <p:sp>
        <p:nvSpPr>
          <p:cNvPr id="14" name="Rounded Rectangle 13"/>
          <p:cNvSpPr/>
          <p:nvPr/>
        </p:nvSpPr>
        <p:spPr>
          <a:xfrm>
            <a:off x="6519672" y="2660904"/>
            <a:ext cx="5239512" cy="1783080"/>
          </a:xfrm>
          <a:prstGeom prst="roundRect">
            <a:avLst>
              <a:gd name="adj" fmla="val 3076"/>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Rectangle 14"/>
          <p:cNvSpPr/>
          <p:nvPr/>
        </p:nvSpPr>
        <p:spPr>
          <a:xfrm>
            <a:off x="6519672" y="2660904"/>
            <a:ext cx="68580" cy="178308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TextBox 15"/>
          <p:cNvSpPr txBox="1"/>
          <p:nvPr/>
        </p:nvSpPr>
        <p:spPr>
          <a:xfrm>
            <a:off x="6976872" y="2660904"/>
            <a:ext cx="4572000" cy="1783080"/>
          </a:xfrm>
          <a:prstGeom prst="rect">
            <a:avLst/>
          </a:prstGeom>
          <a:noFill/>
        </p:spPr>
        <p:txBody>
          <a:bodyPr wrap="square" lIns="0" rIns="0" tIns="0" bIns="0" anchor="ctr">
            <a:spAutoFit/>
          </a:bodyPr>
          <a:lstStyle/>
          <a:p>
            <a:pPr algn="l">
              <a:lnSpc>
                <a:spcPct val="116000"/>
              </a:lnSpc>
              <a:spcBef>
                <a:spcPts val="0"/>
              </a:spcBef>
              <a:spcAft>
                <a:spcPts val="600"/>
              </a:spcAft>
            </a:pPr>
            <a:r>
              <a:rPr sz="1500" b="0" i="0">
                <a:solidFill>
                  <a:srgbClr val="6E6E6E"/>
                </a:solidFill>
                <a:latin typeface="Open Sans"/>
              </a:rPr>
              <a:t>vs. SARIMAX</a:t>
            </a:r>
          </a:p>
          <a:p>
            <a:pPr algn="l">
              <a:lnSpc>
                <a:spcPct val="100000"/>
              </a:lnSpc>
              <a:spcBef>
                <a:spcPts val="0"/>
              </a:spcBef>
              <a:spcAft>
                <a:spcPts val="200"/>
              </a:spcAft>
            </a:pPr>
            <a:r>
              <a:rPr sz="3000" b="1" i="0">
                <a:solidFill>
                  <a:srgbClr val="005F91"/>
                </a:solidFill>
                <a:latin typeface="Open Sans"/>
              </a:rPr>
              <a:t>t = 13,19</a:t>
            </a:r>
          </a:p>
          <a:p>
            <a:pPr algn="l">
              <a:lnSpc>
                <a:spcPct val="116000"/>
              </a:lnSpc>
              <a:spcBef>
                <a:spcPts val="0"/>
              </a:spcBef>
              <a:spcAft>
                <a:spcPts val="0"/>
              </a:spcAft>
            </a:pPr>
            <a:r>
              <a:rPr sz="1500" b="1" i="0">
                <a:solidFill>
                  <a:srgbClr val="13161B"/>
                </a:solidFill>
                <a:latin typeface="Open Sans"/>
              </a:rPr>
              <a:t>p &lt; 0,0001</a:t>
            </a:r>
          </a:p>
        </p:txBody>
      </p:sp>
      <p:sp>
        <p:nvSpPr>
          <p:cNvPr id="17" name="Rounded Rectangle 16"/>
          <p:cNvSpPr/>
          <p:nvPr/>
        </p:nvSpPr>
        <p:spPr>
          <a:xfrm>
            <a:off x="12079224" y="2660904"/>
            <a:ext cx="5239512" cy="1783080"/>
          </a:xfrm>
          <a:prstGeom prst="roundRect">
            <a:avLst>
              <a:gd name="adj" fmla="val 3076"/>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Rectangle 17"/>
          <p:cNvSpPr/>
          <p:nvPr/>
        </p:nvSpPr>
        <p:spPr>
          <a:xfrm>
            <a:off x="12079224" y="2660904"/>
            <a:ext cx="68580" cy="178308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9" name="TextBox 18"/>
          <p:cNvSpPr txBox="1"/>
          <p:nvPr/>
        </p:nvSpPr>
        <p:spPr>
          <a:xfrm>
            <a:off x="12536424" y="2660904"/>
            <a:ext cx="4572000" cy="1783080"/>
          </a:xfrm>
          <a:prstGeom prst="rect">
            <a:avLst/>
          </a:prstGeom>
          <a:noFill/>
        </p:spPr>
        <p:txBody>
          <a:bodyPr wrap="square" lIns="0" rIns="0" tIns="0" bIns="0" anchor="ctr">
            <a:spAutoFit/>
          </a:bodyPr>
          <a:lstStyle/>
          <a:p>
            <a:pPr algn="l">
              <a:lnSpc>
                <a:spcPct val="116000"/>
              </a:lnSpc>
              <a:spcBef>
                <a:spcPts val="0"/>
              </a:spcBef>
              <a:spcAft>
                <a:spcPts val="600"/>
              </a:spcAft>
            </a:pPr>
            <a:r>
              <a:rPr sz="1500" b="0" i="0">
                <a:solidFill>
                  <a:srgbClr val="6E6E6E"/>
                </a:solidFill>
                <a:latin typeface="Open Sans"/>
              </a:rPr>
              <a:t>vs. LSTM</a:t>
            </a:r>
          </a:p>
          <a:p>
            <a:pPr algn="l">
              <a:lnSpc>
                <a:spcPct val="100000"/>
              </a:lnSpc>
              <a:spcBef>
                <a:spcPts val="0"/>
              </a:spcBef>
              <a:spcAft>
                <a:spcPts val="200"/>
              </a:spcAft>
            </a:pPr>
            <a:r>
              <a:rPr sz="3000" b="1" i="0">
                <a:solidFill>
                  <a:srgbClr val="005F91"/>
                </a:solidFill>
                <a:latin typeface="Open Sans"/>
              </a:rPr>
              <a:t>t = 10,14</a:t>
            </a:r>
          </a:p>
          <a:p>
            <a:pPr algn="l">
              <a:lnSpc>
                <a:spcPct val="116000"/>
              </a:lnSpc>
              <a:spcBef>
                <a:spcPts val="0"/>
              </a:spcBef>
              <a:spcAft>
                <a:spcPts val="0"/>
              </a:spcAft>
            </a:pPr>
            <a:r>
              <a:rPr sz="1500" b="1" i="0">
                <a:solidFill>
                  <a:srgbClr val="13161B"/>
                </a:solidFill>
                <a:latin typeface="Open Sans"/>
              </a:rPr>
              <a:t>p = 0,0001</a:t>
            </a:r>
          </a:p>
        </p:txBody>
      </p:sp>
      <p:sp>
        <p:nvSpPr>
          <p:cNvPr id="20" name="Rounded Rectangle 19"/>
          <p:cNvSpPr/>
          <p:nvPr/>
        </p:nvSpPr>
        <p:spPr>
          <a:xfrm>
            <a:off x="960120" y="4672583"/>
            <a:ext cx="7863840" cy="2286000"/>
          </a:xfrm>
          <a:prstGeom prst="roundRect">
            <a:avLst>
              <a:gd name="adj" fmla="val 22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1" name="Rectangle 20"/>
          <p:cNvSpPr/>
          <p:nvPr/>
        </p:nvSpPr>
        <p:spPr>
          <a:xfrm>
            <a:off x="960120" y="4672583"/>
            <a:ext cx="68580" cy="228600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2" name="TextBox 21"/>
          <p:cNvSpPr txBox="1"/>
          <p:nvPr/>
        </p:nvSpPr>
        <p:spPr>
          <a:xfrm>
            <a:off x="1417320" y="5001768"/>
            <a:ext cx="7022592" cy="162763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Qué contrasta el test</a:t>
            </a:r>
          </a:p>
          <a:p>
            <a:pPr algn="l" marL="274320" indent="-274320">
              <a:lnSpc>
                <a:spcPct val="118000"/>
              </a:lnSpc>
              <a:spcBef>
                <a:spcPts val="0"/>
              </a:spcBef>
              <a:spcAft>
                <a:spcPts val="700"/>
              </a:spcAft>
            </a:pPr>
            <a:r>
              <a:rPr sz="1340" b="0" i="0">
                <a:solidFill>
                  <a:srgbClr val="394049"/>
                </a:solidFill>
                <a:latin typeface="Open Sans"/>
              </a:rPr>
              <a:t>•	Compara la precisión predictiva de dos modelos sobre exactamente los mismos datos.</a:t>
            </a:r>
          </a:p>
          <a:p>
            <a:pPr algn="l" marL="274320" indent="-274320">
              <a:lnSpc>
                <a:spcPct val="118000"/>
              </a:lnSpc>
              <a:spcBef>
                <a:spcPts val="0"/>
              </a:spcBef>
              <a:spcAft>
                <a:spcPts val="0"/>
              </a:spcAft>
            </a:pPr>
            <a:r>
              <a:rPr sz="1340" b="0" i="0">
                <a:solidFill>
                  <a:srgbClr val="394049"/>
                </a:solidFill>
                <a:latin typeface="Open Sans"/>
              </a:rPr>
              <a:t>•	Se aplicó sobre errores transversales agrupados, con función de pérdida cuadrática y corrección HAC.</a:t>
            </a:r>
          </a:p>
        </p:txBody>
      </p:sp>
      <p:sp>
        <p:nvSpPr>
          <p:cNvPr id="23" name="Rounded Rectangle 22"/>
          <p:cNvSpPr/>
          <p:nvPr/>
        </p:nvSpPr>
        <p:spPr>
          <a:xfrm>
            <a:off x="9464040" y="4672583"/>
            <a:ext cx="7863840" cy="2286000"/>
          </a:xfrm>
          <a:prstGeom prst="roundRect">
            <a:avLst>
              <a:gd name="adj" fmla="val 2200"/>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Rectangle 23"/>
          <p:cNvSpPr/>
          <p:nvPr/>
        </p:nvSpPr>
        <p:spPr>
          <a:xfrm>
            <a:off x="9464040" y="4672583"/>
            <a:ext cx="68580" cy="228600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5" name="TextBox 24"/>
          <p:cNvSpPr txBox="1"/>
          <p:nvPr/>
        </p:nvSpPr>
        <p:spPr>
          <a:xfrm>
            <a:off x="9921240" y="5001768"/>
            <a:ext cx="7022592" cy="162763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Alcance declarado en la tesis</a:t>
            </a:r>
          </a:p>
          <a:p>
            <a:pPr algn="l" marL="274320" indent="-274320">
              <a:lnSpc>
                <a:spcPct val="118000"/>
              </a:lnSpc>
              <a:spcBef>
                <a:spcPts val="0"/>
              </a:spcBef>
              <a:spcAft>
                <a:spcPts val="700"/>
              </a:spcAft>
            </a:pPr>
            <a:r>
              <a:rPr sz="1340" b="0" i="0">
                <a:solidFill>
                  <a:srgbClr val="394049"/>
                </a:solidFill>
                <a:latin typeface="Open Sans"/>
              </a:rPr>
              <a:t>•	Evalúa diferencias bajo pérdida cuadrática: no es un contraste directo sobre el WAPE, sino un respaldo inferencial consistente.</a:t>
            </a:r>
          </a:p>
          <a:p>
            <a:pPr algn="l" marL="274320" indent="-274320">
              <a:lnSpc>
                <a:spcPct val="118000"/>
              </a:lnSpc>
              <a:spcBef>
                <a:spcPts val="0"/>
              </a:spcBef>
              <a:spcAft>
                <a:spcPts val="0"/>
              </a:spcAft>
            </a:pPr>
            <a:r>
              <a:rPr sz="1340" b="0" i="0">
                <a:solidFill>
                  <a:srgbClr val="394049"/>
                </a:solidFill>
                <a:latin typeface="Open Sans"/>
              </a:rPr>
              <a:t>•	Para Chronos-Bolt, Croston, SBA y Seasonal Naïve la comparación se mantiene descriptiva: el protocolo inferencial se delimitó a priori.</a:t>
            </a:r>
          </a:p>
        </p:txBody>
      </p:sp>
      <p:sp>
        <p:nvSpPr>
          <p:cNvPr id="26" name="Rounded Rectangle 25"/>
          <p:cNvSpPr/>
          <p:nvPr/>
        </p:nvSpPr>
        <p:spPr>
          <a:xfrm>
            <a:off x="960120" y="7141464"/>
            <a:ext cx="16367759" cy="1371600"/>
          </a:xfrm>
          <a:prstGeom prst="roundRect">
            <a:avLst>
              <a:gd name="adj" fmla="val 3666"/>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7" name="Rectangle 26"/>
          <p:cNvSpPr/>
          <p:nvPr/>
        </p:nvSpPr>
        <p:spPr>
          <a:xfrm>
            <a:off x="960120" y="7141464"/>
            <a:ext cx="68580" cy="1371600"/>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8" name="TextBox 27"/>
          <p:cNvSpPr txBox="1"/>
          <p:nvPr/>
        </p:nvSpPr>
        <p:spPr>
          <a:xfrm>
            <a:off x="1417320" y="7470648"/>
            <a:ext cx="15526512" cy="713232"/>
          </a:xfrm>
          <a:prstGeom prst="rect">
            <a:avLst/>
          </a:prstGeom>
          <a:noFill/>
        </p:spPr>
        <p:txBody>
          <a:bodyPr wrap="square" lIns="0" rIns="0" tIns="0" bIns="0" anchor="t">
            <a:spAutoFit/>
          </a:bodyPr>
          <a:lstStyle/>
          <a:p>
            <a:pPr algn="l">
              <a:lnSpc>
                <a:spcPct val="112000"/>
              </a:lnSpc>
              <a:spcBef>
                <a:spcPts val="0"/>
              </a:spcBef>
              <a:spcAft>
                <a:spcPts val="800"/>
              </a:spcAft>
            </a:pPr>
            <a:r>
              <a:rPr sz="1650" b="1" i="0">
                <a:solidFill>
                  <a:srgbClr val="13161B"/>
                </a:solidFill>
                <a:latin typeface="Open Sans"/>
              </a:rPr>
              <a:t>Advertencia metodológica reconocida</a:t>
            </a:r>
          </a:p>
          <a:p>
            <a:pPr algn="l">
              <a:lnSpc>
                <a:spcPct val="120000"/>
              </a:lnSpc>
              <a:spcBef>
                <a:spcPts val="0"/>
              </a:spcBef>
              <a:spcAft>
                <a:spcPts val="0"/>
              </a:spcAft>
            </a:pPr>
            <a:r>
              <a:rPr sz="1340" b="0" i="0">
                <a:solidFill>
                  <a:srgbClr val="394049"/>
                </a:solidFill>
                <a:latin typeface="Open Sans"/>
              </a:rPr>
              <a:t>La literatura econométrica advierte sobre aplicar Diebold-Mariano a paneles agrupados en horizontes cortos: por eso el test se presenta como evidencia complementaria y no como el argumento central.</a:t>
            </a:r>
          </a:p>
        </p:txBody>
      </p:sp>
      <p:sp>
        <p:nvSpPr>
          <p:cNvPr id="29" name="Rounded Rectangle 28"/>
          <p:cNvSpPr/>
          <p:nvPr/>
        </p:nvSpPr>
        <p:spPr>
          <a:xfrm>
            <a:off x="960120" y="8695944"/>
            <a:ext cx="16367759" cy="640080"/>
          </a:xfrm>
          <a:prstGeom prst="roundRect">
            <a:avLst>
              <a:gd name="adj" fmla="val 7857"/>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1417320" y="8695944"/>
            <a:ext cx="15453359" cy="640080"/>
          </a:xfrm>
          <a:prstGeom prst="rect">
            <a:avLst/>
          </a:prstGeom>
          <a:noFill/>
        </p:spPr>
        <p:txBody>
          <a:bodyPr wrap="square" lIns="0" rIns="0" tIns="0" bIns="0" anchor="ctr">
            <a:spAutoFit/>
          </a:bodyPr>
          <a:lstStyle/>
          <a:p>
            <a:pPr algn="ctr">
              <a:lnSpc>
                <a:spcPct val="118000"/>
              </a:lnSpc>
              <a:spcBef>
                <a:spcPts val="0"/>
              </a:spcBef>
              <a:spcAft>
                <a:spcPts val="0"/>
              </a:spcAft>
            </a:pPr>
            <a:r>
              <a:rPr sz="1550" b="1" i="0">
                <a:solidFill>
                  <a:srgbClr val="FFFFFF"/>
                </a:solidFill>
                <a:latin typeface="Open Sans"/>
              </a:rPr>
              <a:t>La ventaja del ES-GBM sobre los tres benchmarks primarios no se explica por azar muestral.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A11</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Pronóstico vs. demanda real por modelo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34</a:t>
            </a:r>
          </a:p>
        </p:txBody>
      </p:sp>
      <p:sp>
        <p:nvSpPr>
          <p:cNvPr id="10" name="Rounded Rectangle 9"/>
          <p:cNvSpPr/>
          <p:nvPr/>
        </p:nvSpPr>
        <p:spPr>
          <a:xfrm>
            <a:off x="960120" y="2249424"/>
            <a:ext cx="16367759" cy="6309360"/>
          </a:xfrm>
          <a:prstGeom prst="roundRect">
            <a:avLst>
              <a:gd name="adj" fmla="val 869"/>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fig5_1.png"/>
          <p:cNvPicPr>
            <a:picLocks noChangeAspect="1"/>
          </p:cNvPicPr>
          <p:nvPr/>
        </p:nvPicPr>
        <p:blipFill>
          <a:blip r:embed="rId2"/>
          <a:stretch>
            <a:fillRect/>
          </a:stretch>
        </p:blipFill>
        <p:spPr>
          <a:xfrm>
            <a:off x="3957819" y="2523744"/>
            <a:ext cx="10372360" cy="5760720"/>
          </a:xfrm>
          <a:prstGeom prst="rect">
            <a:avLst/>
          </a:prstGeom>
        </p:spPr>
      </p:pic>
      <p:sp>
        <p:nvSpPr>
          <p:cNvPr id="12" name="TextBox 11"/>
          <p:cNvSpPr txBox="1"/>
          <p:nvPr/>
        </p:nvSpPr>
        <p:spPr>
          <a:xfrm>
            <a:off x="960120" y="8695944"/>
            <a:ext cx="16367759"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Seis arquitecturas representativas contra la demanda observada del Top 100 SKUs en la ventana de prueba.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A12</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Diagnóstico de residuos del modelo propuesto</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35</a:t>
            </a:r>
          </a:p>
        </p:txBody>
      </p:sp>
      <p:sp>
        <p:nvSpPr>
          <p:cNvPr id="10" name="Rounded Rectangle 9"/>
          <p:cNvSpPr/>
          <p:nvPr/>
        </p:nvSpPr>
        <p:spPr>
          <a:xfrm>
            <a:off x="960120" y="2249424"/>
            <a:ext cx="16367759" cy="4206240"/>
          </a:xfrm>
          <a:prstGeom prst="roundRect">
            <a:avLst>
              <a:gd name="adj" fmla="val 1304"/>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fig5_5.png"/>
          <p:cNvPicPr>
            <a:picLocks noChangeAspect="1"/>
          </p:cNvPicPr>
          <p:nvPr/>
        </p:nvPicPr>
        <p:blipFill>
          <a:blip r:embed="rId2"/>
          <a:stretch>
            <a:fillRect/>
          </a:stretch>
        </p:blipFill>
        <p:spPr>
          <a:xfrm>
            <a:off x="3425896" y="2523744"/>
            <a:ext cx="11436206" cy="3657600"/>
          </a:xfrm>
          <a:prstGeom prst="rect">
            <a:avLst/>
          </a:prstGeom>
        </p:spPr>
      </p:pic>
      <p:sp>
        <p:nvSpPr>
          <p:cNvPr id="12" name="Rounded Rectangle 11"/>
          <p:cNvSpPr/>
          <p:nvPr/>
        </p:nvSpPr>
        <p:spPr>
          <a:xfrm>
            <a:off x="960120" y="6729984"/>
            <a:ext cx="8001000" cy="2377440"/>
          </a:xfrm>
          <a:prstGeom prst="roundRect">
            <a:avLst>
              <a:gd name="adj" fmla="val 211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3" name="Rectangle 12"/>
          <p:cNvSpPr/>
          <p:nvPr/>
        </p:nvSpPr>
        <p:spPr>
          <a:xfrm>
            <a:off x="960120" y="6729984"/>
            <a:ext cx="68580" cy="237744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TextBox 13"/>
          <p:cNvSpPr txBox="1"/>
          <p:nvPr/>
        </p:nvSpPr>
        <p:spPr>
          <a:xfrm>
            <a:off x="1417320" y="7059168"/>
            <a:ext cx="7159752" cy="1719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Qué muestra el diagnóstico</a:t>
            </a:r>
          </a:p>
          <a:p>
            <a:pPr algn="l" marL="274320" indent="-274320">
              <a:lnSpc>
                <a:spcPct val="118000"/>
              </a:lnSpc>
              <a:spcBef>
                <a:spcPts val="0"/>
              </a:spcBef>
              <a:spcAft>
                <a:spcPts val="700"/>
              </a:spcAft>
            </a:pPr>
            <a:r>
              <a:rPr sz="1420" b="0" i="0">
                <a:solidFill>
                  <a:srgbClr val="394049"/>
                </a:solidFill>
                <a:latin typeface="Open Sans"/>
              </a:rPr>
              <a:t>•	Residuos aproximadamente simétricos y centrados en cero.</a:t>
            </a:r>
          </a:p>
          <a:p>
            <a:pPr algn="l" marL="274320" indent="-274320">
              <a:lnSpc>
                <a:spcPct val="118000"/>
              </a:lnSpc>
              <a:spcBef>
                <a:spcPts val="0"/>
              </a:spcBef>
              <a:spcAft>
                <a:spcPts val="0"/>
              </a:spcAft>
            </a:pPr>
            <a:r>
              <a:rPr sz="1420" b="0" i="0">
                <a:solidFill>
                  <a:srgbClr val="394049"/>
                </a:solidFill>
                <a:latin typeface="Open Sans"/>
              </a:rPr>
              <a:t>•	Ljung–Box (lag 12): Q = 8,42 con p = 0,751; no se rechaza la ausencia de autocorrelación.</a:t>
            </a:r>
          </a:p>
        </p:txBody>
      </p:sp>
      <p:sp>
        <p:nvSpPr>
          <p:cNvPr id="15" name="Rounded Rectangle 14"/>
          <p:cNvSpPr/>
          <p:nvPr/>
        </p:nvSpPr>
        <p:spPr>
          <a:xfrm>
            <a:off x="9326880" y="6729984"/>
            <a:ext cx="8001000" cy="2377440"/>
          </a:xfrm>
          <a:prstGeom prst="roundRect">
            <a:avLst>
              <a:gd name="adj" fmla="val 2115"/>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9326880" y="6729984"/>
            <a:ext cx="68580" cy="2377440"/>
          </a:xfrm>
          <a:prstGeom prst="rect">
            <a:avLst/>
          </a:prstGeom>
          <a:solidFill>
            <a:srgbClr val="9AA1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9784080" y="7059168"/>
            <a:ext cx="7159752" cy="171907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Alcance de la conclusión</a:t>
            </a:r>
          </a:p>
          <a:p>
            <a:pPr algn="l" marL="274320" indent="-274320">
              <a:lnSpc>
                <a:spcPct val="118000"/>
              </a:lnSpc>
              <a:spcBef>
                <a:spcPts val="0"/>
              </a:spcBef>
              <a:spcAft>
                <a:spcPts val="700"/>
              </a:spcAft>
            </a:pPr>
            <a:r>
              <a:rPr sz="1420" b="0" i="0">
                <a:solidFill>
                  <a:srgbClr val="394049"/>
                </a:solidFill>
                <a:latin typeface="Open Sans"/>
              </a:rPr>
              <a:t>•	Shapiro–Wilk p = 0,184: compatible con normalidad, sin constituir prueba definitiva.</a:t>
            </a:r>
          </a:p>
          <a:p>
            <a:pPr algn="l" marL="274320" indent="-274320">
              <a:lnSpc>
                <a:spcPct val="118000"/>
              </a:lnSpc>
              <a:spcBef>
                <a:spcPts val="0"/>
              </a:spcBef>
              <a:spcAft>
                <a:spcPts val="0"/>
              </a:spcAft>
            </a:pPr>
            <a:r>
              <a:rPr sz="1420" b="0" i="0">
                <a:solidFill>
                  <a:srgbClr val="394049"/>
                </a:solidFill>
                <a:latin typeface="Open Sans"/>
              </a:rPr>
              <a:t>•	No se afirma homocedasticidad estricta; la evidencia es consistente con un comportamiento residual adecuado.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A13</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Intermitencia: del catálogo completo a un SKU</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36</a:t>
            </a:r>
          </a:p>
        </p:txBody>
      </p:sp>
      <p:sp>
        <p:nvSpPr>
          <p:cNvPr id="10" name="Rounded Rectangle 9"/>
          <p:cNvSpPr/>
          <p:nvPr/>
        </p:nvSpPr>
        <p:spPr>
          <a:xfrm>
            <a:off x="960120" y="2249424"/>
            <a:ext cx="9509760" cy="6446520"/>
          </a:xfrm>
          <a:prstGeom prst="roundRect">
            <a:avLst>
              <a:gd name="adj" fmla="val 851"/>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image8.png"/>
          <p:cNvPicPr>
            <a:picLocks noChangeAspect="1"/>
          </p:cNvPicPr>
          <p:nvPr/>
        </p:nvPicPr>
        <p:blipFill>
          <a:blip r:embed="rId2"/>
          <a:stretch>
            <a:fillRect/>
          </a:stretch>
        </p:blipFill>
        <p:spPr>
          <a:xfrm>
            <a:off x="1234440" y="2547507"/>
            <a:ext cx="8961120" cy="5576032"/>
          </a:xfrm>
          <a:prstGeom prst="rect">
            <a:avLst/>
          </a:prstGeom>
        </p:spPr>
      </p:pic>
      <p:sp>
        <p:nvSpPr>
          <p:cNvPr id="12" name="TextBox 11"/>
          <p:cNvSpPr txBox="1"/>
          <p:nvPr/>
        </p:nvSpPr>
        <p:spPr>
          <a:xfrm>
            <a:off x="1234440" y="8238744"/>
            <a:ext cx="896112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Matriz de demanda: 100 SKUs × 66 meses.</a:t>
            </a:r>
          </a:p>
        </p:txBody>
      </p:sp>
      <p:sp>
        <p:nvSpPr>
          <p:cNvPr id="13" name="Rounded Rectangle 12"/>
          <p:cNvSpPr/>
          <p:nvPr/>
        </p:nvSpPr>
        <p:spPr>
          <a:xfrm>
            <a:off x="10835640" y="2249424"/>
            <a:ext cx="6492240" cy="3108960"/>
          </a:xfrm>
          <a:prstGeom prst="roundRect">
            <a:avLst>
              <a:gd name="adj" fmla="val 1764"/>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image3.png"/>
          <p:cNvPicPr>
            <a:picLocks noChangeAspect="1"/>
          </p:cNvPicPr>
          <p:nvPr/>
        </p:nvPicPr>
        <p:blipFill>
          <a:blip r:embed="rId3"/>
          <a:stretch>
            <a:fillRect/>
          </a:stretch>
        </p:blipFill>
        <p:spPr>
          <a:xfrm>
            <a:off x="11018520" y="2802559"/>
            <a:ext cx="6126480" cy="2002689"/>
          </a:xfrm>
          <a:prstGeom prst="rect">
            <a:avLst/>
          </a:prstGeom>
        </p:spPr>
      </p:pic>
      <p:sp>
        <p:nvSpPr>
          <p:cNvPr id="15" name="TextBox 14"/>
          <p:cNvSpPr txBox="1"/>
          <p:nvPr/>
        </p:nvSpPr>
        <p:spPr>
          <a:xfrm>
            <a:off x="11018520" y="5449824"/>
            <a:ext cx="612648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Ejemplo individual: 62 % de meses en cero.</a:t>
            </a:r>
          </a:p>
        </p:txBody>
      </p:sp>
      <p:sp>
        <p:nvSpPr>
          <p:cNvPr id="16" name="Rounded Rectangle 15"/>
          <p:cNvSpPr/>
          <p:nvPr/>
        </p:nvSpPr>
        <p:spPr>
          <a:xfrm>
            <a:off x="10835640" y="5907024"/>
            <a:ext cx="6492240" cy="2788920"/>
          </a:xfrm>
          <a:prstGeom prst="roundRect">
            <a:avLst>
              <a:gd name="adj" fmla="val 1803"/>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Rectangle 16"/>
          <p:cNvSpPr/>
          <p:nvPr/>
        </p:nvSpPr>
        <p:spPr>
          <a:xfrm>
            <a:off x="10835640" y="5907024"/>
            <a:ext cx="68580" cy="278892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1292840" y="6236208"/>
            <a:ext cx="5650992" cy="213055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Lectura</a:t>
            </a:r>
          </a:p>
          <a:p>
            <a:pPr algn="l" marL="274320" indent="-274320">
              <a:lnSpc>
                <a:spcPct val="118000"/>
              </a:lnSpc>
              <a:spcBef>
                <a:spcPts val="0"/>
              </a:spcBef>
              <a:spcAft>
                <a:spcPts val="700"/>
              </a:spcAft>
            </a:pPr>
            <a:r>
              <a:rPr sz="1380" b="0" i="0">
                <a:solidFill>
                  <a:srgbClr val="394049"/>
                </a:solidFill>
                <a:latin typeface="Open Sans"/>
              </a:rPr>
              <a:t>•	La intermitencia no es homogénea: convive con familias de rotación continua.</a:t>
            </a:r>
          </a:p>
          <a:p>
            <a:pPr algn="l" marL="274320" indent="-274320">
              <a:lnSpc>
                <a:spcPct val="118000"/>
              </a:lnSpc>
              <a:spcBef>
                <a:spcPts val="0"/>
              </a:spcBef>
              <a:spcAft>
                <a:spcPts val="700"/>
              </a:spcAft>
            </a:pPr>
            <a:r>
              <a:rPr sz="1380" b="0" i="0">
                <a:solidFill>
                  <a:srgbClr val="394049"/>
                </a:solidFill>
                <a:latin typeface="Open Sans"/>
              </a:rPr>
              <a:t>•	Modelar el SKU aislado obliga a predecir la ocurrencia y la magnitud a la vez.</a:t>
            </a:r>
          </a:p>
          <a:p>
            <a:pPr algn="l" marL="274320" indent="-274320">
              <a:lnSpc>
                <a:spcPct val="118000"/>
              </a:lnSpc>
              <a:spcBef>
                <a:spcPts val="0"/>
              </a:spcBef>
              <a:spcAft>
                <a:spcPts val="0"/>
              </a:spcAft>
            </a:pPr>
            <a:r>
              <a:rPr sz="1380" b="0" i="0">
                <a:solidFill>
                  <a:srgbClr val="394049"/>
                </a:solidFill>
                <a:latin typeface="Open Sans"/>
              </a:rPr>
              <a:t>•	La agregación a familia recupera una señal continua y estacional.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A14</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Matriz de sensibilidad del impacto financiero (Tabla 6.1)</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37</a:t>
            </a:r>
          </a:p>
        </p:txBody>
      </p:sp>
      <p:sp>
        <p:nvSpPr>
          <p:cNvPr id="10" name="TextBox 9"/>
          <p:cNvSpPr txBox="1"/>
          <p:nvPr/>
        </p:nvSpPr>
        <p:spPr>
          <a:xfrm>
            <a:off x="960120" y="2249424"/>
            <a:ext cx="16367759" cy="365760"/>
          </a:xfrm>
          <a:prstGeom prst="rect">
            <a:avLst/>
          </a:prstGeom>
          <a:noFill/>
        </p:spPr>
        <p:txBody>
          <a:bodyPr wrap="square" lIns="0" rIns="0" tIns="0" bIns="0" anchor="t">
            <a:spAutoFit/>
          </a:bodyPr>
          <a:lstStyle/>
          <a:p>
            <a:pPr algn="l">
              <a:lnSpc>
                <a:spcPct val="116000"/>
              </a:lnSpc>
              <a:spcBef>
                <a:spcPts val="0"/>
              </a:spcBef>
              <a:spcAft>
                <a:spcPts val="0"/>
              </a:spcAft>
            </a:pPr>
            <a:r>
              <a:rPr sz="1250" b="1" i="0" spc="160">
                <a:solidFill>
                  <a:srgbClr val="6E6E6E"/>
                </a:solidFill>
                <a:latin typeface="Open Sans"/>
              </a:rPr>
              <a:t>PANEL A  ·  GESTIÓN DESCENTRALIZADA POR SKU (K = 100 · 7.041 UNIDADES LIBERADAS)</a:t>
            </a:r>
          </a:p>
        </p:txBody>
      </p:sp>
      <p:sp>
        <p:nvSpPr>
          <p:cNvPr id="11" name="Rectangle 10"/>
          <p:cNvSpPr/>
          <p:nvPr/>
        </p:nvSpPr>
        <p:spPr>
          <a:xfrm>
            <a:off x="960120" y="2706624"/>
            <a:ext cx="16367759" cy="566928"/>
          </a:xfrm>
          <a:prstGeom prst="rect">
            <a:avLst/>
          </a:prstGeom>
          <a:solidFill>
            <a:srgbClr val="1316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216152" y="2706624"/>
            <a:ext cx="4389120" cy="566928"/>
          </a:xfrm>
          <a:prstGeom prst="rect">
            <a:avLst/>
          </a:prstGeom>
          <a:noFill/>
        </p:spPr>
        <p:txBody>
          <a:bodyPr wrap="square" lIns="0" rIns="0" tIns="0" bIns="0" anchor="ctr">
            <a:spAutoFit/>
          </a:bodyPr>
          <a:lstStyle/>
          <a:p>
            <a:pPr algn="l">
              <a:lnSpc>
                <a:spcPct val="116000"/>
              </a:lnSpc>
              <a:spcBef>
                <a:spcPts val="0"/>
              </a:spcBef>
              <a:spcAft>
                <a:spcPts val="0"/>
              </a:spcAft>
            </a:pPr>
            <a:r>
              <a:rPr sz="1300" b="1" i="0">
                <a:solidFill>
                  <a:srgbClr val="FFFFFF"/>
                </a:solidFill>
                <a:latin typeface="Open Sans"/>
              </a:rPr>
              <a:t>Escenario de costo y tasa</a:t>
            </a:r>
          </a:p>
        </p:txBody>
      </p:sp>
      <p:sp>
        <p:nvSpPr>
          <p:cNvPr id="13" name="TextBox 12"/>
          <p:cNvSpPr txBox="1"/>
          <p:nvPr/>
        </p:nvSpPr>
        <p:spPr>
          <a:xfrm>
            <a:off x="5971032" y="2706624"/>
            <a:ext cx="2194560" cy="566928"/>
          </a:xfrm>
          <a:prstGeom prst="rect">
            <a:avLst/>
          </a:prstGeom>
          <a:noFill/>
        </p:spPr>
        <p:txBody>
          <a:bodyPr wrap="square" lIns="0" rIns="0" tIns="0" bIns="0" anchor="ctr">
            <a:spAutoFit/>
          </a:bodyPr>
          <a:lstStyle/>
          <a:p>
            <a:pPr algn="l">
              <a:lnSpc>
                <a:spcPct val="116000"/>
              </a:lnSpc>
              <a:spcBef>
                <a:spcPts val="0"/>
              </a:spcBef>
              <a:spcAft>
                <a:spcPts val="0"/>
              </a:spcAft>
            </a:pPr>
            <a:r>
              <a:rPr sz="1300" b="1" i="0">
                <a:solidFill>
                  <a:srgbClr val="FFFFFF"/>
                </a:solidFill>
                <a:latin typeface="Open Sans"/>
              </a:rPr>
              <a:t>Costo reposición (c)</a:t>
            </a:r>
          </a:p>
        </p:txBody>
      </p:sp>
      <p:sp>
        <p:nvSpPr>
          <p:cNvPr id="14" name="TextBox 13"/>
          <p:cNvSpPr txBox="1"/>
          <p:nvPr/>
        </p:nvSpPr>
        <p:spPr>
          <a:xfrm>
            <a:off x="8531352" y="2706624"/>
            <a:ext cx="2377440" cy="566928"/>
          </a:xfrm>
          <a:prstGeom prst="rect">
            <a:avLst/>
          </a:prstGeom>
          <a:noFill/>
        </p:spPr>
        <p:txBody>
          <a:bodyPr wrap="square" lIns="0" rIns="0" tIns="0" bIns="0" anchor="ctr">
            <a:spAutoFit/>
          </a:bodyPr>
          <a:lstStyle/>
          <a:p>
            <a:pPr algn="l">
              <a:lnSpc>
                <a:spcPct val="116000"/>
              </a:lnSpc>
              <a:spcBef>
                <a:spcPts val="0"/>
              </a:spcBef>
              <a:spcAft>
                <a:spcPts val="0"/>
              </a:spcAft>
            </a:pPr>
            <a:r>
              <a:rPr sz="1300" b="1" i="0">
                <a:solidFill>
                  <a:srgbClr val="FFFFFF"/>
                </a:solidFill>
                <a:latin typeface="Open Sans"/>
              </a:rPr>
              <a:t>Tasa holding (i)</a:t>
            </a:r>
          </a:p>
        </p:txBody>
      </p:sp>
      <p:sp>
        <p:nvSpPr>
          <p:cNvPr id="15" name="TextBox 14"/>
          <p:cNvSpPr txBox="1"/>
          <p:nvPr/>
        </p:nvSpPr>
        <p:spPr>
          <a:xfrm>
            <a:off x="11274552" y="2706624"/>
            <a:ext cx="2743200" cy="566928"/>
          </a:xfrm>
          <a:prstGeom prst="rect">
            <a:avLst/>
          </a:prstGeom>
          <a:noFill/>
        </p:spPr>
        <p:txBody>
          <a:bodyPr wrap="square" lIns="0" rIns="0" tIns="0" bIns="0" anchor="ctr">
            <a:spAutoFit/>
          </a:bodyPr>
          <a:lstStyle/>
          <a:p>
            <a:pPr algn="l">
              <a:lnSpc>
                <a:spcPct val="116000"/>
              </a:lnSpc>
              <a:spcBef>
                <a:spcPts val="0"/>
              </a:spcBef>
              <a:spcAft>
                <a:spcPts val="0"/>
              </a:spcAft>
            </a:pPr>
            <a:r>
              <a:rPr sz="1300" b="1" i="0">
                <a:solidFill>
                  <a:srgbClr val="FFFFFF"/>
                </a:solidFill>
                <a:latin typeface="Open Sans"/>
              </a:rPr>
              <a:t>Capital liberado</a:t>
            </a:r>
          </a:p>
        </p:txBody>
      </p:sp>
      <p:sp>
        <p:nvSpPr>
          <p:cNvPr id="16" name="TextBox 15"/>
          <p:cNvSpPr txBox="1"/>
          <p:nvPr/>
        </p:nvSpPr>
        <p:spPr>
          <a:xfrm>
            <a:off x="14383512" y="2706624"/>
            <a:ext cx="2834640" cy="566928"/>
          </a:xfrm>
          <a:prstGeom prst="rect">
            <a:avLst/>
          </a:prstGeom>
          <a:noFill/>
        </p:spPr>
        <p:txBody>
          <a:bodyPr wrap="square" lIns="0" rIns="0" tIns="0" bIns="0" anchor="ctr">
            <a:spAutoFit/>
          </a:bodyPr>
          <a:lstStyle/>
          <a:p>
            <a:pPr algn="l">
              <a:lnSpc>
                <a:spcPct val="116000"/>
              </a:lnSpc>
              <a:spcBef>
                <a:spcPts val="0"/>
              </a:spcBef>
              <a:spcAft>
                <a:spcPts val="0"/>
              </a:spcAft>
            </a:pPr>
            <a:r>
              <a:rPr sz="1300" b="1" i="0">
                <a:solidFill>
                  <a:srgbClr val="FFFFFF"/>
                </a:solidFill>
                <a:latin typeface="Open Sans"/>
              </a:rPr>
              <a:t>Ahorro anual</a:t>
            </a:r>
          </a:p>
        </p:txBody>
      </p:sp>
      <p:sp>
        <p:nvSpPr>
          <p:cNvPr id="17" name="Rectangle 16"/>
          <p:cNvSpPr/>
          <p:nvPr/>
        </p:nvSpPr>
        <p:spPr>
          <a:xfrm>
            <a:off x="960120" y="3273552"/>
            <a:ext cx="16367759" cy="713232"/>
          </a:xfrm>
          <a:prstGeom prst="rect">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8" name="TextBox 17"/>
          <p:cNvSpPr txBox="1"/>
          <p:nvPr/>
        </p:nvSpPr>
        <p:spPr>
          <a:xfrm>
            <a:off x="1216152" y="3273552"/>
            <a:ext cx="438912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Conservador</a:t>
            </a:r>
          </a:p>
        </p:txBody>
      </p:sp>
      <p:sp>
        <p:nvSpPr>
          <p:cNvPr id="19" name="TextBox 18"/>
          <p:cNvSpPr txBox="1"/>
          <p:nvPr/>
        </p:nvSpPr>
        <p:spPr>
          <a:xfrm>
            <a:off x="5971032" y="3273552"/>
            <a:ext cx="219456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$12.000</a:t>
            </a:r>
          </a:p>
        </p:txBody>
      </p:sp>
      <p:sp>
        <p:nvSpPr>
          <p:cNvPr id="20" name="TextBox 19"/>
          <p:cNvSpPr txBox="1"/>
          <p:nvPr/>
        </p:nvSpPr>
        <p:spPr>
          <a:xfrm>
            <a:off x="8531352" y="3273552"/>
            <a:ext cx="237744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18 %</a:t>
            </a:r>
          </a:p>
        </p:txBody>
      </p:sp>
      <p:sp>
        <p:nvSpPr>
          <p:cNvPr id="21" name="TextBox 20"/>
          <p:cNvSpPr txBox="1"/>
          <p:nvPr/>
        </p:nvSpPr>
        <p:spPr>
          <a:xfrm>
            <a:off x="11274552" y="3273552"/>
            <a:ext cx="274320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$84,5M CLP</a:t>
            </a:r>
          </a:p>
        </p:txBody>
      </p:sp>
      <p:sp>
        <p:nvSpPr>
          <p:cNvPr id="22" name="TextBox 21"/>
          <p:cNvSpPr txBox="1"/>
          <p:nvPr/>
        </p:nvSpPr>
        <p:spPr>
          <a:xfrm>
            <a:off x="14383512" y="3273552"/>
            <a:ext cx="283464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$15,2M CLP/año</a:t>
            </a:r>
          </a:p>
        </p:txBody>
      </p:sp>
      <p:sp>
        <p:nvSpPr>
          <p:cNvPr id="23" name="Rectangle 22"/>
          <p:cNvSpPr/>
          <p:nvPr/>
        </p:nvSpPr>
        <p:spPr>
          <a:xfrm>
            <a:off x="960120" y="3986784"/>
            <a:ext cx="16367759" cy="713232"/>
          </a:xfrm>
          <a:prstGeom prst="rect">
            <a:avLst/>
          </a:prstGeom>
          <a:solidFill>
            <a:srgbClr val="F5F7F9"/>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24" name="TextBox 23"/>
          <p:cNvSpPr txBox="1"/>
          <p:nvPr/>
        </p:nvSpPr>
        <p:spPr>
          <a:xfrm>
            <a:off x="1216152" y="3986784"/>
            <a:ext cx="438912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1" i="0">
                <a:solidFill>
                  <a:srgbClr val="13161B"/>
                </a:solidFill>
                <a:latin typeface="Open Sans"/>
              </a:rPr>
              <a:t>Caso base</a:t>
            </a:r>
          </a:p>
        </p:txBody>
      </p:sp>
      <p:sp>
        <p:nvSpPr>
          <p:cNvPr id="25" name="TextBox 24"/>
          <p:cNvSpPr txBox="1"/>
          <p:nvPr/>
        </p:nvSpPr>
        <p:spPr>
          <a:xfrm>
            <a:off x="5971032" y="3986784"/>
            <a:ext cx="219456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1" i="0">
                <a:solidFill>
                  <a:srgbClr val="13161B"/>
                </a:solidFill>
                <a:latin typeface="Open Sans"/>
              </a:rPr>
              <a:t>$15.000</a:t>
            </a:r>
          </a:p>
        </p:txBody>
      </p:sp>
      <p:sp>
        <p:nvSpPr>
          <p:cNvPr id="26" name="TextBox 25"/>
          <p:cNvSpPr txBox="1"/>
          <p:nvPr/>
        </p:nvSpPr>
        <p:spPr>
          <a:xfrm>
            <a:off x="8531352" y="3986784"/>
            <a:ext cx="237744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1" i="0">
                <a:solidFill>
                  <a:srgbClr val="13161B"/>
                </a:solidFill>
                <a:latin typeface="Open Sans"/>
              </a:rPr>
              <a:t>22 %</a:t>
            </a:r>
          </a:p>
        </p:txBody>
      </p:sp>
      <p:sp>
        <p:nvSpPr>
          <p:cNvPr id="27" name="TextBox 26"/>
          <p:cNvSpPr txBox="1"/>
          <p:nvPr/>
        </p:nvSpPr>
        <p:spPr>
          <a:xfrm>
            <a:off x="11274552" y="3986784"/>
            <a:ext cx="274320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1" i="0">
                <a:solidFill>
                  <a:srgbClr val="005F91"/>
                </a:solidFill>
                <a:latin typeface="Open Sans"/>
              </a:rPr>
              <a:t>$105,6M CLP</a:t>
            </a:r>
          </a:p>
        </p:txBody>
      </p:sp>
      <p:sp>
        <p:nvSpPr>
          <p:cNvPr id="28" name="TextBox 27"/>
          <p:cNvSpPr txBox="1"/>
          <p:nvPr/>
        </p:nvSpPr>
        <p:spPr>
          <a:xfrm>
            <a:off x="14383512" y="3986784"/>
            <a:ext cx="283464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1" i="0">
                <a:solidFill>
                  <a:srgbClr val="005F91"/>
                </a:solidFill>
                <a:latin typeface="Open Sans"/>
              </a:rPr>
              <a:t>$23,2M CLP/año</a:t>
            </a:r>
          </a:p>
        </p:txBody>
      </p:sp>
      <p:sp>
        <p:nvSpPr>
          <p:cNvPr id="29" name="Rectangle 28"/>
          <p:cNvSpPr/>
          <p:nvPr/>
        </p:nvSpPr>
        <p:spPr>
          <a:xfrm>
            <a:off x="960120" y="4700016"/>
            <a:ext cx="16367759" cy="713232"/>
          </a:xfrm>
          <a:prstGeom prst="rect">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0" name="TextBox 29"/>
          <p:cNvSpPr txBox="1"/>
          <p:nvPr/>
        </p:nvSpPr>
        <p:spPr>
          <a:xfrm>
            <a:off x="1216152" y="4700016"/>
            <a:ext cx="438912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Exigente (alta merma)</a:t>
            </a:r>
          </a:p>
        </p:txBody>
      </p:sp>
      <p:sp>
        <p:nvSpPr>
          <p:cNvPr id="31" name="TextBox 30"/>
          <p:cNvSpPr txBox="1"/>
          <p:nvPr/>
        </p:nvSpPr>
        <p:spPr>
          <a:xfrm>
            <a:off x="5971032" y="4700016"/>
            <a:ext cx="219456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$18.000</a:t>
            </a:r>
          </a:p>
        </p:txBody>
      </p:sp>
      <p:sp>
        <p:nvSpPr>
          <p:cNvPr id="32" name="TextBox 31"/>
          <p:cNvSpPr txBox="1"/>
          <p:nvPr/>
        </p:nvSpPr>
        <p:spPr>
          <a:xfrm>
            <a:off x="8531352" y="4700016"/>
            <a:ext cx="237744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26 %</a:t>
            </a:r>
          </a:p>
        </p:txBody>
      </p:sp>
      <p:sp>
        <p:nvSpPr>
          <p:cNvPr id="33" name="TextBox 32"/>
          <p:cNvSpPr txBox="1"/>
          <p:nvPr/>
        </p:nvSpPr>
        <p:spPr>
          <a:xfrm>
            <a:off x="11274552" y="4700016"/>
            <a:ext cx="274320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$126,8M CLP</a:t>
            </a:r>
          </a:p>
        </p:txBody>
      </p:sp>
      <p:sp>
        <p:nvSpPr>
          <p:cNvPr id="34" name="TextBox 33"/>
          <p:cNvSpPr txBox="1"/>
          <p:nvPr/>
        </p:nvSpPr>
        <p:spPr>
          <a:xfrm>
            <a:off x="14383512" y="4700016"/>
            <a:ext cx="2834640" cy="713232"/>
          </a:xfrm>
          <a:prstGeom prst="rect">
            <a:avLst/>
          </a:prstGeom>
          <a:noFill/>
        </p:spPr>
        <p:txBody>
          <a:bodyPr wrap="square" lIns="0" rIns="0" tIns="0" bIns="0" anchor="ctr">
            <a:spAutoFit/>
          </a:bodyPr>
          <a:lstStyle/>
          <a:p>
            <a:pPr algn="l">
              <a:lnSpc>
                <a:spcPct val="116000"/>
              </a:lnSpc>
              <a:spcBef>
                <a:spcPts val="0"/>
              </a:spcBef>
              <a:spcAft>
                <a:spcPts val="0"/>
              </a:spcAft>
            </a:pPr>
            <a:r>
              <a:rPr sz="1400" b="0" i="0">
                <a:solidFill>
                  <a:srgbClr val="394049"/>
                </a:solidFill>
                <a:latin typeface="Open Sans"/>
              </a:rPr>
              <a:t>$33,0M CLP/año</a:t>
            </a:r>
          </a:p>
        </p:txBody>
      </p:sp>
      <p:sp>
        <p:nvSpPr>
          <p:cNvPr id="35" name="TextBox 34"/>
          <p:cNvSpPr txBox="1"/>
          <p:nvPr/>
        </p:nvSpPr>
        <p:spPr>
          <a:xfrm>
            <a:off x="960120" y="5724144"/>
            <a:ext cx="16367759" cy="365760"/>
          </a:xfrm>
          <a:prstGeom prst="rect">
            <a:avLst/>
          </a:prstGeom>
          <a:noFill/>
        </p:spPr>
        <p:txBody>
          <a:bodyPr wrap="square" lIns="0" rIns="0" tIns="0" bIns="0" anchor="t">
            <a:spAutoFit/>
          </a:bodyPr>
          <a:lstStyle/>
          <a:p>
            <a:pPr algn="l">
              <a:lnSpc>
                <a:spcPct val="116000"/>
              </a:lnSpc>
              <a:spcBef>
                <a:spcPts val="0"/>
              </a:spcBef>
              <a:spcAft>
                <a:spcPts val="0"/>
              </a:spcAft>
            </a:pPr>
            <a:r>
              <a:rPr sz="1250" b="1" i="0" spc="160">
                <a:solidFill>
                  <a:srgbClr val="6E6E6E"/>
                </a:solidFill>
                <a:latin typeface="Open Sans"/>
              </a:rPr>
              <a:t>PANEL B  ·  AGRUPACIÓN CENTRALIZADA CON RISK POOLING (K = 10 · 704 UNIDADES)</a:t>
            </a:r>
          </a:p>
        </p:txBody>
      </p:sp>
      <p:sp>
        <p:nvSpPr>
          <p:cNvPr id="36" name="Rounded Rectangle 35"/>
          <p:cNvSpPr/>
          <p:nvPr/>
        </p:nvSpPr>
        <p:spPr>
          <a:xfrm>
            <a:off x="960120" y="6181344"/>
            <a:ext cx="8001000" cy="1600200"/>
          </a:xfrm>
          <a:prstGeom prst="roundRect">
            <a:avLst>
              <a:gd name="adj" fmla="val 3142"/>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7" name="Rectangle 36"/>
          <p:cNvSpPr/>
          <p:nvPr/>
        </p:nvSpPr>
        <p:spPr>
          <a:xfrm>
            <a:off x="960120" y="6181344"/>
            <a:ext cx="68580" cy="1600200"/>
          </a:xfrm>
          <a:prstGeom prst="rect">
            <a:avLst/>
          </a:prstGeom>
          <a:solidFill>
            <a:srgbClr val="9AA1A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38" name="TextBox 37"/>
          <p:cNvSpPr txBox="1"/>
          <p:nvPr/>
        </p:nvSpPr>
        <p:spPr>
          <a:xfrm>
            <a:off x="1417320" y="6510528"/>
            <a:ext cx="7159752" cy="941832"/>
          </a:xfrm>
          <a:prstGeom prst="rect">
            <a:avLst/>
          </a:prstGeom>
          <a:noFill/>
        </p:spPr>
        <p:txBody>
          <a:bodyPr wrap="square" lIns="0" rIns="0" tIns="0" bIns="0" anchor="t">
            <a:spAutoFit/>
          </a:bodyPr>
          <a:lstStyle/>
          <a:p>
            <a:pPr algn="l">
              <a:lnSpc>
                <a:spcPct val="124000"/>
              </a:lnSpc>
              <a:spcBef>
                <a:spcPts val="0"/>
              </a:spcBef>
              <a:spcAft>
                <a:spcPts val="0"/>
              </a:spcAft>
            </a:pPr>
            <a:r>
              <a:rPr sz="1400" b="0" i="0">
                <a:solidFill>
                  <a:srgbClr val="394049"/>
                </a:solidFill>
                <a:latin typeface="Open Sans"/>
              </a:rPr>
              <a:t>Bajo pooling independiente el capital liberado se reduce a un rango de $8,5M a $12,7M CLP, con ahorros anuales de $1,5M a $3,3M CLP.</a:t>
            </a:r>
          </a:p>
        </p:txBody>
      </p:sp>
      <p:sp>
        <p:nvSpPr>
          <p:cNvPr id="39" name="Rounded Rectangle 38"/>
          <p:cNvSpPr/>
          <p:nvPr/>
        </p:nvSpPr>
        <p:spPr>
          <a:xfrm>
            <a:off x="9326880" y="6181344"/>
            <a:ext cx="8001000" cy="1600200"/>
          </a:xfrm>
          <a:prstGeom prst="roundRect">
            <a:avLst>
              <a:gd name="adj" fmla="val 3142"/>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0" name="Rectangle 39"/>
          <p:cNvSpPr/>
          <p:nvPr/>
        </p:nvSpPr>
        <p:spPr>
          <a:xfrm>
            <a:off x="9326880" y="6181344"/>
            <a:ext cx="68580" cy="160020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41" name="TextBox 40"/>
          <p:cNvSpPr txBox="1"/>
          <p:nvPr/>
        </p:nvSpPr>
        <p:spPr>
          <a:xfrm>
            <a:off x="9784080" y="6510528"/>
            <a:ext cx="7159752" cy="941832"/>
          </a:xfrm>
          <a:prstGeom prst="rect">
            <a:avLst/>
          </a:prstGeom>
          <a:noFill/>
        </p:spPr>
        <p:txBody>
          <a:bodyPr wrap="square" lIns="0" rIns="0" tIns="0" bIns="0" anchor="t">
            <a:spAutoFit/>
          </a:bodyPr>
          <a:lstStyle/>
          <a:p>
            <a:pPr algn="l">
              <a:lnSpc>
                <a:spcPct val="124000"/>
              </a:lnSpc>
              <a:spcBef>
                <a:spcPts val="0"/>
              </a:spcBef>
              <a:spcAft>
                <a:spcPts val="0"/>
              </a:spcAft>
            </a:pPr>
            <a:r>
              <a:rPr sz="1400" b="0" i="0">
                <a:solidFill>
                  <a:srgbClr val="394049"/>
                </a:solidFill>
                <a:latin typeface="Open Sans"/>
              </a:rPr>
              <a:t>Con aprovisionamiento marítimo internacional (L = 4 meses) el buffer liberado escala por √4: 14.082 unidades, equivalentes a $211,2M CLP.</a:t>
            </a:r>
          </a:p>
        </p:txBody>
      </p:sp>
      <p:sp>
        <p:nvSpPr>
          <p:cNvPr id="42" name="TextBox 41"/>
          <p:cNvSpPr txBox="1"/>
          <p:nvPr/>
        </p:nvSpPr>
        <p:spPr>
          <a:xfrm>
            <a:off x="960120" y="7964424"/>
            <a:ext cx="16367759"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Supuestos: Z = 1,645 (CSL 95 %); SS = Z × MAE × K × raíz(L). Ejercicio ilustrativo de orden de magnitud.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A15</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Entorno macro y estacionalidad de la demanda</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38</a:t>
            </a:r>
          </a:p>
        </p:txBody>
      </p:sp>
      <p:sp>
        <p:nvSpPr>
          <p:cNvPr id="10" name="Rounded Rectangle 9"/>
          <p:cNvSpPr/>
          <p:nvPr/>
        </p:nvSpPr>
        <p:spPr>
          <a:xfrm>
            <a:off x="960120" y="2249424"/>
            <a:ext cx="9692640" cy="4754880"/>
          </a:xfrm>
          <a:prstGeom prst="roundRect">
            <a:avLst>
              <a:gd name="adj" fmla="val 1153"/>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1" name="Picture 10" descr="fig2_2.png"/>
          <p:cNvPicPr>
            <a:picLocks noChangeAspect="1"/>
          </p:cNvPicPr>
          <p:nvPr/>
        </p:nvPicPr>
        <p:blipFill>
          <a:blip r:embed="rId2"/>
          <a:stretch>
            <a:fillRect/>
          </a:stretch>
        </p:blipFill>
        <p:spPr>
          <a:xfrm>
            <a:off x="1280160" y="2597966"/>
            <a:ext cx="9052560" cy="4057795"/>
          </a:xfrm>
          <a:prstGeom prst="rect">
            <a:avLst/>
          </a:prstGeom>
        </p:spPr>
      </p:pic>
      <p:sp>
        <p:nvSpPr>
          <p:cNvPr id="12" name="TextBox 11"/>
          <p:cNvSpPr txBox="1"/>
          <p:nvPr/>
        </p:nvSpPr>
        <p:spPr>
          <a:xfrm>
            <a:off x="960120" y="7141464"/>
            <a:ext cx="9692640" cy="384048"/>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9AA1A9"/>
                </a:solidFill>
                <a:latin typeface="Open Sans"/>
              </a:rPr>
              <a:t>IPC de vestuario y calzado, serie mensual auditada INE (base 2023 = 100).</a:t>
            </a:r>
          </a:p>
        </p:txBody>
      </p:sp>
      <p:sp>
        <p:nvSpPr>
          <p:cNvPr id="13" name="Rounded Rectangle 12"/>
          <p:cNvSpPr/>
          <p:nvPr/>
        </p:nvSpPr>
        <p:spPr>
          <a:xfrm>
            <a:off x="11018520" y="2249424"/>
            <a:ext cx="6309360" cy="6126480"/>
          </a:xfrm>
          <a:prstGeom prst="roundRect">
            <a:avLst>
              <a:gd name="adj" fmla="val 895"/>
            </a:avLst>
          </a:prstGeom>
          <a:solidFill>
            <a:srgbClr val="FFFFFF"/>
          </a:solidFill>
          <a:ln w="9525">
            <a:solidFill>
              <a:srgbClr val="E2E6E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pic>
        <p:nvPicPr>
          <p:cNvPr id="14" name="Picture 13" descr="fig2_1.png"/>
          <p:cNvPicPr>
            <a:picLocks noChangeAspect="1"/>
          </p:cNvPicPr>
          <p:nvPr/>
        </p:nvPicPr>
        <p:blipFill>
          <a:blip r:embed="rId3"/>
          <a:stretch>
            <a:fillRect/>
          </a:stretch>
        </p:blipFill>
        <p:spPr>
          <a:xfrm>
            <a:off x="11451189" y="2523744"/>
            <a:ext cx="5444020" cy="5577840"/>
          </a:xfrm>
          <a:prstGeom prst="rect">
            <a:avLst/>
          </a:prstGeom>
        </p:spPr>
      </p:pic>
      <p:sp>
        <p:nvSpPr>
          <p:cNvPr id="15" name="Rounded Rectangle 14"/>
          <p:cNvSpPr/>
          <p:nvPr/>
        </p:nvSpPr>
        <p:spPr>
          <a:xfrm>
            <a:off x="960120" y="7644383"/>
            <a:ext cx="9692640" cy="1508760"/>
          </a:xfrm>
          <a:prstGeom prst="roundRect">
            <a:avLst>
              <a:gd name="adj" fmla="val 3333"/>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6" name="Rectangle 15"/>
          <p:cNvSpPr/>
          <p:nvPr/>
        </p:nvSpPr>
        <p:spPr>
          <a:xfrm>
            <a:off x="960120" y="7644383"/>
            <a:ext cx="68580" cy="1508760"/>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417320" y="7973567"/>
            <a:ext cx="8851392" cy="850392"/>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394049"/>
                </a:solidFill>
                <a:latin typeface="Open Sans"/>
              </a:rPr>
              <a:t>Los precios del vestuario caen de forma sostenida en el período: el margen se defiende con volumen bien planificado, no con precio. La estacionalidad se reparte entre las cuatro estaciones, sin un peak único dominante.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60120" y="603504"/>
            <a:ext cx="16367759" cy="310896"/>
          </a:xfrm>
          <a:prstGeom prst="rect">
            <a:avLst/>
          </a:prstGeom>
          <a:noFill/>
        </p:spPr>
        <p:txBody>
          <a:bodyPr wrap="square" lIns="0" rIns="0" tIns="0" bIns="0" anchor="t">
            <a:spAutoFit/>
          </a:bodyPr>
          <a:lstStyle/>
          <a:p>
            <a:pPr algn="l">
              <a:lnSpc>
                <a:spcPct val="116000"/>
              </a:lnSpc>
              <a:spcBef>
                <a:spcPts val="0"/>
              </a:spcBef>
              <a:spcAft>
                <a:spcPts val="0"/>
              </a:spcAft>
            </a:pPr>
            <a:r>
              <a:rPr sz="1350" b="1" i="0" spc="240">
                <a:solidFill>
                  <a:srgbClr val="D10120"/>
                </a:solidFill>
                <a:latin typeface="Open Sans"/>
              </a:rPr>
              <a:t>ANEXO A16</a:t>
            </a:r>
          </a:p>
        </p:txBody>
      </p:sp>
      <p:sp>
        <p:nvSpPr>
          <p:cNvPr id="3" name="TextBox 2"/>
          <p:cNvSpPr txBox="1"/>
          <p:nvPr/>
        </p:nvSpPr>
        <p:spPr>
          <a:xfrm>
            <a:off x="960120" y="914400"/>
            <a:ext cx="16367759" cy="841248"/>
          </a:xfrm>
          <a:prstGeom prst="rect">
            <a:avLst/>
          </a:prstGeom>
          <a:noFill/>
        </p:spPr>
        <p:txBody>
          <a:bodyPr wrap="square" lIns="0" rIns="0" tIns="0" bIns="0" anchor="t">
            <a:spAutoFit/>
          </a:bodyPr>
          <a:lstStyle/>
          <a:p>
            <a:pPr algn="l">
              <a:lnSpc>
                <a:spcPct val="105000"/>
              </a:lnSpc>
              <a:spcBef>
                <a:spcPts val="0"/>
              </a:spcBef>
              <a:spcAft>
                <a:spcPts val="0"/>
              </a:spcAft>
            </a:pPr>
            <a:r>
              <a:rPr sz="3300" b="1" i="0">
                <a:solidFill>
                  <a:srgbClr val="13161B"/>
                </a:solidFill>
                <a:latin typeface="Open Sans"/>
              </a:rPr>
              <a:t>Trazabilidad, verificación y uso de herramientas de IA</a:t>
            </a:r>
          </a:p>
        </p:txBody>
      </p:sp>
      <p:sp>
        <p:nvSpPr>
          <p:cNvPr id="4" name="Rectangle 3"/>
          <p:cNvSpPr/>
          <p:nvPr/>
        </p:nvSpPr>
        <p:spPr>
          <a:xfrm>
            <a:off x="960120" y="1883664"/>
            <a:ext cx="786384" cy="77724"/>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5" name="Rectangle 4"/>
          <p:cNvSpPr/>
          <p:nvPr/>
        </p:nvSpPr>
        <p:spPr>
          <a:xfrm>
            <a:off x="1801368" y="1883664"/>
            <a:ext cx="786384" cy="77724"/>
          </a:xfrm>
          <a:prstGeom prst="rect">
            <a:avLst/>
          </a:prstGeom>
          <a:solidFill>
            <a:srgbClr val="F7B00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6" name="Rectangle 5"/>
          <p:cNvSpPr/>
          <p:nvPr/>
        </p:nvSpPr>
        <p:spPr>
          <a:xfrm>
            <a:off x="2642616" y="1883664"/>
            <a:ext cx="786384" cy="77724"/>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cxnSp>
        <p:nvCxnSpPr>
          <p:cNvPr id="7" name="Connector 6"/>
          <p:cNvCxnSpPr/>
          <p:nvPr/>
        </p:nvCxnSpPr>
        <p:spPr>
          <a:xfrm>
            <a:off x="960120" y="9381744"/>
            <a:ext cx="16367760" cy="0"/>
          </a:xfrm>
          <a:prstGeom prst="line">
            <a:avLst/>
          </a:prstGeom>
          <a:ln w="9525">
            <a:solidFill>
              <a:srgbClr val="E2E6E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60120" y="9528048"/>
            <a:ext cx="13094208" cy="274320"/>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9AA1A9"/>
                </a:solidFill>
                <a:latin typeface="Open Sans"/>
              </a:rPr>
              <a:t>Material de respaldo  ·  Defensa de memoria</a:t>
            </a:r>
          </a:p>
        </p:txBody>
      </p:sp>
      <p:sp>
        <p:nvSpPr>
          <p:cNvPr id="9" name="TextBox 8"/>
          <p:cNvSpPr txBox="1"/>
          <p:nvPr/>
        </p:nvSpPr>
        <p:spPr>
          <a:xfrm>
            <a:off x="16047720" y="9528048"/>
            <a:ext cx="1280160" cy="274320"/>
          </a:xfrm>
          <a:prstGeom prst="rect">
            <a:avLst/>
          </a:prstGeom>
          <a:noFill/>
        </p:spPr>
        <p:txBody>
          <a:bodyPr wrap="square" lIns="0" rIns="0" tIns="0" bIns="0" anchor="t">
            <a:spAutoFit/>
          </a:bodyPr>
          <a:lstStyle/>
          <a:p>
            <a:pPr algn="r">
              <a:lnSpc>
                <a:spcPct val="116000"/>
              </a:lnSpc>
              <a:spcBef>
                <a:spcPts val="0"/>
              </a:spcBef>
              <a:spcAft>
                <a:spcPts val="0"/>
              </a:spcAft>
            </a:pPr>
            <a:r>
              <a:rPr sz="1150" b="1" i="0">
                <a:solidFill>
                  <a:srgbClr val="005F91"/>
                </a:solidFill>
                <a:latin typeface="Open Sans"/>
              </a:rPr>
              <a:t>39</a:t>
            </a:r>
          </a:p>
        </p:txBody>
      </p:sp>
      <p:sp>
        <p:nvSpPr>
          <p:cNvPr id="10" name="Rounded Rectangle 9"/>
          <p:cNvSpPr/>
          <p:nvPr/>
        </p:nvSpPr>
        <p:spPr>
          <a:xfrm>
            <a:off x="960120" y="2249424"/>
            <a:ext cx="8001000" cy="4937760"/>
          </a:xfrm>
          <a:prstGeom prst="roundRect">
            <a:avLst>
              <a:gd name="adj" fmla="val 101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1" name="Rectangle 10"/>
          <p:cNvSpPr/>
          <p:nvPr/>
        </p:nvSpPr>
        <p:spPr>
          <a:xfrm>
            <a:off x="960120" y="2249424"/>
            <a:ext cx="68580" cy="4937760"/>
          </a:xfrm>
          <a:prstGeom prst="rect">
            <a:avLst/>
          </a:prstGeom>
          <a:solidFill>
            <a:srgbClr val="005F91"/>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2" name="TextBox 11"/>
          <p:cNvSpPr txBox="1"/>
          <p:nvPr/>
        </p:nvSpPr>
        <p:spPr>
          <a:xfrm>
            <a:off x="1417320" y="2578608"/>
            <a:ext cx="7159752" cy="427939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Mecanismos de verificación</a:t>
            </a:r>
          </a:p>
          <a:p>
            <a:pPr algn="l" marL="274320" indent="-274320">
              <a:lnSpc>
                <a:spcPct val="118000"/>
              </a:lnSpc>
              <a:spcBef>
                <a:spcPts val="0"/>
              </a:spcBef>
              <a:spcAft>
                <a:spcPts val="700"/>
              </a:spcAft>
            </a:pPr>
            <a:r>
              <a:rPr sz="1420" b="0" i="0">
                <a:solidFill>
                  <a:srgbClr val="394049"/>
                </a:solidFill>
                <a:latin typeface="Open Sans"/>
              </a:rPr>
              <a:t>•	Separación cronológica estricta entre entrenamiento, validación y prueba.</a:t>
            </a:r>
          </a:p>
          <a:p>
            <a:pPr algn="l" marL="274320" indent="-274320">
              <a:lnSpc>
                <a:spcPct val="118000"/>
              </a:lnSpc>
              <a:spcBef>
                <a:spcPts val="0"/>
              </a:spcBef>
              <a:spcAft>
                <a:spcPts val="700"/>
              </a:spcAft>
            </a:pPr>
            <a:r>
              <a:rPr sz="1420" b="0" i="0">
                <a:solidFill>
                  <a:srgbClr val="394049"/>
                </a:solidFill>
                <a:latin typeface="Open Sans"/>
              </a:rPr>
              <a:t>•	Pruebas automatizadas sobre rezagos y disponibilidad temporal de cada variable.</a:t>
            </a:r>
          </a:p>
          <a:p>
            <a:pPr algn="l" marL="274320" indent="-274320">
              <a:lnSpc>
                <a:spcPct val="118000"/>
              </a:lnSpc>
              <a:spcBef>
                <a:spcPts val="0"/>
              </a:spcBef>
              <a:spcAft>
                <a:spcPts val="700"/>
              </a:spcAft>
            </a:pPr>
            <a:r>
              <a:rPr sz="1420" b="0" i="0">
                <a:solidFill>
                  <a:srgbClr val="394049"/>
                </a:solidFill>
                <a:latin typeface="Open Sans"/>
              </a:rPr>
              <a:t>•	Revisión manual de transformaciones y agregaciones jerárquicas.</a:t>
            </a:r>
          </a:p>
          <a:p>
            <a:pPr algn="l" marL="274320" indent="-274320">
              <a:lnSpc>
                <a:spcPct val="118000"/>
              </a:lnSpc>
              <a:spcBef>
                <a:spcPts val="0"/>
              </a:spcBef>
              <a:spcAft>
                <a:spcPts val="700"/>
              </a:spcAft>
            </a:pPr>
            <a:r>
              <a:rPr sz="1420" b="0" i="0">
                <a:solidFill>
                  <a:srgbClr val="394049"/>
                </a:solidFill>
                <a:latin typeface="Open Sans"/>
              </a:rPr>
              <a:t>•	Recálculo directo de las métricas a partir de las predicciones almacenadas.</a:t>
            </a:r>
          </a:p>
          <a:p>
            <a:pPr algn="l" marL="274320" indent="-274320">
              <a:lnSpc>
                <a:spcPct val="118000"/>
              </a:lnSpc>
              <a:spcBef>
                <a:spcPts val="0"/>
              </a:spcBef>
              <a:spcAft>
                <a:spcPts val="700"/>
              </a:spcAft>
            </a:pPr>
            <a:r>
              <a:rPr sz="1420" b="0" i="0">
                <a:solidFill>
                  <a:srgbClr val="394049"/>
                </a:solidFill>
                <a:latin typeface="Open Sans"/>
              </a:rPr>
              <a:t>•	Fijación de semillas, versiones de librerías y parámetros de ejecución.</a:t>
            </a:r>
          </a:p>
          <a:p>
            <a:pPr algn="l" marL="274320" indent="-274320">
              <a:lnSpc>
                <a:spcPct val="118000"/>
              </a:lnSpc>
              <a:spcBef>
                <a:spcPts val="0"/>
              </a:spcBef>
              <a:spcAft>
                <a:spcPts val="0"/>
              </a:spcAft>
            </a:pPr>
            <a:r>
              <a:rPr sz="1420" b="0" i="0">
                <a:solidFill>
                  <a:srgbClr val="394049"/>
                </a:solidFill>
                <a:latin typeface="Open Sans"/>
              </a:rPr>
              <a:t>•	Verificación de consistencia entre las formulaciones matemáticas y el código.</a:t>
            </a:r>
          </a:p>
        </p:txBody>
      </p:sp>
      <p:sp>
        <p:nvSpPr>
          <p:cNvPr id="13" name="Rounded Rectangle 12"/>
          <p:cNvSpPr/>
          <p:nvPr/>
        </p:nvSpPr>
        <p:spPr>
          <a:xfrm>
            <a:off x="9326880" y="2249424"/>
            <a:ext cx="8001000" cy="4937760"/>
          </a:xfrm>
          <a:prstGeom prst="roundRect">
            <a:avLst>
              <a:gd name="adj" fmla="val 101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4" name="Rectangle 13"/>
          <p:cNvSpPr/>
          <p:nvPr/>
        </p:nvSpPr>
        <p:spPr>
          <a:xfrm>
            <a:off x="9326880" y="2249424"/>
            <a:ext cx="68580" cy="4937760"/>
          </a:xfrm>
          <a:prstGeom prst="rect">
            <a:avLst/>
          </a:prstGeom>
          <a:solidFill>
            <a:srgbClr val="D10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5" name="TextBox 14"/>
          <p:cNvSpPr txBox="1"/>
          <p:nvPr/>
        </p:nvSpPr>
        <p:spPr>
          <a:xfrm>
            <a:off x="9784080" y="2578608"/>
            <a:ext cx="7159752" cy="4279392"/>
          </a:xfrm>
          <a:prstGeom prst="rect">
            <a:avLst/>
          </a:prstGeom>
          <a:noFill/>
        </p:spPr>
        <p:txBody>
          <a:bodyPr wrap="square" lIns="0" rIns="0" tIns="0" bIns="0" anchor="t">
            <a:spAutoFit/>
          </a:bodyPr>
          <a:lstStyle/>
          <a:p>
            <a:pPr algn="l">
              <a:lnSpc>
                <a:spcPct val="112000"/>
              </a:lnSpc>
              <a:spcBef>
                <a:spcPts val="0"/>
              </a:spcBef>
              <a:spcAft>
                <a:spcPts val="800"/>
              </a:spcAft>
            </a:pPr>
            <a:r>
              <a:rPr sz="1700" b="1" i="0">
                <a:solidFill>
                  <a:srgbClr val="13161B"/>
                </a:solidFill>
                <a:latin typeface="Open Sans"/>
              </a:rPr>
              <a:t>Uso de herramientas de IA generativa</a:t>
            </a:r>
          </a:p>
          <a:p>
            <a:pPr algn="l" marL="274320" indent="-274320">
              <a:lnSpc>
                <a:spcPct val="118000"/>
              </a:lnSpc>
              <a:spcBef>
                <a:spcPts val="0"/>
              </a:spcBef>
              <a:spcAft>
                <a:spcPts val="700"/>
              </a:spcAft>
            </a:pPr>
            <a:r>
              <a:rPr sz="1420" b="0" i="0">
                <a:solidFill>
                  <a:srgbClr val="394049"/>
                </a:solidFill>
                <a:latin typeface="Open Sans"/>
              </a:rPr>
              <a:t>•	Apoyo instrumental en programación, depuración, refactorización y revisión de redacción.</a:t>
            </a:r>
          </a:p>
          <a:p>
            <a:pPr algn="l" marL="274320" indent="-274320">
              <a:lnSpc>
                <a:spcPct val="118000"/>
              </a:lnSpc>
              <a:spcBef>
                <a:spcPts val="0"/>
              </a:spcBef>
              <a:spcAft>
                <a:spcPts val="700"/>
              </a:spcAft>
            </a:pPr>
            <a:r>
              <a:rPr sz="1420" b="0" i="0">
                <a:solidFill>
                  <a:srgbClr val="394049"/>
                </a:solidFill>
                <a:latin typeface="Open Sans"/>
              </a:rPr>
              <a:t>•	No sustituyó la formulación del problema, la selección de datos, las decisiones metodológicas ni la interpretación de resultados.</a:t>
            </a:r>
          </a:p>
          <a:p>
            <a:pPr algn="l" marL="274320" indent="-274320">
              <a:lnSpc>
                <a:spcPct val="118000"/>
              </a:lnSpc>
              <a:spcBef>
                <a:spcPts val="0"/>
              </a:spcBef>
              <a:spcAft>
                <a:spcPts val="700"/>
              </a:spcAft>
            </a:pPr>
            <a:r>
              <a:rPr sz="1420" b="0" i="0">
                <a:solidFill>
                  <a:srgbClr val="394049"/>
                </a:solidFill>
                <a:latin typeface="Open Sans"/>
              </a:rPr>
              <a:t>•	Distintos modelos fundacionales se usaron como panel de contraste técnico para debatir decisiones de diseño.</a:t>
            </a:r>
          </a:p>
          <a:p>
            <a:pPr algn="l" marL="274320" indent="-274320">
              <a:lnSpc>
                <a:spcPct val="118000"/>
              </a:lnSpc>
              <a:spcBef>
                <a:spcPts val="0"/>
              </a:spcBef>
              <a:spcAft>
                <a:spcPts val="700"/>
              </a:spcAft>
            </a:pPr>
            <a:r>
              <a:rPr sz="1420" b="0" i="0">
                <a:solidFill>
                  <a:srgbClr val="394049"/>
                </a:solidFill>
                <a:latin typeface="Open Sans"/>
              </a:rPr>
              <a:t>•	Ningún fragmento de código se incorporó sin inspección, adaptación y validación previa.</a:t>
            </a:r>
          </a:p>
          <a:p>
            <a:pPr algn="l" marL="274320" indent="-274320">
              <a:lnSpc>
                <a:spcPct val="118000"/>
              </a:lnSpc>
              <a:spcBef>
                <a:spcPts val="0"/>
              </a:spcBef>
              <a:spcAft>
                <a:spcPts val="0"/>
              </a:spcAft>
            </a:pPr>
            <a:r>
              <a:rPr sz="1420" b="0" i="0">
                <a:solidFill>
                  <a:srgbClr val="394049"/>
                </a:solidFill>
                <a:latin typeface="Open Sans"/>
              </a:rPr>
              <a:t>•	Por confidencialidad del retailer, los registros transaccionales no son distribuibles; se conservan scripts, entornos y resultados intermedios para auditoría.</a:t>
            </a:r>
          </a:p>
        </p:txBody>
      </p:sp>
      <p:sp>
        <p:nvSpPr>
          <p:cNvPr id="16" name="Rounded Rectangle 15"/>
          <p:cNvSpPr/>
          <p:nvPr/>
        </p:nvSpPr>
        <p:spPr>
          <a:xfrm>
            <a:off x="960120" y="7507224"/>
            <a:ext cx="16367759" cy="1554480"/>
          </a:xfrm>
          <a:prstGeom prst="roundRect">
            <a:avLst>
              <a:gd name="adj" fmla="val 3235"/>
            </a:avLst>
          </a:prstGeom>
          <a:solidFill>
            <a:srgbClr val="EF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p>
        </p:txBody>
      </p:sp>
      <p:sp>
        <p:nvSpPr>
          <p:cNvPr id="17" name="TextBox 16"/>
          <p:cNvSpPr txBox="1"/>
          <p:nvPr/>
        </p:nvSpPr>
        <p:spPr>
          <a:xfrm>
            <a:off x="1417320" y="7507224"/>
            <a:ext cx="15453359" cy="1554480"/>
          </a:xfrm>
          <a:prstGeom prst="rect">
            <a:avLst/>
          </a:prstGeom>
          <a:noFill/>
        </p:spPr>
        <p:txBody>
          <a:bodyPr wrap="square" lIns="0" rIns="0" tIns="0" bIns="0" anchor="ctr">
            <a:spAutoFit/>
          </a:bodyPr>
          <a:lstStyle/>
          <a:p>
            <a:pPr algn="ctr">
              <a:lnSpc>
                <a:spcPct val="118000"/>
              </a:lnSpc>
              <a:spcBef>
                <a:spcPts val="0"/>
              </a:spcBef>
              <a:spcAft>
                <a:spcPts val="0"/>
              </a:spcAft>
            </a:pPr>
            <a:r>
              <a:rPr sz="1550" b="0" i="0">
                <a:solidFill>
                  <a:srgbClr val="394049"/>
                </a:solidFill>
                <a:latin typeface="Open Sans"/>
              </a:rPr>
              <a:t>El autor definió la arquitectura experimental, las reglas de disponibilidad temporal de las variables, los criterios de comparación, las métricas y los supuestos del impacto financiero. La responsabilidad por la exactitud de resultados y conclusiones recae en el autor.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Pronóstico Jerárquico de Demanda Intermitente en el Retail de Moda Femenina</dc:title>
  <dc:subject>Memoria para optar al título de Ingeniero Comercial — UTFSM</dc:subject>
  <dc:creator>Joaquín Ignacio Mondaca Parada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